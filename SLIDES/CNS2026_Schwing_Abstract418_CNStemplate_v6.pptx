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77" r:id="rId32"/>
    <p:sldId id="278" r:id="rId33"/>
    <p:sldId id="279" r:id="rId34"/>
    <p:sldId id="260" r:id="rId15"/>
    <p:sldId id="261" r:id="rId16"/>
    <p:sldId id="262" r:id="rId17"/>
    <p:sldId id="263" r:id="rId18"/>
    <p:sldId id="280" r:id="rId35"/>
    <p:sldId id="281" r:id="rId36"/>
    <p:sldId id="282" r:id="rId37"/>
    <p:sldId id="283" r:id="rId38"/>
    <p:sldId id="264" r:id="rId19"/>
    <p:sldId id="284" r:id="rId39"/>
    <p:sldId id="285" r:id="rId40"/>
    <p:sldId id="286" r:id="rId41"/>
    <p:sldId id="287" r:id="rId42"/>
    <p:sldId id="288" r:id="rId43"/>
    <p:sldId id="289" r:id="rId44"/>
    <p:sldId id="290" r:id="rId45"/>
    <p:sldId id="265" r:id="rId20"/>
    <p:sldId id="266" r:id="rId21"/>
    <p:sldId id="267" r:id="rId22"/>
    <p:sldId id="291" r:id="rId46"/>
    <p:sldId id="268" r:id="rId23"/>
    <p:sldId id="269" r:id="rId24"/>
    <p:sldId id="270" r:id="rId25"/>
    <p:sldId id="271" r:id="rId26"/>
    <p:sldId id="272" r:id="rId27"/>
    <p:sldId id="273" r:id="rId28"/>
    <p:sldId id="274" r:id="rId29"/>
    <p:sldId id="275" r:id="rId30"/>
    <p:sldId id="276" r:id="rId31"/>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14 slides in six minutes, about 25 s each (slide 3, the design, adds 20 s: everything after it runs 10 s later, taken back on slide 5); seven backups follow the acknowledgments (B7, the rat host, is preliminary). If running long, shorten slide 5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0:35–0:55  The design, because it is easy to misread. Eight rats, all implanted. Four primaries, never ablated; four ablated with LITT and allowed to regrow. We compare three against three: rat 64's primary sample had almost no tumor in it, and there is no library for rat 65. The two brain controls come from the other side of the brain of two primary rats, 68 and 69, so they are not independent animals. The culture is a reference only.</a:t>
            </a:r>
          </a:p>
          <a:p/>
          <a:p>
            <a:r>
              <a:t>Why 3 v 3 when Nagaraja 2026 reports 4 v 4: rat 64 (no tumor in the sample) and rat 65 (no library). Harvest time after LITT (2 or 4 weeks) for each recurrence is not in the records we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0:55–1:10  The model the Henry Ford group built (Nagaraja 2026): U251N in the athymic rat, MRI-guided LITT (design on the previous slide). The graft is human and the host is rat, so xengsort sorts every read by species before anything is counted; human reads plus the shared reads enter the analysis.</a:t>
            </a:r>
          </a:p>
          <a:p/>
          <a:p>
            <a:r>
              <a:t>If asked why three per arm when Nagaraja 2026 describes four and four: the libraries come from animals numbered 64 to 71; IL64B's sample holds almost no tumor (it is used only as a control) and there is no library for animal 65 (a recurrence in the lab's key).</a:t>
            </a:r>
          </a:p>
          <a:p/>
          <a:p>
            <a:r>
              <a:t>Numbers to reconcile before the talk: the J Neurosurg paper reports four per arm for RNA-seq; this analysis has three per arm plus IL64B, recorded by the lab as a primary but with almost no tumor in its sample (0.3 % human reads), used as a control. The lab's sample key lists IL-65 as the fourth recurrence; no library for it exists in the data.</a:t>
            </a:r>
          </a:p>
          <a:p/>
          <a:p>
            <a:r>
              <a:t>The two other controls are the contralateral hemispheres of tumor-bearing rats 68 and 69 (lab key: 'Contralateral'; array sheet: '69B control N2'), not separate animals. N269B, from rat 69, the most tumor-rich animal,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PC1 41.8 % / PC2 26.2 % came from the May figure script (vst); this plot uses rlog (35 % / 25 %). PERMANOVA R2 0.278 and 35 genes (23 up, 12 down) are unchanged; the abstract omits p = 0.10. Its hubs (BGN, COL1A1, IGFBP3, CALB1): only 11 of the 35 genes connect, and CALB1 has one interaction (SLIDES/ABSTRACT_VS_TALK.md).</a:t>
            </a:r>
          </a:p>
          <a:p/>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elongation NES -3.17, FDR 1.6e-26 came from a first-pass gene-permutation test (clusterProfiler/fgsea, 25 May report). The pipeline's Broad GSEA (gene-set permutation) gives the same direction, NES near -2, and one set at q = 0.022. Its 'integrated stress' sets are the same ribosomal-protein genes (85 of 99 in GCN2). If asked: 'the abstract's FDR came from a first-pass test that treats genes as independent; the permutation test gives the same direction'.</a:t>
            </a:r>
          </a:p>
          <a:p/>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13.</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FDR is not a Broad GSEA q; here q runs 0.022-0.31 with all six tumors, depending on the seed alone.</a:t>
            </a:r>
          </a:p>
          <a:p/>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the two tumor-free controls, gives +0.001; with N269B (the contralateral hemisphere of rat 69, which holds tumor cells) -0.009,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'toward Garofano mitochondrial, away from AC/NPC' came from May mean z-scores of hand-picked 5-6-gene lists (mitochondrial = CS, ACO2, IDH2, IDH3A, OGDH, SDHA), not GSVA. With the published signatures the mitochondrial score falls (not significant); AC-like agrees; NPC does not move. If asked: 'the mitochondrial shift did not survive the published signatures; the astrocyte-like fall did'.</a:t>
            </a:r>
          </a:p>
          <a:p/>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a:p/>
          <a:p>
            <a:r>
              <a:t>What carries ciclopirox's rank: its induced genes are HIF/hypoxia targets (21 of 36 leading-edge genes are hallmark hypoxia; without them NES -1.57, p 0.005). Ranks 2-5 (pentetrazol, nilutamide, primidone, pyrantel) share one leading edge of ribosomal-protein genes plus PGK1 and ENO1 (pairwise Jaccard 0.55-0.86): the ribosomal block counted four times (ANALYSIS/gsc_drugs/REVIEW_2026-09-26.md).</a:t>
            </a:r>
          </a:p>
          <a:p/>
          <a:p>
            <a:r>
              <a:t>Stem-cell programs: restricted to six published glioma stem-cell gene sets, ciclopirox's induced genes fall in recurrence only within the radial-glia-like program (Bhaduri 2020; first of 2,212 drug sets, NES -2.08), and those genes are hypoxia targets, not stem-cell genes. No drug opposed recurrence inside the stem-specific sets. Consistent with this slide, not independent of it.</a:t>
            </a:r>
          </a:p>
          <a:p/>
          <a:p>
            <a:r>
              <a:t>The printed abstract: its 3.40 for ciclopirox is this enrichment with a rule-of-thumb barrier score capped at 1.0; with ADMET-AI it is 3.27 and still first. DMOG and LY-294002, named in the abstract, have no clinical-phase record and drop out. The drug NES come from gene-permutation GSEA, so they are quoted as a ranking, not with FDRs (SLIDES/ABSTRACT_VS_TALK.md).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time allows: 'Three things differ from the printed abstract: lower ribosomal-protein genes rather than translational shutdown; the mitochondrial shift did not survive the published signatures; and of its three drugs only ciclopirox is clinically available.'</a:t>
            </a:r>
          </a:p>
          <a:p/>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'translational shutdown' is what the puromycin / polysome experiment tests; it has not been shown.</a:t>
            </a:r>
          </a:p>
          <a:p/>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Indrani Datta's credential is DHI (confirmed by Greg, 2026-09-26). The JNS 2026 author list prints PhD; do not copy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printed abstract is the docx version: its claim that contamination 'would bias ribosomal genes upward' does not match this bound. The size argument holds; the direction depends on N269B, the contralateral hemisphere of rat 69 that holds tumor cells.</a:t>
            </a:r>
          </a:p>
          <a:p/>
          <a:p>
            <a:r>
              <a:t>Sensitivity, N269B among the controls: bound -0.009, matched background -0.13, excess -0.26 (tumor-free controls: -0.41); contamination_magnitude_ctrl3.json.</a:t>
            </a:r>
          </a:p>
          <a:p/>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10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What holds: Mmp13, Ceacam4, Hbb lower in every recurrence and in every leave-one-out fit (Mmp13 is also not human-read leakage: human MMP13 at most 7 reads per tumor against at least 180 rat reads per primary). What does not: the 38-gene list (FDR &lt; 0.05) shrinks to 8–19 when a primary or rat 70 or 71 is left out; leaving IL66B out raises it to 424 (the tumor side does the same, 102 to 349), so IL66B is the recurrence most like a primary in both species. The true grouping gives 38 genes; the other nine splits give a median of 9; the largest, rats 69, 70, 71 against the rest (2,752 genes), is an immune-infiltration (Ptprc, Cd68, Aif1) against white-matter/neuron (Mbp, Plp1, Pcp4) axis that cuts across treatment. Cxcl10, Batf2, Il2ra, Ighm barely move in IL66B.</a:t>
            </a:r>
          </a:p>
          <a:p/>
          <a:p>
            <a:r>
              <a:t>Broad GSEA (the pipeline's run, gene-set permutation): 4,843 sets, none at FDR &lt; 0.25. By nominal p, up: antigen presentation, allograft rejection, interferon gamma; down: KEGG ribosome and translation initiation (NES about -2.0, nominal p about 0.04). The rat host's ribosomal-protein genes point the same way as the tumor's; their share tracks the human read share (Spearman 0.83 over six tumors), which fits read leakage but does not prove it.</a:t>
            </a:r>
          </a:p>
          <a:p/>
          <a:p>
            <a:r>
              <a:t>Host cell-type deconvolution (CIBERSORT; LM22, Zhang 2014, Bowman 2016 myeloid, and a combined signature): no cell type differs between primaries and recurrences. Tumor-associated bone-marrow macrophages are high in rats 70 and 71 (0.43, 0.50) and not in 66 (0.07): the same rats-70-71 pattern, found after looking, exploratory only.</a:t>
            </a:r>
          </a:p>
          <a:p/>
          <a:p>
            <a:r>
              <a:t>The 'NL' in the file names of rats 70 and 71 is not a group: the lab's sample key calls them IL-70 and IL-71 and its methylation-array sheet IL70B and IL71B; all ten RNA libraries ran on one lane. Why 70 and 71 differ from 66 (for example time after LITT) is not recorded. The host is the athymic RNU/RNU rat: do not describe a T-cell response. Rat reads are the xengsort host bin; nf-core/rnaseq 3.22.2 on mRatBN7.2 (Ensembl 110); nf-core/differentialabundance DESeq2. Tumor vs control brain (contralateral hemispheres of rats 68 and 69, and IL64B): 9,378 genes differ.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from backup in v6. 15 s. The point: 'less tumor' is not an abstraction - here is what fills the rest of the lesion, and in the two NL recurrences it is mostly myeloid cells.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20 s. Say: whatever else differs, the recurrent lesions have less tumor in them, and that is the confound the next slides deal with. Two platforms on different aliquots agree on the order, which is why this is not a sequencing artefact.</a:t>
            </a:r>
          </a:p>
          <a:p/>
          <a:p>
            <a:r>
              <a:t>The twenty-labelling floor means p = 0.05 is the smallest number this design can produce - quote it as a floor, never as significance. The labelling plot itself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18 s. This is what replaces a p-value at n = 3: there are only twenty ways to call three of six animals recurrent, and ours is the extreme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v5, kept in v6 as the centre of the talk. 28 s.</a:t>
            </a:r>
          </a:p>
          <a:p/>
          <a:p>
            <a:r>
              <a:t>The idea in one breath: in a xenograft the mixture is measured, not estimated, so 'recurrence or less tumor?' has an exact answer per gene. The pre-registered threshold was 0.50 and it FAILED: composition is the biggest single term and still under half, and the genes a bulk analysis picks out are disproportionately the ones where cells actually changed.</a:t>
            </a:r>
          </a:p>
          <a:p/>
          <a:p>
            <a:r>
              <a:t>If asked how it behaves: across the ten balanced splits the composition share rises with the split's difference in tumor content (Spearman 0.85) and the true split is highest of the ten. Noise at n = 3 inflates the two cell-change terms, so 0.47 is conservative.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15 s. This is the check that the composition term is not an artefact of the method: it tracks the thing it claims to measure.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18 s. A neurosurgeon's version: the programs people report for recurrent tumors are, here, in the mixture rather than in the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v5, kept in v6. 22 s. 'Mesenchymal shift at recurrence' is the most repeated statement about recurrent glioblastoma; where tumor and host can be told apart exactly, the shift is in the host compartment and the tumor cells move the other way. The composition-generated shift itself ranks 5 of 20, so we say 'not shown', not 'absent'.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18 s. The pre-registration expected this to fail and it did not. Say the ceiling out loud: twenty labellings floor the p at 0.05.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v5, kept in v6. 22 s. The pertinent negative: an array on the same six tumors finds nothing that survives multiple testing, and the difference that looks real before correction is the same tumor-content confound as on the RNA side - replicated in a second, independently written pipeline and under every published list of rat-cross-hybridising probes.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and the slide this audience will ask about. 15 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18 s. Say the caveat in the same breath as the result; it is why this is on a slide and not in the abstract.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IN THE TALK at Greg's instruction. 25 s.</a:t>
            </a:r>
          </a:p>
          <a:p/>
          <a:p>
            <a:r>
              <a:t>Establish the identity first and slowly: this is not a statistical whisper, it is the cell line's own genotype, sex chromosome and copy-number profile in tissue from the other side of the brain, on an array handled separately from the libraries.</a:t>
            </a:r>
          </a:p>
          <a:p/>
          <a:p>
            <a:r>
              <a:t>Be precise about independence if asked: the genotype, the Y dosage and the copy-number profile are three readouts of ONE array and share its failure modes; the independence is between the array and the RNA libraries, which are different aliquots and a different chemistry.</a:t>
            </a:r>
          </a:p>
          <a:p/>
          <a:p>
            <a:r>
              <a:t>Do not say anything yet about how it got there - that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PROMOTED in v6. 18 s. Two of three pre-registered statistics reject; the third, the only one with a direction named in advance, does not (P = 0.56) and moves the other way. Say that if asked.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and the slide to be careful on. 25 s.</a:t>
            </a:r>
          </a:p>
          <a:p/>
          <a:p>
            <a:r>
              <a:t>Greg, 2026-09-27: do NOT say definitively that instrument contamination is what we measured. It is not established. Say the two readings, say we cannot separate them, and put the instrument sentence in the conditional - the bar on this slide is phrased that way on purpose.</a:t>
            </a:r>
          </a:p>
          <a:p/>
          <a:p>
            <a:r>
              <a:t>What is unconditionally true: the material is there, three independent measurements on two platforms say it is U251N, and its transcriptome is not the core diluted.</a:t>
            </a:r>
          </a:p>
          <a:p/>
          <a:p>
            <a:r>
              <a:t>What is not: which reading is right; any rate (one animal of two sampled, exact interval 1.3 % to 98.7 %); anything about LITT (both contralateral samples come from animals that were never ablated); anything about human resections.</a:t>
            </a:r>
          </a:p>
          <a:p/>
          <a:p>
            <a:r>
              <a:t>The record does not say whether a fresh blade was used between pieces. If asked, say that plainly.</a:t>
            </a:r>
          </a:p>
          <a:p/>
          <a:p>
            <a:r>
              <a:t>The fix is in the next study: a naive hemisphere cut with the same blade and slide immediately after a tumor-bearing one, read out by species assignment. 29 such pieces with no positive bound the false-positive rate at 10 %.</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v5, one panel in v6. 25 s. The point is not 'we need more animals': every number was fixed before the pilot was allowed to speak, in the same form as the power figure in my imaging work.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in v6. Backup: show only if asked.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7.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design: eight rats, RNA and methylation</a:t>
            </a:r>
          </a:p>
        </p:txBody>
      </p:sp>
      <p:pic>
        <p:nvPicPr>
          <p:cNvPr id="3" name="Picture 2" descr="fig_design.png"/>
          <p:cNvPicPr>
            <a:picLocks noChangeAspect="1"/>
          </p:cNvPicPr>
          <p:nvPr/>
        </p:nvPicPr>
        <p:blipFill>
          <a:blip r:embed="rId2"/>
          <a:stretch>
            <a:fillRect/>
          </a:stretch>
        </p:blipFill>
        <p:spPr>
          <a:xfrm>
            <a:off x="1750000" y="1420000"/>
            <a:ext cx="10150000" cy="3372636"/>
          </a:xfrm>
          <a:prstGeom prst="rect">
            <a:avLst/>
          </a:prstGeom>
        </p:spPr>
      </p:pic>
      <p:sp>
        <p:nvSpPr>
          <p:cNvPr id="4" name="TextBox 3"/>
          <p:cNvSpPr txBox="1"/>
          <p:nvPr/>
        </p:nvSpPr>
        <p:spPr>
          <a:xfrm>
            <a:off x="1750000" y="4892636"/>
            <a:ext cx="10150000" cy="1357364"/>
          </a:xfrm>
          <a:prstGeom prst="rect">
            <a:avLst/>
          </a:prstGeom>
          <a:noFill/>
        </p:spPr>
        <p:txBody>
          <a:bodyPr wrap="square" lIns="0" rIns="0" tIns="0" bIns="0">
            <a:spAutoFit/>
          </a:bodyPr>
          <a:lstStyle/>
          <a:p>
            <a:pPr>
              <a:spcBef>
                <a:spcPts val="0"/>
              </a:spcBef>
              <a:spcAft>
                <a:spcPts val="600"/>
              </a:spcAft>
            </a:pPr>
            <a:r>
              <a:rPr sz="1600" b="0">
                <a:solidFill>
                  <a:srgbClr val="191D63"/>
                </a:solidFill>
              </a:rPr>
              <a:t>Three primaries (rats 67, 68, 69) are compared with three recurrences (66, 70, 71). Rat 64's sample held almost no tumor and rat 65 has no library.</a:t>
            </a:r>
          </a:p>
          <a:p>
            <a:pPr>
              <a:spcBef>
                <a:spcPts val="0"/>
              </a:spcBef>
              <a:spcAft>
                <a:spcPts val="600"/>
              </a:spcAft>
            </a:pPr>
            <a:r>
              <a:rPr sz="1600" b="0">
                <a:solidFill>
                  <a:srgbClr val="191D63"/>
                </a:solidFill>
              </a:rPr>
              <a:t>The two brain controls are the opposite hemispheres of rats 68 and 69, not separate animals.</a:t>
            </a:r>
          </a:p>
          <a:p>
            <a:pPr>
              <a:spcBef>
                <a:spcPts val="0"/>
              </a:spcBef>
              <a:spcAft>
                <a:spcPts val="600"/>
              </a:spcAft>
            </a:pPr>
            <a:r>
              <a:rPr sz="1600" b="0">
                <a:solidFill>
                  <a:srgbClr val="191D63"/>
                </a:solidFill>
              </a:rPr>
              <a:t>Eight samples were also run on one EPIC methylation array: the six tumors, rat 69's opposite hemisphere and the culture.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Nagaraja lab sample key (2023) and methylation-array sample sheet. The sequencing files call rats 70 and 71 NL70B and NL71B; the lab records call them IL-70 and IL-71.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8.</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used as a ranking: the 100 most opposing name 92 compounds;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 Ranks 2–5 share one ribosomal-protein gene set: one signal, not four candidates.</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would move the ribosomal-protein sets by under 0.01 log2 (+0.001; the two tumor-free controls).</a:t>
            </a:r>
          </a:p>
          <a:p>
            <a:pPr>
              <a:spcBef>
                <a:spcPts val="0"/>
              </a:spcBef>
              <a:spcAft>
                <a:spcPts val="1200"/>
              </a:spcAft>
            </a:pPr>
            <a:r>
              <a:rPr sz="1600" b="0">
                <a:solidFill>
                  <a:srgbClr val="191D63"/>
                </a:solidFill>
              </a:rPr>
              <a:t>They fall −0.40; background genes matched on abundance and control/tumor ratio move +0.01.</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Controls: IL64B (no tumor in its sample) and N168B (opposite hemisphere of rat 68); N269B holds tumor cells and is left out. RUVSeq¹⁹ factors (k = 2, from the three control libraries; rerun on the two tumor-free ones pending) also separate the arms.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3 v 3, the tumor's rule (FDR &lt; 0.05 and two-fold): 33 genes, 19 down and 14 up.</a:t>
            </a:r>
          </a:p>
          <a:p>
            <a:pPr>
              <a:spcBef>
                <a:spcPts val="0"/>
              </a:spcBef>
              <a:spcAft>
                <a:spcPts val="800"/>
              </a:spcAft>
            </a:pPr>
            <a:r>
              <a:rPr sz="1400" b="0">
                <a:solidFill>
                  <a:srgbClr val="191D63"/>
                </a:solidFill>
              </a:rPr>
              <a:t>Holds when any tumor is left out: Mmp13, Ceacam4, Hbb down (Mmp13 about 41-fold), Ocstamp up. Not human reads: human MMP13 at most 7 reads per tumor.</a:t>
            </a:r>
          </a:p>
          <a:p>
            <a:pPr>
              <a:spcBef>
                <a:spcPts val="0"/>
              </a:spcBef>
              <a:spcAft>
                <a:spcPts val="800"/>
              </a:spcAft>
            </a:pPr>
            <a:r>
              <a:rPr sz="1400" b="0">
                <a:solidFill>
                  <a:srgbClr val="191D63"/>
                </a:solidFill>
              </a:rPr>
              <a:t>The rest is unstable: leaving out one tumor keeps 8–19 of the 38; no gene set passes FDR 0.25 (4,843 sets, lowest 0.33).</a:t>
            </a:r>
          </a:p>
          <a:p>
            <a:pPr>
              <a:spcBef>
                <a:spcPts val="0"/>
              </a:spcBef>
              <a:spcAft>
                <a:spcPts val="800"/>
              </a:spcAft>
            </a:pPr>
            <a:r>
              <a:rPr sz="1400" b="0">
                <a:solidFill>
                  <a:srgbClr val="191D63"/>
                </a:solidFill>
              </a:rPr>
              <a:t>The true grouping ranks 2 of the 10 possible 3 v 3 splits; the largest (rats 69, 70, 71 against the rest, 2,752 genes) follows immune infiltration, not treatment. The interferon/lymphocyte rise comes from rats 70 and 71.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Broad GSEA from the pipeline; leave-one-out and relabelling from a rerun that reproduces the pipeline's 38 genes. DESeq2⁵.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each lesion is actually made of</a:t>
            </a:r>
          </a:p>
        </p:txBody>
      </p:sp>
      <p:pic>
        <p:nvPicPr>
          <p:cNvPr id="3" name="Picture 2" descr="fig1d_lesion_accounting.png"/>
          <p:cNvPicPr>
            <a:picLocks noChangeAspect="1"/>
          </p:cNvPicPr>
          <p:nvPr/>
        </p:nvPicPr>
        <p:blipFill>
          <a:blip r:embed="rId2"/>
          <a:stretch>
            <a:fillRect/>
          </a:stretch>
        </p:blipFill>
        <p:spPr>
          <a:xfrm>
            <a:off x="3538454" y="1420000"/>
            <a:ext cx="6573092" cy="3360200"/>
          </a:xfrm>
          <a:prstGeom prst="rect">
            <a:avLst/>
          </a:prstGeom>
        </p:spPr>
      </p:pic>
      <p:sp>
        <p:nvSpPr>
          <p:cNvPr id="4" name="TextBox 3"/>
          <p:cNvSpPr txBox="1"/>
          <p:nvPr/>
        </p:nvSpPr>
        <p:spPr>
          <a:xfrm>
            <a:off x="1750000" y="4870200"/>
            <a:ext cx="10150000" cy="1379800"/>
          </a:xfrm>
          <a:prstGeom prst="rect">
            <a:avLst/>
          </a:prstGeom>
          <a:noFill/>
        </p:spPr>
        <p:txBody>
          <a:bodyPr wrap="square" lIns="0" rIns="0" tIns="0" bIns="0">
            <a:spAutoFit/>
          </a:bodyPr>
          <a:lstStyle/>
          <a:p>
            <a:pPr>
              <a:spcBef>
                <a:spcPts val="0"/>
              </a:spcBef>
              <a:spcAft>
                <a:spcPts val="1000"/>
              </a:spcAft>
            </a:pPr>
            <a:r>
              <a:rPr sz="1800" b="0">
                <a:solidFill>
                  <a:srgbClr val="191D63"/>
                </a:solidFill>
              </a:rPr>
              <a:t>Each library as tumor share plus the host cell types the rat reads name, scaled to the whole library.</a:t>
            </a:r>
          </a:p>
          <a:p>
            <a:pPr>
              <a:spcBef>
                <a:spcPts val="0"/>
              </a:spcBef>
              <a:spcAft>
                <a:spcPts val="1000"/>
              </a:spcAft>
            </a:pPr>
            <a:r>
              <a:rPr sz="1800" b="0">
                <a:solidFill>
                  <a:srgbClr val="191D63"/>
                </a:solidFill>
              </a:rPr>
              <a:t>Three published methods agree on rank for all six cell types; the athymic control rejects any method that finds T cells.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BRETIGEA, NeuroExpresso marker-gene profiles and CIBERSORT with a brain signature, on the rat read stream. Orthotopic U251N glioblastoma xenograft in the athymic rat, MRI-guided LITT; bulk RNA-seq of primary and recurrent tumors, n = 3 per arm; GEO GSE338105.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Recurrent lesions hold less tumor - RNA and DNA agree</a:t>
            </a:r>
          </a:p>
        </p:txBody>
      </p:sp>
      <p:pic>
        <p:nvPicPr>
          <p:cNvPr id="3" name="Picture 2" descr="fig1b_rna_vs_dna_p1.png"/>
          <p:cNvPicPr>
            <a:picLocks noChangeAspect="1"/>
          </p:cNvPicPr>
          <p:nvPr/>
        </p:nvPicPr>
        <p:blipFill>
          <a:blip r:embed="rId2"/>
          <a:stretch>
            <a:fillRect/>
          </a:stretch>
        </p:blipFill>
        <p:spPr>
          <a:xfrm>
            <a:off x="1750000" y="1420000"/>
            <a:ext cx="4380438" cy="4830000"/>
          </a:xfrm>
          <a:prstGeom prst="rect">
            <a:avLst/>
          </a:prstGeom>
        </p:spPr>
      </p:pic>
      <p:sp>
        <p:nvSpPr>
          <p:cNvPr id="4" name="TextBox 3"/>
          <p:cNvSpPr txBox="1"/>
          <p:nvPr/>
        </p:nvSpPr>
        <p:spPr>
          <a:xfrm>
            <a:off x="6430438" y="1540000"/>
            <a:ext cx="5469562"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Two platforms, one direction: the recurrences sit low on both.</a:t>
            </a:r>
          </a:p>
          <a:p>
            <a:pPr>
              <a:spcBef>
                <a:spcPts val="0"/>
              </a:spcBef>
              <a:spcAft>
                <a:spcPts val="1400"/>
              </a:spcAft>
            </a:pPr>
            <a:r>
              <a:rPr sz="1800" b="0">
                <a:solidFill>
                  <a:srgbClr val="191D63"/>
                </a:solidFill>
              </a:rPr>
              <a:t>DNA: recurrent minus primary -0.20, the largest difference of all twenty balanced labellings; RNA ranks second of twenty.</a:t>
            </a:r>
          </a:p>
          <a:p>
            <a:pPr>
              <a:spcBef>
                <a:spcPts val="0"/>
              </a:spcBef>
              <a:spcAft>
                <a:spcPts val="1400"/>
              </a:spcAft>
            </a:pPr>
            <a:r>
              <a:rPr sz="1800" b="0">
                <a:solidFill>
                  <a:srgbClr val="191D63"/>
                </a:solidFill>
              </a:rPr>
              <a:t>The DNA fractions are uncalibrated - only their order is used.</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Tumor DNA fraction against the share of RNA reads assigned human, registered estimator; bars are the estimator's own interval. Orthotopic U251N glioblastoma xenograft in the athymic rat, MRI-guided LITT; bulk RNA-seq of primary and recurrent tumors, n = 3 per arm; GEO GSE338105.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twenty ways to split six animals, ours is first</a:t>
            </a:r>
          </a:p>
        </p:txBody>
      </p:sp>
      <p:pic>
        <p:nvPicPr>
          <p:cNvPr id="3" name="Picture 2" descr="fig1c_share_labellings_p1.png"/>
          <p:cNvPicPr>
            <a:picLocks noChangeAspect="1"/>
          </p:cNvPicPr>
          <p:nvPr/>
        </p:nvPicPr>
        <p:blipFill>
          <a:blip r:embed="rId2"/>
          <a:stretch>
            <a:fillRect/>
          </a:stretch>
        </p:blipFill>
        <p:spPr>
          <a:xfrm>
            <a:off x="1750000" y="1420000"/>
            <a:ext cx="5392083" cy="4830000"/>
          </a:xfrm>
          <a:prstGeom prst="rect">
            <a:avLst/>
          </a:prstGeom>
        </p:spPr>
      </p:pic>
      <p:sp>
        <p:nvSpPr>
          <p:cNvPr id="4" name="TextBox 3"/>
          <p:cNvSpPr txBox="1"/>
          <p:nvPr/>
        </p:nvSpPr>
        <p:spPr>
          <a:xfrm>
            <a:off x="7442083" y="1540000"/>
            <a:ext cx="4457917"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Relabel the six animals every balanced way: twenty splits.</a:t>
            </a:r>
          </a:p>
          <a:p>
            <a:pPr>
              <a:spcBef>
                <a:spcPts val="0"/>
              </a:spcBef>
              <a:spcAft>
                <a:spcPts val="1400"/>
              </a:spcAft>
            </a:pPr>
            <a:r>
              <a:rPr sz="1800" b="0">
                <a:solidFill>
                  <a:srgbClr val="191D63"/>
                </a:solidFill>
              </a:rPr>
              <a:t>The true split gives the largest difference of the twenty on DNA fraction (p = 0.05, the floor of the design) and ranks second on RNA share.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Twenty balanced three-against-three labellings of the six tumors; the true labelling is filled. Orthotopic U251N glioblastoma xenograft in the athymic rat, MRI-guided LITT; bulk RNA-seq of primary and recurrent tumors, n = 3 per arm; GEO GSE338105.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How much of the difference is simply less tumor?</a:t>
            </a:r>
          </a:p>
        </p:txBody>
      </p:sp>
      <p:pic>
        <p:nvPicPr>
          <p:cNvPr id="3" name="Picture 2" descr="fig2a_shapley_de_genes.png"/>
          <p:cNvPicPr>
            <a:picLocks noChangeAspect="1"/>
          </p:cNvPicPr>
          <p:nvPr/>
        </p:nvPicPr>
        <p:blipFill>
          <a:blip r:embed="rId2"/>
          <a:stretch>
            <a:fillRect/>
          </a:stretch>
        </p:blipFill>
        <p:spPr>
          <a:xfrm>
            <a:off x="1750000" y="2005409"/>
            <a:ext cx="6293000" cy="3659181"/>
          </a:xfrm>
          <a:prstGeom prst="rect">
            <a:avLst/>
          </a:prstGeom>
        </p:spPr>
      </p:pic>
      <p:sp>
        <p:nvSpPr>
          <p:cNvPr id="4" name="TextBox 3"/>
          <p:cNvSpPr txBox="1"/>
          <p:nvPr/>
        </p:nvSpPr>
        <p:spPr>
          <a:xfrm>
            <a:off x="8343000" y="1540000"/>
            <a:ext cx="35570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A human graft in a rat host: every read is assigned by species, so each gene's fold change splits exactly into composition, tumor-cell and host-cell terms.²¹</a:t>
            </a:r>
          </a:p>
          <a:p>
            <a:pPr>
              <a:spcBef>
                <a:spcPts val="0"/>
              </a:spcBef>
              <a:spcAft>
                <a:spcPts val="1400"/>
              </a:spcAft>
            </a:pPr>
            <a:r>
              <a:rPr sz="1800" b="0">
                <a:solidFill>
                  <a:srgbClr val="191D63"/>
                </a:solidFill>
              </a:rPr>
              <a:t>Composition is the largest single term and still under half: 0.47 (0.45-0.47 across four sensitivities).</a:t>
            </a:r>
          </a:p>
          <a:p>
            <a:pPr>
              <a:spcBef>
                <a:spcPts val="0"/>
              </a:spcBef>
              <a:spcAft>
                <a:spcPts val="1400"/>
              </a:spcAft>
            </a:pPr>
            <a:r>
              <a:rPr sz="1800" b="0">
                <a:solidFill>
                  <a:srgbClr val="4C70B7"/>
                </a:solidFill>
              </a:rPr>
              <a:t>Of the 133 genes a species-blind analysis calls differential, 13 % are composition-dominant.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21. Shen-Orr SS, et al. Nat Methods 2010;7:287-289.   Per-sample mixing identity, then Shapley attribution; the three terms sum to the fold change to 1e-15. Ensembl Compara one-to-one orthologs. Orthotopic U251N glioblastoma xenograft in the athymic rat, MRI-guided LITT; bulk RNA-seq of primary and recurrent tumors, n = 3 per arm; GEO GSE338105.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composition term behaves as a real term should</a:t>
            </a:r>
          </a:p>
        </p:txBody>
      </p:sp>
      <p:pic>
        <p:nvPicPr>
          <p:cNvPr id="3" name="Picture 2" descr="fig2b_splits_p1.png"/>
          <p:cNvPicPr>
            <a:picLocks noChangeAspect="1"/>
          </p:cNvPicPr>
          <p:nvPr/>
        </p:nvPicPr>
        <p:blipFill>
          <a:blip r:embed="rId2"/>
          <a:stretch>
            <a:fillRect/>
          </a:stretch>
        </p:blipFill>
        <p:spPr>
          <a:xfrm>
            <a:off x="1750000" y="1420000"/>
            <a:ext cx="5833882" cy="4830000"/>
          </a:xfrm>
          <a:prstGeom prst="rect">
            <a:avLst/>
          </a:prstGeom>
        </p:spPr>
      </p:pic>
      <p:sp>
        <p:nvSpPr>
          <p:cNvPr id="4" name="TextBox 3"/>
          <p:cNvSpPr txBox="1"/>
          <p:nvPr/>
        </p:nvSpPr>
        <p:spPr>
          <a:xfrm>
            <a:off x="7883882" y="1540000"/>
            <a:ext cx="4016118"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Across all ten balanced splits of the six tumors, the composition share rises with the split's difference in tumor content (Spearman 0.85).</a:t>
            </a:r>
          </a:p>
          <a:p>
            <a:pPr>
              <a:spcBef>
                <a:spcPts val="0"/>
              </a:spcBef>
              <a:spcAft>
                <a:spcPts val="1400"/>
              </a:spcAft>
            </a:pPr>
            <a:r>
              <a:rPr sz="1800" b="0">
                <a:solidFill>
                  <a:srgbClr val="191D63"/>
                </a:solidFill>
              </a:rPr>
              <a:t>The true split is the highest of the ten, and sits inside the band predicted from the other nine.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Ten balanced three-against-three splits; the true split is orange. Orthotopic U251N glioblastoma xenograft in the athymic rat, MRI-guided LITT; bulk RNA-seq of primary and recurrent tumors, n = 3 per arm; GEO GSE338105.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Motility and inflammation live in the bulk view only</a:t>
            </a:r>
          </a:p>
        </p:txBody>
      </p:sp>
      <p:pic>
        <p:nvPicPr>
          <p:cNvPr id="3" name="Picture 2" descr="fig2c_categories_by_view.png"/>
          <p:cNvPicPr>
            <a:picLocks noChangeAspect="1"/>
          </p:cNvPicPr>
          <p:nvPr/>
        </p:nvPicPr>
        <p:blipFill>
          <a:blip r:embed="rId2"/>
          <a:stretch>
            <a:fillRect/>
          </a:stretch>
        </p:blipFill>
        <p:spPr>
          <a:xfrm>
            <a:off x="3331915" y="1420000"/>
            <a:ext cx="6986170" cy="3648200"/>
          </a:xfrm>
          <a:prstGeom prst="rect">
            <a:avLst/>
          </a:prstGeom>
        </p:spPr>
      </p:pic>
      <p:sp>
        <p:nvSpPr>
          <p:cNvPr id="4" name="TextBox 3"/>
          <p:cNvSpPr txBox="1"/>
          <p:nvPr/>
        </p:nvSpPr>
        <p:spPr>
          <a:xfrm>
            <a:off x="1750000" y="5158200"/>
            <a:ext cx="10150000" cy="1091800"/>
          </a:xfrm>
          <a:prstGeom prst="rect">
            <a:avLst/>
          </a:prstGeom>
          <a:noFill/>
        </p:spPr>
        <p:txBody>
          <a:bodyPr wrap="square" lIns="0" rIns="0" tIns="0" bIns="0">
            <a:spAutoFit/>
          </a:bodyPr>
          <a:lstStyle/>
          <a:p>
            <a:pPr>
              <a:spcBef>
                <a:spcPts val="0"/>
              </a:spcBef>
              <a:spcAft>
                <a:spcPts val="1000"/>
              </a:spcAft>
            </a:pPr>
            <a:r>
              <a:rPr sz="1800" b="0">
                <a:solidFill>
                  <a:srgbClr val="191D63"/>
                </a:solidFill>
              </a:rPr>
              <a:t>Cell motility and inflammatory response are enriched among the genes up in the species-blind (bulk) reading - the categories reported for this model.</a:t>
            </a:r>
          </a:p>
          <a:p>
            <a:pPr>
              <a:spcBef>
                <a:spcPts val="0"/>
              </a:spcBef>
              <a:spcAft>
                <a:spcPts val="1000"/>
              </a:spcAft>
            </a:pPr>
            <a:r>
              <a:rPr sz="1800" b="0">
                <a:solidFill>
                  <a:srgbClr val="191D63"/>
                </a:solidFill>
              </a:rPr>
              <a:t>Neither appears in the tumor cells' own reading. Cell cycle appears in no view.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g:Profiler on three fixed GO terms, Holm across three categories by four views. Orthotopic U251N glioblastoma xenograft in the athymic rat, MRI-guided LITT; bulk RNA-seq of primary and recurrent tumors, n = 3 per arm; GEO GSE338105.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Where the mesenchymal shift at recurrence comes from</a:t>
            </a:r>
          </a:p>
        </p:txBody>
      </p:sp>
      <p:pic>
        <p:nvPicPr>
          <p:cNvPr id="3" name="Picture 2" descr="fig2d_mes_human_vs_virtual_p1.png"/>
          <p:cNvPicPr>
            <a:picLocks noChangeAspect="1"/>
          </p:cNvPicPr>
          <p:nvPr/>
        </p:nvPicPr>
        <p:blipFill>
          <a:blip r:embed="rId2"/>
          <a:stretch>
            <a:fillRect/>
          </a:stretch>
        </p:blipFill>
        <p:spPr>
          <a:xfrm>
            <a:off x="1750000" y="1420000"/>
            <a:ext cx="6090785" cy="4830000"/>
          </a:xfrm>
          <a:prstGeom prst="rect">
            <a:avLst/>
          </a:prstGeom>
        </p:spPr>
      </p:pic>
      <p:sp>
        <p:nvSpPr>
          <p:cNvPr id="4" name="TextBox 3"/>
          <p:cNvSpPr txBox="1"/>
          <p:nvPr/>
        </p:nvSpPr>
        <p:spPr>
          <a:xfrm>
            <a:off x="8140785" y="1540000"/>
            <a:ext cx="3759215"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In the tumor cells alone the mesenchymal score FALLS at recurrence⁷ - below every one of 1,000 draws of a dilution null.</a:t>
            </a:r>
          </a:p>
          <a:p>
            <a:pPr>
              <a:spcBef>
                <a:spcPts val="0"/>
              </a:spcBef>
              <a:spcAft>
                <a:spcPts val="1400"/>
              </a:spcAft>
            </a:pPr>
            <a:r>
              <a:rPr sz="1800" b="0">
                <a:solidFill>
                  <a:srgbClr val="191D63"/>
                </a:solidFill>
              </a:rPr>
              <a:t>The rat-only score tracks myeloid content (Spearman 0.66): consistent with the bulk signal being host tissue, though the pre-registered test of that ranks 5 of 20 and cannot resolve it at six animals.²²</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22. Spitzer A, et al. Nat Genet 2025;57:1168-1178.   GSVA on TMM log-CPM; dot, human reads; arrow head, the same sample read as bulk. Orthotopic U251N glioblastoma xenograft in the athymic rat, MRI-guided LITT; bulk RNA-seq of primary and recurrent tumors, n = 3 per arm; GEO GSE338105.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tumor-cell program survives the adjustment</a:t>
            </a:r>
          </a:p>
        </p:txBody>
      </p:sp>
      <p:pic>
        <p:nvPicPr>
          <p:cNvPr id="3" name="Picture 2" descr="fig5a_dig_arms_p2.png"/>
          <p:cNvPicPr>
            <a:picLocks noChangeAspect="1"/>
          </p:cNvPicPr>
          <p:nvPr/>
        </p:nvPicPr>
        <p:blipFill>
          <a:blip r:embed="rId2"/>
          <a:stretch>
            <a:fillRect/>
          </a:stretch>
        </p:blipFill>
        <p:spPr>
          <a:xfrm>
            <a:off x="1750000" y="1420000"/>
            <a:ext cx="5557912" cy="4830000"/>
          </a:xfrm>
          <a:prstGeom prst="rect">
            <a:avLst/>
          </a:prstGeom>
        </p:spPr>
      </p:pic>
      <p:sp>
        <p:nvSpPr>
          <p:cNvPr id="4" name="TextBox 3"/>
          <p:cNvSpPr txBox="1"/>
          <p:nvPr/>
        </p:nvSpPr>
        <p:spPr>
          <a:xfrm>
            <a:off x="7607912" y="1540000"/>
            <a:ext cx="4292088"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A published distal-invasion program scores higher in the recurrences after adjusting for tumor content: first of twenty labellings (p = 0.05).</a:t>
            </a:r>
          </a:p>
          <a:p>
            <a:pPr>
              <a:spcBef>
                <a:spcPts val="0"/>
              </a:spcBef>
              <a:spcAft>
                <a:spcPts val="1400"/>
              </a:spcAft>
            </a:pPr>
            <a:r>
              <a:rPr sz="1800" b="0">
                <a:solidFill>
                  <a:srgbClr val="4C70B7"/>
                </a:solidFill>
              </a:rPr>
              <a:t>One labelling of twenty, in a model where the recurrent arm is also the later-harvested arm. A hypothesis for the next study, not a finding.</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Chanoch-Myers 2026 distal-invasion gene sets, frozen by hash; score ~ arm + tumor share, refitted for each of the twenty labellings. Orthotopic U251N glioblastoma xenograft in the athymic rat, MRI-guided LITT; bulk RNA-seq of primary and recurrent tumors, n = 3 per arm; GEO GSE338105.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Methylation: nothing survives correction</a:t>
            </a:r>
          </a:p>
        </p:txBody>
      </p:sp>
      <p:pic>
        <p:nvPicPr>
          <p:cNvPr id="3" name="Picture 2" descr="fig4b_dmp_counts.png"/>
          <p:cNvPicPr>
            <a:picLocks noChangeAspect="1"/>
          </p:cNvPicPr>
          <p:nvPr/>
        </p:nvPicPr>
        <p:blipFill>
          <a:blip r:embed="rId2"/>
          <a:stretch>
            <a:fillRect/>
          </a:stretch>
        </p:blipFill>
        <p:spPr>
          <a:xfrm>
            <a:off x="3464800" y="1420000"/>
            <a:ext cx="6720400" cy="3360200"/>
          </a:xfrm>
          <a:prstGeom prst="rect">
            <a:avLst/>
          </a:prstGeom>
        </p:spPr>
      </p:pic>
      <p:sp>
        <p:nvSpPr>
          <p:cNvPr id="4" name="TextBox 3"/>
          <p:cNvSpPr txBox="1"/>
          <p:nvPr/>
        </p:nvSpPr>
        <p:spPr>
          <a:xfrm>
            <a:off x="1750000" y="4870200"/>
            <a:ext cx="10150000" cy="1379800"/>
          </a:xfrm>
          <a:prstGeom prst="rect">
            <a:avLst/>
          </a:prstGeom>
          <a:noFill/>
        </p:spPr>
        <p:txBody>
          <a:bodyPr wrap="square" lIns="0" rIns="0" tIns="0" bIns="0">
            <a:spAutoFit/>
          </a:bodyPr>
          <a:lstStyle/>
          <a:p>
            <a:pPr>
              <a:spcBef>
                <a:spcPts val="0"/>
              </a:spcBef>
              <a:spcAft>
                <a:spcPts val="1000"/>
              </a:spcAft>
            </a:pPr>
            <a:r>
              <a:rPr sz="1800" b="0">
                <a:solidFill>
                  <a:srgbClr val="191D63"/>
                </a:solidFill>
              </a:rPr>
              <a:t>No probe reaches FDR &lt; 0.05 in any design, on 866,238 probes at three against three.</a:t>
            </a:r>
          </a:p>
          <a:p>
            <a:pPr>
              <a:spcBef>
                <a:spcPts val="0"/>
              </a:spcBef>
              <a:spcAft>
                <a:spcPts val="1000"/>
              </a:spcAft>
            </a:pPr>
            <a:r>
              <a:rPr sz="1800" b="0">
                <a:solidFill>
                  <a:srgbClr val="191D63"/>
                </a:solidFill>
              </a:rPr>
              <a:t>What differs is tumor content: the true split ranks 1 of 10 without a fraction covariate and 4 of 10 with it - in two independent pipelines and under all 14 published cross-species exclusion lists.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Probes at p &lt; 0.001 for all ten balanced splits, per pipeline and design; the true split is orange. Orthotopic U251N glioblastoma xenograft in the athymic rat, MRI-guided LITT; bulk RNA-seq of primary and recurrent tumors, n = 3 per arm; GEO GSE338105.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MGMT status does not move</a:t>
            </a:r>
          </a:p>
        </p:txBody>
      </p:sp>
      <p:pic>
        <p:nvPicPr>
          <p:cNvPr id="3" name="Picture 2" descr="fig4c_mgmt_stp27.png"/>
          <p:cNvPicPr>
            <a:picLocks noChangeAspect="1"/>
          </p:cNvPicPr>
          <p:nvPr/>
        </p:nvPicPr>
        <p:blipFill>
          <a:blip r:embed="rId2"/>
          <a:stretch>
            <a:fillRect/>
          </a:stretch>
        </p:blipFill>
        <p:spPr>
          <a:xfrm>
            <a:off x="1750000" y="1420000"/>
            <a:ext cx="4830000" cy="4830000"/>
          </a:xfrm>
          <a:prstGeom prst="rect">
            <a:avLst/>
          </a:prstGeom>
        </p:spPr>
      </p:pic>
      <p:sp>
        <p:nvSpPr>
          <p:cNvPr id="4" name="TextBox 3"/>
          <p:cNvSpPr txBox="1"/>
          <p:nvPr/>
        </p:nvSpPr>
        <p:spPr>
          <a:xfrm>
            <a:off x="6880000" y="1540000"/>
            <a:ext cx="50200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MGMT-STP27²⁶ calls every array methylated (0.995-0.998).</a:t>
            </a:r>
          </a:p>
          <a:p>
            <a:pPr>
              <a:spcBef>
                <a:spcPts val="0"/>
              </a:spcBef>
              <a:spcAft>
                <a:spcPts val="1400"/>
              </a:spcAft>
            </a:pPr>
            <a:r>
              <a:rPr sz="1800" b="0">
                <a:solidFill>
                  <a:srgbClr val="191D63"/>
                </a:solidFill>
              </a:rPr>
              <a:t>The shift that would change a call is 0.45-0.48 beta; the observed recurrent-minus-primary shifts are -0.03 and +0.06.</a:t>
            </a:r>
          </a:p>
          <a:p>
            <a:pPr>
              <a:spcBef>
                <a:spcPts val="0"/>
              </a:spcBef>
              <a:spcAft>
                <a:spcPts val="1400"/>
              </a:spcAft>
            </a:pPr>
            <a:r>
              <a:rPr sz="1800" b="0">
                <a:solidFill>
                  <a:srgbClr val="191D63"/>
                </a:solidFill>
              </a:rPr>
              <a:t>No animal received an alkylating agent: this is a stability readout, not a resistance result.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26. Bady P, Delorenzi M, Hegi ME. J Mol Diagn 2016;18:350-361.   Dashed line, the model's decision boundary; each arrow is the shift that would change that recurrence's call. Orthotopic U251N glioblastoma xenograft in the athymic rat, MRI-guided LITT; bulk RNA-seq of primary and recurrent tumors, n = 3 per arm; GEO GSE338105.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DNA signal dilution does not explain</a:t>
            </a:r>
          </a:p>
        </p:txBody>
      </p:sp>
      <p:pic>
        <p:nvPicPr>
          <p:cNvPr id="3" name="Picture 2" descr="fig4a_amplitude_dilution.png"/>
          <p:cNvPicPr>
            <a:picLocks noChangeAspect="1"/>
          </p:cNvPicPr>
          <p:nvPr/>
        </p:nvPicPr>
        <p:blipFill>
          <a:blip r:embed="rId2"/>
          <a:stretch>
            <a:fillRect/>
          </a:stretch>
        </p:blipFill>
        <p:spPr>
          <a:xfrm>
            <a:off x="1750000" y="1420000"/>
            <a:ext cx="6147272" cy="4830000"/>
          </a:xfrm>
          <a:prstGeom prst="rect">
            <a:avLst/>
          </a:prstGeom>
        </p:spPr>
      </p:pic>
      <p:sp>
        <p:nvSpPr>
          <p:cNvPr id="4" name="TextBox 3"/>
          <p:cNvSpPr txBox="1"/>
          <p:nvPr/>
        </p:nvSpPr>
        <p:spPr>
          <a:xfrm>
            <a:off x="8197272" y="1540000"/>
            <a:ext cx="3702728"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Diluting the parental culture in silico with rat DNA barely lowers its copy-number amplitude, so dilution alone does not put the primaries below the curve.</a:t>
            </a:r>
          </a:p>
          <a:p>
            <a:pPr>
              <a:spcBef>
                <a:spcPts val="0"/>
              </a:spcBef>
              <a:spcAft>
                <a:spcPts val="1400"/>
              </a:spcAft>
            </a:pPr>
            <a:r>
              <a:rPr sz="1800" b="0">
                <a:solidFill>
                  <a:srgbClr val="191D63"/>
                </a:solidFill>
              </a:rPr>
              <a:t>Recurrent minus primary 0.115 (90 % 0.067 to 0.166), first of twenty labellings.</a:t>
            </a:r>
          </a:p>
          <a:p>
            <a:pPr>
              <a:spcBef>
                <a:spcPts val="0"/>
              </a:spcBef>
              <a:spcAft>
                <a:spcPts val="1400"/>
              </a:spcAft>
            </a:pPr>
            <a:r>
              <a:rPr sz="1800" b="0">
                <a:solidFill>
                  <a:srgbClr val="4C70B7"/>
                </a:solidFill>
              </a:rPr>
              <a:t>The null behind the band is unvalidated - the titration that would validate it failed - so this is reported as unexplained by dilution and nothing is claimed from it.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Amplitude = slope of an array's copy-number bins on the parental culture's; line and band, the culture diluted in silico with ten rat reference arrays. Orthotopic U251N glioblastoma xenograft in the athymic rat, MRI-guided LITT; bulk RNA-seq of primary and recurrent tumors, n = 3 per arm; GEO GSE338105.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U251N in the opposite hemisphere</a:t>
            </a:r>
          </a:p>
        </p:txBody>
      </p:sp>
      <p:pic>
        <p:nvPicPr>
          <p:cNvPr id="3" name="Picture 2" descr="fig_c1_N2_over_core_bins.png"/>
          <p:cNvPicPr>
            <a:picLocks noChangeAspect="1"/>
          </p:cNvPicPr>
          <p:nvPr/>
        </p:nvPicPr>
        <p:blipFill>
          <a:blip r:embed="rId2"/>
          <a:stretch>
            <a:fillRect/>
          </a:stretch>
        </p:blipFill>
        <p:spPr>
          <a:xfrm>
            <a:off x="2131361" y="1420000"/>
            <a:ext cx="9387277" cy="3072200"/>
          </a:xfrm>
          <a:prstGeom prst="rect">
            <a:avLst/>
          </a:prstGeom>
        </p:spPr>
      </p:pic>
      <p:sp>
        <p:nvSpPr>
          <p:cNvPr id="4" name="TextBox 3"/>
          <p:cNvSpPr txBox="1"/>
          <p:nvPr/>
        </p:nvSpPr>
        <p:spPr>
          <a:xfrm>
            <a:off x="1750000" y="4582200"/>
            <a:ext cx="10150000" cy="1667800"/>
          </a:xfrm>
          <a:prstGeom prst="rect">
            <a:avLst/>
          </a:prstGeom>
          <a:noFill/>
        </p:spPr>
        <p:txBody>
          <a:bodyPr wrap="square" lIns="0" rIns="0" tIns="0" bIns="0">
            <a:spAutoFit/>
          </a:bodyPr>
          <a:lstStyle/>
          <a:p>
            <a:pPr>
              <a:spcBef>
                <a:spcPts val="0"/>
              </a:spcBef>
              <a:spcAft>
                <a:spcPts val="1000"/>
              </a:spcAft>
            </a:pPr>
            <a:r>
              <a:rPr sz="1800" b="0">
                <a:solidFill>
                  <a:srgbClr val="191D63"/>
                </a:solidFill>
              </a:rPr>
              <a:t>Rat 69's contralateral hemisphere: 4.9 % of reads human, the donor genotype at 56 of 59 identity probes, Y-chromosome dose 0.88, and the line's copy-number profile (r = 0.72).</a:t>
            </a:r>
          </a:p>
          <a:p>
            <a:pPr>
              <a:spcBef>
                <a:spcPts val="0"/>
              </a:spcBef>
              <a:spcAft>
                <a:spcPts val="1000"/>
              </a:spcAft>
            </a:pPr>
            <a:r>
              <a:rPr sz="1800" b="0">
                <a:solidFill>
                  <a:srgbClr val="191D63"/>
                </a:solidFill>
              </a:rPr>
              <a:t>Two platforms on separate aliquots - sequencing and the array; the three array readouts share the array. The other animal's contralateral hemisphere reads 0.5 %.</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Copy number on human-specific probes with rat cross-hybridising probes removed, scaled to the parental culture; 31-bin running medians. One animal.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Not the core sampled thinner - on two of three tests</a:t>
            </a:r>
          </a:p>
        </p:txBody>
      </p:sp>
      <p:pic>
        <p:nvPicPr>
          <p:cNvPr id="3" name="Picture 2" descr="fig_a_nullA_p1.png"/>
          <p:cNvPicPr>
            <a:picLocks noChangeAspect="1"/>
          </p:cNvPicPr>
          <p:nvPr/>
        </p:nvPicPr>
        <p:blipFill>
          <a:blip r:embed="rId2"/>
          <a:stretch>
            <a:fillRect/>
          </a:stretch>
        </p:blipFill>
        <p:spPr>
          <a:xfrm>
            <a:off x="1750000" y="1420000"/>
            <a:ext cx="4848648" cy="4830000"/>
          </a:xfrm>
          <a:prstGeom prst="rect">
            <a:avLst/>
          </a:prstGeom>
        </p:spPr>
      </p:pic>
      <p:sp>
        <p:nvSpPr>
          <p:cNvPr id="4" name="TextBox 3"/>
          <p:cNvSpPr txBox="1"/>
          <p:nvPr/>
        </p:nvSpPr>
        <p:spPr>
          <a:xfrm>
            <a:off x="6898648" y="1540000"/>
            <a:ext cx="5001352"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The null: that animal's own tumor subsampled to the contralateral sample's depth, plus the measured assignment floor, 1,000 draws.</a:t>
            </a:r>
          </a:p>
          <a:p>
            <a:pPr>
              <a:spcBef>
                <a:spcPts val="0"/>
              </a:spcBef>
              <a:spcAft>
                <a:spcPts val="1400"/>
              </a:spcAft>
            </a:pPr>
            <a:r>
              <a:rPr sz="1800" b="0">
                <a:solidFill>
                  <a:srgbClr val="191D63"/>
                </a:solidFill>
              </a:rPr>
              <a:t>Whole-profile distance 0.153 against a null 99.5th percentile of 0.028, and larger than another animal's tumor gives against the same reference.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Dashed and dotted lines: the same construction from two other animals' tumors. One animal.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Two readings, and what a surgeon can take from it</a:t>
            </a:r>
          </a:p>
        </p:txBody>
      </p:sp>
      <p:sp>
        <p:nvSpPr>
          <p:cNvPr id="3" name="TextBox 2"/>
          <p:cNvSpPr txBox="1"/>
          <p:nvPr/>
        </p:nvSpPr>
        <p:spPr>
          <a:xfrm>
            <a:off x="1750000" y="1520000"/>
            <a:ext cx="10150000" cy="3380000"/>
          </a:xfrm>
          <a:prstGeom prst="rect">
            <a:avLst/>
          </a:prstGeom>
          <a:noFill/>
        </p:spPr>
        <p:txBody>
          <a:bodyPr wrap="square" lIns="0" rIns="0" tIns="0" bIns="0">
            <a:spAutoFit/>
          </a:bodyPr>
          <a:lstStyle/>
          <a:p>
            <a:pPr>
              <a:spcBef>
                <a:spcPts val="0"/>
              </a:spcBef>
              <a:spcAft>
                <a:spcPts val="1800"/>
              </a:spcAft>
            </a:pPr>
            <a:r>
              <a:rPr sz="2000" b="0">
                <a:solidFill>
                  <a:srgbClr val="191D63"/>
                </a:solidFill>
              </a:rPr>
              <a:t>Either U251N cells reached the opposite hemisphere in life, or core tissue was carried across on the blade when the frozen slice was cut. This design cannot separate them, and I am not going to rank them.</a:t>
            </a:r>
          </a:p>
          <a:p>
            <a:pPr>
              <a:spcBef>
                <a:spcPts val="0"/>
              </a:spcBef>
              <a:spcAft>
                <a:spcPts val="1800"/>
              </a:spcAft>
            </a:pPr>
            <a:r>
              <a:rPr sz="2000" b="0">
                <a:solidFill>
                  <a:srgbClr val="191D63"/>
                </a:solidFill>
              </a:rPr>
              <a:t>What does not depend on which: tumor material is measurable at a site remote from the implant, by two platforms, at a level routine histology of that piece would miss.</a:t>
            </a:r>
          </a:p>
          <a:p>
            <a:pPr>
              <a:spcBef>
                <a:spcPts val="0"/>
              </a:spcBef>
              <a:spcAft>
                <a:spcPts val="1800"/>
              </a:spcAft>
            </a:pPr>
            <a:r>
              <a:rPr sz="2000" b="0">
                <a:solidFill>
                  <a:srgbClr val="4C70B7"/>
                </a:solidFill>
              </a:rPr>
              <a:t>For scale, someone else's measurement: malignant cells were recovered from gloves or instruments in 14 of 47 canine cancer operations (30 %), and in 57 % when margins were involved.²³</a:t>
            </a:r>
          </a:p>
        </p:txBody>
      </p:sp>
      <p:sp>
        <p:nvSpPr>
          <p:cNvPr id="4" name="Rounded Rectangle 3"/>
          <p:cNvSpPr/>
          <p:nvPr/>
        </p:nvSpPr>
        <p:spPr>
          <a:xfrm>
            <a:off x="1750000" y="5000000"/>
            <a:ext cx="10150000" cy="125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If it was carried, then something that had just been through tumor left tumor behind across the midline - which is a question this method makes answerable, and the next study answers it with a naive hemisphere cut straight after a tumor-bearing one.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23. Orjefelt E, et al. J Small Anim Pract 2026;67:528-533.   24. Steinmetz MP, et al. J Neurooncol 2001;55:167-171.   25. Bekar A, et al. World Neurosurg 2010;73:719-721.   Those are other groups' measurements of instrument contamination, not ours. Both contralateral samples come from animals that were never ablated.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the next experiment costs, decided in advance</a:t>
            </a:r>
          </a:p>
        </p:txBody>
      </p:sp>
      <p:pic>
        <p:nvPicPr>
          <p:cNvPr id="3" name="Picture 2" descr="fig6_rats_needed_p3.png"/>
          <p:cNvPicPr>
            <a:picLocks noChangeAspect="1"/>
          </p:cNvPicPr>
          <p:nvPr/>
        </p:nvPicPr>
        <p:blipFill>
          <a:blip r:embed="rId2"/>
          <a:stretch>
            <a:fillRect/>
          </a:stretch>
        </p:blipFill>
        <p:spPr>
          <a:xfrm>
            <a:off x="1750000" y="1420000"/>
            <a:ext cx="3994038" cy="4830000"/>
          </a:xfrm>
          <a:prstGeom prst="rect">
            <a:avLst/>
          </a:prstGeom>
        </p:spPr>
      </p:pic>
      <p:sp>
        <p:nvSpPr>
          <p:cNvPr id="4" name="TextBox 3"/>
          <p:cNvSpPr txBox="1"/>
          <p:nvPr/>
        </p:nvSpPr>
        <p:spPr>
          <a:xfrm>
            <a:off x="6044038" y="1540000"/>
            <a:ext cx="5855962"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Targets were fixed and hashed before any pilot number entered a calculation.²⁸</a:t>
            </a:r>
          </a:p>
          <a:p>
            <a:pPr>
              <a:spcBef>
                <a:spcPts val="0"/>
              </a:spcBef>
              <a:spcAft>
                <a:spcPts val="1400"/>
              </a:spcAft>
            </a:pPr>
            <a:r>
              <a:rPr sz="1800" b="0">
                <a:solidFill>
                  <a:srgbClr val="191D63"/>
                </a:solidFill>
              </a:rPr>
              <a:t>The binding constraint is the per-animal endpoint: 44 rats per arm to move invasion frequency 0.20 to 0.50, 27 for a 15-point difference in tumor content, and 29 control pieces to bound how often a control piece reads positive at 10 %.</a:t>
            </a:r>
          </a:p>
          <a:p>
            <a:pPr>
              <a:spcBef>
                <a:spcPts val="0"/>
              </a:spcBef>
              <a:spcAft>
                <a:spcPts val="1400"/>
              </a:spcAft>
            </a:pPr>
            <a:r>
              <a:rPr sz="1800" b="0">
                <a:solidFill>
                  <a:srgbClr val="4C70B7"/>
                </a:solidFill>
              </a:rPr>
              <a:t>The clone-level test - are the cells that grew back the ones that had already left? - needs 9 to 16 barcoded animals, because the unit becomes the clone.²⁷</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27. Barthel FP, et al. Nature 2019;576:112-120.   28. Browne RH. Stat Med 1995;14:1933-1940.   Power against animals; dashed line, the pre-stated target; filled mark, the conservative sizing; open marks, the two other contrasts. Panels for the genome-wide targets are pending.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What each library is made of</a:t>
            </a:r>
          </a:p>
        </p:txBody>
      </p:sp>
      <p:pic>
        <p:nvPicPr>
          <p:cNvPr id="3" name="Picture 2" descr="fig1a_read_composition.png"/>
          <p:cNvPicPr>
            <a:picLocks noChangeAspect="1"/>
          </p:cNvPicPr>
          <p:nvPr/>
        </p:nvPicPr>
        <p:blipFill>
          <a:blip r:embed="rId2"/>
          <a:stretch>
            <a:fillRect/>
          </a:stretch>
        </p:blipFill>
        <p:spPr>
          <a:xfrm>
            <a:off x="1750000" y="1601924"/>
            <a:ext cx="6293000" cy="4466151"/>
          </a:xfrm>
          <a:prstGeom prst="rect">
            <a:avLst/>
          </a:prstGeom>
        </p:spPr>
      </p:pic>
      <p:sp>
        <p:nvSpPr>
          <p:cNvPr id="4" name="TextBox 3"/>
          <p:cNvSpPr txBox="1"/>
          <p:nvPr/>
        </p:nvSpPr>
        <p:spPr>
          <a:xfrm>
            <a:off x="8343000" y="1540000"/>
            <a:ext cx="35570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Every read pair assigned by species before anything is counted.</a:t>
            </a:r>
          </a:p>
          <a:p>
            <a:pPr>
              <a:spcBef>
                <a:spcPts val="0"/>
              </a:spcBef>
              <a:spcAft>
                <a:spcPts val="1400"/>
              </a:spcAft>
            </a:pPr>
            <a:r>
              <a:rPr sz="1800" b="0">
                <a:solidFill>
                  <a:srgbClr val="191D63"/>
                </a:solidFill>
              </a:rPr>
              <a:t>The three floor libraries: IL64B, an implanted hemisphere with no tumor in the piece (0.3 % human), and the two contralateral hemispheres (0.5 % and 4.9 %).</a:t>
            </a:r>
          </a:p>
          <a:p>
            <a:pPr>
              <a:spcBef>
                <a:spcPts val="0"/>
              </a:spcBef>
              <a:spcAft>
                <a:spcPts val="1400"/>
              </a:spcAft>
            </a:pPr>
            <a:r>
              <a:rPr sz="1800" b="0">
                <a:solidFill>
                  <a:srgbClr val="191D63"/>
                </a:solidFill>
              </a:rPr>
              <a:t>Human Y-linked transcripts per million human counts: 177-209 in the six tumors, 2.9 in the tumor-free library.</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xengsort (k = 25) against GRCh38 and mRatBN7.2; shares of all classified read pairs. Orthotopic U251N glioblastoma xenograft in the athymic rat, MRI-guided LITT; bulk RNA-seq of primary and recurrent tumors, n = 3 per arm; GEO GSE338105.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Tumor content, three estimators</a:t>
            </a:r>
          </a:p>
        </p:txBody>
      </p:sp>
      <p:pic>
        <p:nvPicPr>
          <p:cNvPr id="3" name="Picture 2" descr="fig1b_rna_vs_dna_p1.png"/>
          <p:cNvPicPr>
            <a:picLocks noChangeAspect="1"/>
          </p:cNvPicPr>
          <p:nvPr/>
        </p:nvPicPr>
        <p:blipFill>
          <a:blip r:embed="rId2"/>
          <a:stretch>
            <a:fillRect/>
          </a:stretch>
        </p:blipFill>
        <p:spPr>
          <a:xfrm>
            <a:off x="1750000" y="1420000"/>
            <a:ext cx="4380438" cy="4830000"/>
          </a:xfrm>
          <a:prstGeom prst="rect">
            <a:avLst/>
          </a:prstGeom>
        </p:spPr>
      </p:pic>
      <p:sp>
        <p:nvSpPr>
          <p:cNvPr id="4" name="TextBox 3"/>
          <p:cNvSpPr txBox="1"/>
          <p:nvPr/>
        </p:nvSpPr>
        <p:spPr>
          <a:xfrm>
            <a:off x="6430438" y="1540000"/>
            <a:ext cx="5469562"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DNA fraction against RNA human share; the registered estimator is uncalibrated, so no cell percentage is quoted from either platform.</a:t>
            </a:r>
          </a:p>
          <a:p>
            <a:pPr>
              <a:spcBef>
                <a:spcPts val="0"/>
              </a:spcBef>
              <a:spcAft>
                <a:spcPts val="1400"/>
              </a:spcAft>
            </a:pPr>
            <a:r>
              <a:rPr sz="1800" b="0">
                <a:solidFill>
                  <a:srgbClr val="191D63"/>
                </a:solidFill>
              </a:rPr>
              <a:t>The order agrees: Spearman 0.89 over the six tumors.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Bars: the estimator's own interval. Dashed: equality, for reference only. Orthotopic U251N glioblastoma xenograft in the athymic rat, MRI-guided LITT; bulk RNA-seq of primary and recurrent tumors, n = 3 per arm; GEO GSE338105.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Differentially expressed genes across the ten splits</a:t>
            </a:r>
          </a:p>
        </p:txBody>
      </p:sp>
      <p:pic>
        <p:nvPicPr>
          <p:cNvPr id="3" name="Picture 2" descr="fig2b_splits_p2.png"/>
          <p:cNvPicPr>
            <a:picLocks noChangeAspect="1"/>
          </p:cNvPicPr>
          <p:nvPr/>
        </p:nvPicPr>
        <p:blipFill>
          <a:blip r:embed="rId2"/>
          <a:stretch>
            <a:fillRect/>
          </a:stretch>
        </p:blipFill>
        <p:spPr>
          <a:xfrm>
            <a:off x="1750000" y="1420000"/>
            <a:ext cx="5709238" cy="4830000"/>
          </a:xfrm>
          <a:prstGeom prst="rect">
            <a:avLst/>
          </a:prstGeom>
        </p:spPr>
      </p:pic>
      <p:sp>
        <p:nvSpPr>
          <p:cNvPr id="4" name="TextBox 3"/>
          <p:cNvSpPr txBox="1"/>
          <p:nvPr/>
        </p:nvSpPr>
        <p:spPr>
          <a:xfrm>
            <a:off x="7759238" y="1540000"/>
            <a:ext cx="4140762"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The true split gives 133 genes; the ten splits range from 0 to 303.</a:t>
            </a:r>
          </a:p>
          <a:p>
            <a:pPr>
              <a:spcBef>
                <a:spcPts val="0"/>
              </a:spcBef>
              <a:spcAft>
                <a:spcPts val="1400"/>
              </a:spcAft>
            </a:pPr>
            <a:r>
              <a:rPr sz="1800" b="0">
                <a:solidFill>
                  <a:srgbClr val="191D63"/>
                </a:solidFill>
              </a:rPr>
              <a:t>DE count rises with the split's difference in tumor content, as the composition share does.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nf-core/differentialabundance (DESeq2) on the species-blind matrix, identical parameters for all ten splits. Orthotopic U251N glioblastoma xenograft in the athymic rat, MRI-guided LITT; bulk RNA-seq of primary and recurrent tumors, n = 3 per arm; GEO GSE338105.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The second mesenchymal signature</a:t>
            </a:r>
          </a:p>
        </p:txBody>
      </p:sp>
      <p:pic>
        <p:nvPicPr>
          <p:cNvPr id="3" name="Picture 2" descr="fig2d_mes_human_vs_virtual_p2.png"/>
          <p:cNvPicPr>
            <a:picLocks noChangeAspect="1"/>
          </p:cNvPicPr>
          <p:nvPr/>
        </p:nvPicPr>
        <p:blipFill>
          <a:blip r:embed="rId2"/>
          <a:stretch>
            <a:fillRect/>
          </a:stretch>
        </p:blipFill>
        <p:spPr>
          <a:xfrm>
            <a:off x="1750000" y="1420000"/>
            <a:ext cx="5028691" cy="4830000"/>
          </a:xfrm>
          <a:prstGeom prst="rect">
            <a:avLst/>
          </a:prstGeom>
        </p:spPr>
      </p:pic>
      <p:sp>
        <p:nvSpPr>
          <p:cNvPr id="4" name="TextBox 3"/>
          <p:cNvSpPr txBox="1"/>
          <p:nvPr/>
        </p:nvSpPr>
        <p:spPr>
          <a:xfrm>
            <a:off x="7078691" y="1540000"/>
            <a:ext cx="4821309"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Wang 2017 mesenchymal: the human-only fall is below 99.3 % of 1,000 dilution-null draws.</a:t>
            </a:r>
          </a:p>
          <a:p>
            <a:pPr>
              <a:spcBef>
                <a:spcPts val="0"/>
              </a:spcBef>
              <a:spcAft>
                <a:spcPts val="1400"/>
              </a:spcAft>
            </a:pPr>
            <a:r>
              <a:rPr sz="1800" b="0">
                <a:solidFill>
                  <a:srgbClr val="191D63"/>
                </a:solidFill>
              </a:rPr>
              <a:t>The composition-generated difference ranks 9 of 20.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TMM log-CPM; dot, human reads; arrow head, the same sample read as bulk. Orthotopic U251N glioblastoma xenograft in the athymic rat, MRI-guided LITT; bulk RNA-seq of primary and recurrent tumors, n = 3 per arm; GEO GSE338105.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The invasion score against tumor content</a:t>
            </a:r>
          </a:p>
        </p:txBody>
      </p:sp>
      <p:pic>
        <p:nvPicPr>
          <p:cNvPr id="3" name="Picture 2" descr="fig5a_dig_arms_p1.png"/>
          <p:cNvPicPr>
            <a:picLocks noChangeAspect="1"/>
          </p:cNvPicPr>
          <p:nvPr/>
        </p:nvPicPr>
        <p:blipFill>
          <a:blip r:embed="rId2"/>
          <a:stretch>
            <a:fillRect/>
          </a:stretch>
        </p:blipFill>
        <p:spPr>
          <a:xfrm>
            <a:off x="1750000" y="1420000"/>
            <a:ext cx="5883129" cy="4830000"/>
          </a:xfrm>
          <a:prstGeom prst="rect">
            <a:avLst/>
          </a:prstGeom>
        </p:spPr>
      </p:pic>
      <p:sp>
        <p:nvSpPr>
          <p:cNvPr id="4" name="TextBox 3"/>
          <p:cNvSpPr txBox="1"/>
          <p:nvPr/>
        </p:nvSpPr>
        <p:spPr>
          <a:xfrm>
            <a:off x="7933129" y="1540000"/>
            <a:ext cx="3966871"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Each tumor's distal-invasion score against its tumor share; the arm difference is what the model fits.</a:t>
            </a:r>
          </a:p>
          <a:p>
            <a:pPr>
              <a:spcBef>
                <a:spcPts val="0"/>
              </a:spcBef>
              <a:spcAft>
                <a:spcPts val="1400"/>
              </a:spcAft>
            </a:pPr>
            <a:r>
              <a:rPr sz="1800" b="0">
                <a:solidFill>
                  <a:srgbClr val="191D63"/>
                </a:solidFill>
              </a:rPr>
              <a:t>Two scoring packages agree on the rank.</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Chanoch-Myers 2026 gene sets, frozen by hash; singscore on floor-corrected human log-CPM. Orthotopic U251N glioblastoma xenograft in the athymic rat, MRI-guided LITT; bulk RNA-seq of primary and recurrent tumors, n = 3 per arm; GEO GSE338105.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The gate that stopped the contralateral invasion test</a:t>
            </a:r>
          </a:p>
        </p:txBody>
      </p:sp>
      <p:pic>
        <p:nvPicPr>
          <p:cNvPr id="3" name="Picture 2" descr="fig5e_dig_floor_gate.png"/>
          <p:cNvPicPr>
            <a:picLocks noChangeAspect="1"/>
          </p:cNvPicPr>
          <p:nvPr/>
        </p:nvPicPr>
        <p:blipFill>
          <a:blip r:embed="rId2"/>
          <a:stretch>
            <a:fillRect/>
          </a:stretch>
        </p:blipFill>
        <p:spPr>
          <a:xfrm>
            <a:off x="1750000" y="1589865"/>
            <a:ext cx="6293000" cy="4490270"/>
          </a:xfrm>
          <a:prstGeom prst="rect">
            <a:avLst/>
          </a:prstGeom>
        </p:spPr>
      </p:pic>
      <p:sp>
        <p:nvSpPr>
          <p:cNvPr id="4" name="TextBox 3"/>
          <p:cNvSpPr txBox="1"/>
          <p:nvPr/>
        </p:nvSpPr>
        <p:spPr>
          <a:xfrm>
            <a:off x="8343000" y="1540000"/>
            <a:ext cx="35570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The pre-registered case test asked whether the contralateral human cells sit further along the invasion axis than their own core.</a:t>
            </a:r>
          </a:p>
          <a:p>
            <a:pPr>
              <a:spcBef>
                <a:spcPts val="0"/>
              </a:spcBef>
              <a:spcAft>
                <a:spcPts val="1400"/>
              </a:spcAft>
            </a:pPr>
            <a:r>
              <a:rPr sz="1800" b="0">
                <a:solidFill>
                  <a:srgbClr val="191D63"/>
                </a:solidFill>
              </a:rPr>
              <a:t>Its gate failed first: the assignment floor scores as high as the contralateral sample, so the contrast would measure mis-assignment. The test was abandoned and is reported as abandoned.</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Same score as the arm test, on every human-bearing profile plus the two floor libraries. Orthotopic U251N glioblastoma xenograft in the athymic rat, MRI-guided LITT; bulk RNA-seq of primary and recurrent tumors, n = 3 per arm; GEO GSE338105.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The smallest shared change this design could see</a:t>
            </a:r>
          </a:p>
        </p:txBody>
      </p:sp>
      <p:pic>
        <p:nvPicPr>
          <p:cNvPr id="3" name="Picture 2" descr="fig5d_s1_detection.png"/>
          <p:cNvPicPr>
            <a:picLocks noChangeAspect="1"/>
          </p:cNvPicPr>
          <p:nvPr/>
        </p:nvPicPr>
        <p:blipFill>
          <a:blip r:embed="rId2"/>
          <a:stretch>
            <a:fillRect/>
          </a:stretch>
        </p:blipFill>
        <p:spPr>
          <a:xfrm>
            <a:off x="1750000" y="1587500"/>
            <a:ext cx="6293000" cy="4495000"/>
          </a:xfrm>
          <a:prstGeom prst="rect">
            <a:avLst/>
          </a:prstGeom>
        </p:spPr>
      </p:pic>
      <p:sp>
        <p:nvSpPr>
          <p:cNvPr id="4" name="TextBox 3"/>
          <p:cNvSpPr txBox="1"/>
          <p:nvPr/>
        </p:nvSpPr>
        <p:spPr>
          <a:xfrm>
            <a:off x="8343000" y="1540000"/>
            <a:ext cx="35570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Recurrences do not share derived arm-level copy-number changes the primaries lack (statistic 0.081, rank 5 of 20) - the pre-stated expected null.</a:t>
            </a:r>
          </a:p>
          <a:p>
            <a:pPr>
              <a:spcBef>
                <a:spcPts val="0"/>
              </a:spcBef>
              <a:spcAft>
                <a:spcPts val="1400"/>
              </a:spcAft>
            </a:pPr>
            <a:r>
              <a:rPr sz="1800" b="0">
                <a:solidFill>
                  <a:srgbClr val="191D63"/>
                </a:solidFill>
              </a:rPr>
              <a:t>A single-copy loss carried by fewer than 0.55 of recurrent cells would not have been flagged on 80 % of arms.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The registered rule applied unchanged to simulated shared changes added to the observed recurrent bins. Orthotopic U251N glioblastoma xenograft in the athymic rat, MRI-guided LITT; bulk RNA-seq of primary and recurrent tumors, n = 3 per arm; GEO GSE338105.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Fluctuating CpGs: uninformative, and why</a:t>
            </a:r>
          </a:p>
        </p:txBody>
      </p:sp>
      <p:pic>
        <p:nvPicPr>
          <p:cNvPr id="3" name="Picture 2" descr="fig5c_fcpg_w.png"/>
          <p:cNvPicPr>
            <a:picLocks noChangeAspect="1"/>
          </p:cNvPicPr>
          <p:nvPr/>
        </p:nvPicPr>
        <p:blipFill>
          <a:blip r:embed="rId2"/>
          <a:stretch>
            <a:fillRect/>
          </a:stretch>
        </p:blipFill>
        <p:spPr>
          <a:xfrm>
            <a:off x="1750000" y="1420000"/>
            <a:ext cx="6147272" cy="4830000"/>
          </a:xfrm>
          <a:prstGeom prst="rect">
            <a:avLst/>
          </a:prstGeom>
        </p:spPr>
      </p:pic>
      <p:sp>
        <p:nvSpPr>
          <p:cNvPr id="4" name="TextBox 3"/>
          <p:cNvSpPr txBox="1"/>
          <p:nvPr/>
        </p:nvSpPr>
        <p:spPr>
          <a:xfrm>
            <a:off x="8197272" y="1540000"/>
            <a:ext cx="3702728"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The homogeneity readout was pre-registered with two gates. The second failed: the parental culture is already multimodal at the published fluctuating-CpG sets.</a:t>
            </a:r>
          </a:p>
          <a:p>
            <a:pPr>
              <a:spcBef>
                <a:spcPts val="0"/>
              </a:spcBef>
              <a:spcAft>
                <a:spcPts val="1400"/>
              </a:spcAft>
            </a:pPr>
            <a:r>
              <a:rPr sz="1800" b="0">
                <a:solidFill>
                  <a:srgbClr val="191D63"/>
                </a:solidFill>
              </a:rPr>
              <a:t>So no homogeneity claim is made anywhere in this work.</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Gabbutt 2022 and 2025 lists, frozen by hash; ten matched control CpGs per site; the band is the dilution model. Orthotopic U251N glioblastoma xenograft in the athymic rat, MRI-guided LITT; bulk RNA-seq of primary and recurrent tumors, n = 3 per arm; GEO GSE338105.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Array against RNA: expression follows copy number</a:t>
            </a:r>
          </a:p>
        </p:txBody>
      </p:sp>
      <p:pic>
        <p:nvPicPr>
          <p:cNvPr id="3" name="Picture 2" descr="fig_xval_dosage_p1.png"/>
          <p:cNvPicPr>
            <a:picLocks noChangeAspect="1"/>
          </p:cNvPicPr>
          <p:nvPr/>
        </p:nvPicPr>
        <p:blipFill>
          <a:blip r:embed="rId2"/>
          <a:stretch>
            <a:fillRect/>
          </a:stretch>
        </p:blipFill>
        <p:spPr>
          <a:xfrm>
            <a:off x="1750000" y="1420000"/>
            <a:ext cx="4841171" cy="4830000"/>
          </a:xfrm>
          <a:prstGeom prst="rect">
            <a:avLst/>
          </a:prstGeom>
        </p:spPr>
      </p:pic>
      <p:sp>
        <p:nvSpPr>
          <p:cNvPr id="4" name="TextBox 3"/>
          <p:cNvSpPr txBox="1"/>
          <p:nvPr/>
        </p:nvSpPr>
        <p:spPr>
          <a:xfrm>
            <a:off x="6891171" y="1540000"/>
            <a:ext cx="5008829"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Where the RNA is tumor-rich, expression follows copy number: slope 0.54 (p = 7e-06).</a:t>
            </a:r>
          </a:p>
          <a:p>
            <a:pPr>
              <a:spcBef>
                <a:spcPts val="0"/>
              </a:spcBef>
              <a:spcAft>
                <a:spcPts val="1400"/>
              </a:spcAft>
            </a:pPr>
            <a:r>
              <a:rPr sz="1800" b="0">
                <a:solidFill>
                  <a:srgbClr val="191D63"/>
                </a:solidFill>
              </a:rPr>
              <a:t>The CDKN2A/B deletion every array calls is silent in every library, as it must be.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Arm-level copy number against arm-median expression shift; nulls matched on expression decile. Orthotopic U251N glioblastoma xenograft in the athymic rat, MRI-guided LITT; bulk RNA-seq of primary and recurrent tumors, n = 3 per arm; GEO GSE338105.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Why the contralateral copy-number losses stay unresolved</a:t>
            </a:r>
          </a:p>
        </p:txBody>
      </p:sp>
      <p:pic>
        <p:nvPicPr>
          <p:cNvPr id="3" name="Picture 2" descr="fig_xval_dosage_p3.png"/>
          <p:cNvPicPr>
            <a:picLocks noChangeAspect="1"/>
          </p:cNvPicPr>
          <p:nvPr/>
        </p:nvPicPr>
        <p:blipFill>
          <a:blip r:embed="rId2"/>
          <a:stretch>
            <a:fillRect/>
          </a:stretch>
        </p:blipFill>
        <p:spPr>
          <a:xfrm>
            <a:off x="1750000" y="1420000"/>
            <a:ext cx="4818853" cy="4830000"/>
          </a:xfrm>
          <a:prstGeom prst="rect">
            <a:avLst/>
          </a:prstGeom>
        </p:spPr>
      </p:pic>
      <p:sp>
        <p:nvSpPr>
          <p:cNvPr id="4" name="TextBox 3"/>
          <p:cNvSpPr txBox="1"/>
          <p:nvPr/>
        </p:nvSpPr>
        <p:spPr>
          <a:xfrm>
            <a:off x="6868853" y="1540000"/>
            <a:ext cx="5031147"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In the contralateral sample, arm-level expression does not follow its copy number anywhere in the genome (slope 0.17, p = 0.45), against 0.97 for its own core.</a:t>
            </a:r>
          </a:p>
          <a:p>
            <a:pPr>
              <a:spcBef>
                <a:spcPts val="0"/>
              </a:spcBef>
              <a:spcAft>
                <a:spcPts val="1400"/>
              </a:spcAft>
            </a:pPr>
            <a:r>
              <a:rPr sz="1800" b="0">
                <a:solidFill>
                  <a:srgbClr val="191D63"/>
                </a:solidFill>
              </a:rPr>
              <a:t>So its deeper losses stay array-only: the assay has no demonstrated dosage sensitivity there.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Arm copy number against arm-median expression shift, per sample. Orthotopic U251N glioblastoma xenograft in the athymic rat, MRI-guided LITT; bulk RNA-seq of primary and recurrent tumors, n = 3 per arm; GEO GSE338105.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Array against RNA: genotype</a:t>
            </a:r>
          </a:p>
        </p:txBody>
      </p:sp>
      <p:pic>
        <p:nvPicPr>
          <p:cNvPr id="3" name="Picture 2" descr="fig_xval_genotype_p1.png"/>
          <p:cNvPicPr>
            <a:picLocks noChangeAspect="1"/>
          </p:cNvPicPr>
          <p:nvPr/>
        </p:nvPicPr>
        <p:blipFill>
          <a:blip r:embed="rId2"/>
          <a:stretch>
            <a:fillRect/>
          </a:stretch>
        </p:blipFill>
        <p:spPr>
          <a:xfrm>
            <a:off x="1750000" y="1420000"/>
            <a:ext cx="5056800" cy="4830000"/>
          </a:xfrm>
          <a:prstGeom prst="rect">
            <a:avLst/>
          </a:prstGeom>
        </p:spPr>
      </p:pic>
      <p:sp>
        <p:nvSpPr>
          <p:cNvPr id="4" name="TextBox 3"/>
          <p:cNvSpPr txBox="1"/>
          <p:nvPr/>
        </p:nvSpPr>
        <p:spPr>
          <a:xfrm>
            <a:off x="7106800" y="1540000"/>
            <a:ext cx="47932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At expressed CpG-SNP positions the RNA genotype agrees with the array in 527 of 543 pairs (97.1 %).</a:t>
            </a:r>
          </a:p>
          <a:p>
            <a:pPr>
              <a:spcBef>
                <a:spcPts val="0"/>
              </a:spcBef>
              <a:spcAft>
                <a:spcPts val="1400"/>
              </a:spcAft>
            </a:pPr>
            <a:r>
              <a:rPr sz="1800" b="0">
                <a:solidFill>
                  <a:srgbClr val="191D63"/>
                </a:solidFill>
              </a:rPr>
              <a:t>The sixteen disagreements sit at five common germline sites carried by every sample: line-wide, not subclonal.</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bcftools pile-up at the array's probe positions; genotype cut-offs fixed in the pre-registration. Orthotopic U251N glioblastoma xenograft in the athymic rat, MRI-guided LITT; bulk RNA-seq of primary and recurrent tumors, n = 3 per arm; GEO GSE338105.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Array against RNA: promoter methylation</a:t>
            </a:r>
          </a:p>
        </p:txBody>
      </p:sp>
      <p:pic>
        <p:nvPicPr>
          <p:cNvPr id="3" name="Picture 2" descr="fig_xval_meth_p1.png"/>
          <p:cNvPicPr>
            <a:picLocks noChangeAspect="1"/>
          </p:cNvPicPr>
          <p:nvPr/>
        </p:nvPicPr>
        <p:blipFill>
          <a:blip r:embed="rId2"/>
          <a:stretch>
            <a:fillRect/>
          </a:stretch>
        </p:blipFill>
        <p:spPr>
          <a:xfrm>
            <a:off x="1750000" y="1420000"/>
            <a:ext cx="5044200" cy="4830000"/>
          </a:xfrm>
          <a:prstGeom prst="rect">
            <a:avLst/>
          </a:prstGeom>
        </p:spPr>
      </p:pic>
      <p:sp>
        <p:nvSpPr>
          <p:cNvPr id="4" name="TextBox 3"/>
          <p:cNvSpPr txBox="1"/>
          <p:nvPr/>
        </p:nvSpPr>
        <p:spPr>
          <a:xfrm>
            <a:off x="7094200" y="1540000"/>
            <a:ext cx="48058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Within every sample, promoter methylation and expression anticorrelate (Spearman -0.31 to -0.36).</a:t>
            </a:r>
          </a:p>
          <a:p>
            <a:pPr>
              <a:spcBef>
                <a:spcPts val="0"/>
              </a:spcBef>
              <a:spcAft>
                <a:spcPts val="1400"/>
              </a:spcAft>
            </a:pPr>
            <a:r>
              <a:rPr sz="1800" b="0">
                <a:solidFill>
                  <a:srgbClr val="191D63"/>
                </a:solidFill>
              </a:rPr>
              <a:t>Across the recurrence contrast they do not move together (-0.003), and the ribosomal-protein fall has no promoter or copy-number support.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Promoter beta against log-CPM per sample; 10,000 gene-pairing shuffles as the null. Orthotopic U251N glioblastoma xenograft in the athymic rat, MRI-guided LITT; bulk RNA-seq of primary and recurrent tumors, n = 3 per arm; GEO GSE338105.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The calibration that failed</a:t>
            </a:r>
          </a:p>
        </p:txBody>
      </p:sp>
      <p:pic>
        <p:nvPicPr>
          <p:cNvPr id="3" name="Picture 2" descr="fig_curve_mouse_validation_p2.png"/>
          <p:cNvPicPr>
            <a:picLocks noChangeAspect="1"/>
          </p:cNvPicPr>
          <p:nvPr/>
        </p:nvPicPr>
        <p:blipFill>
          <a:blip r:embed="rId2"/>
          <a:stretch>
            <a:fillRect/>
          </a:stretch>
        </p:blipFill>
        <p:spPr>
          <a:xfrm>
            <a:off x="1750000" y="1420000"/>
            <a:ext cx="4633084" cy="4830000"/>
          </a:xfrm>
          <a:prstGeom prst="rect">
            <a:avLst/>
          </a:prstGeom>
        </p:spPr>
      </p:pic>
      <p:sp>
        <p:nvSpPr>
          <p:cNvPr id="4" name="TextBox 3"/>
          <p:cNvSpPr txBox="1"/>
          <p:nvPr/>
        </p:nvSpPr>
        <p:spPr>
          <a:xfrm>
            <a:off x="6683084" y="1540000"/>
            <a:ext cx="5216916"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Mixing two pure arrays in silico does not reproduce real DNA mixtures: mean absolute error 0.242 against a pre-set bar of 0.05, every real mixture reading high.</a:t>
            </a:r>
          </a:p>
          <a:p>
            <a:pPr>
              <a:spcBef>
                <a:spcPts val="0"/>
              </a:spcBef>
              <a:spcAft>
                <a:spcPts val="1400"/>
              </a:spcAft>
            </a:pPr>
            <a:r>
              <a:rPr sz="1800" b="0">
                <a:solidFill>
                  <a:srgbClr val="4C70B7"/>
                </a:solidFill>
              </a:rPr>
              <a:t>So every tumor-fraction value here is uncalibrated and every dilution null is labelled unvalidated. No published human:rat titration on a human methylation array exists.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GSE310817 human:mouse titrations (EPIC v1) as the validation set; points, real mixtures; line, in silico. Orthotopic U251N glioblastoma xenograft in the athymic rat, MRI-guided LITT; bulk RNA-seq of primary and recurrent tumors, n = 3 per arm; GEO GSE338105.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Does the contralateral population look like the recurrences?</a:t>
            </a:r>
          </a:p>
        </p:txBody>
      </p:sp>
      <p:pic>
        <p:nvPicPr>
          <p:cNvPr id="3" name="Picture 2" descr="fig_b_similarity_p2.png"/>
          <p:cNvPicPr>
            <a:picLocks noChangeAspect="1"/>
          </p:cNvPicPr>
          <p:nvPr/>
        </p:nvPicPr>
        <p:blipFill>
          <a:blip r:embed="rId2"/>
          <a:stretch>
            <a:fillRect/>
          </a:stretch>
        </p:blipFill>
        <p:spPr>
          <a:xfrm>
            <a:off x="1750000" y="1528241"/>
            <a:ext cx="6293000" cy="4613517"/>
          </a:xfrm>
          <a:prstGeom prst="rect">
            <a:avLst/>
          </a:prstGeom>
        </p:spPr>
      </p:pic>
      <p:sp>
        <p:nvSpPr>
          <p:cNvPr id="4" name="TextBox 3"/>
          <p:cNvSpPr txBox="1"/>
          <p:nvPr/>
        </p:nvSpPr>
        <p:spPr>
          <a:xfrm>
            <a:off x="8343000" y="1540000"/>
            <a:ext cx="355700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No: the true arm labelling ranks fifteenth of twenty.</a:t>
            </a:r>
          </a:p>
          <a:p>
            <a:pPr>
              <a:spcBef>
                <a:spcPts val="0"/>
              </a:spcBef>
              <a:spcAft>
                <a:spcPts val="1400"/>
              </a:spcAft>
            </a:pPr>
            <a:r>
              <a:rPr sz="1800" b="0">
                <a:solidFill>
                  <a:srgbClr val="191D63"/>
                </a:solidFill>
              </a:rPr>
              <a:t>A variant-sharing test looked strongly positive until the variants a tumor-free library also carries were removed; then 0.830 against 0.828. Host reads in the graft stream manufacture that signal.</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All libraries subsampled to one depth before the comparison; twenty balanced labellings. Orthotopic U251N glioblastoma xenograft in the athymic rat, MRI-guided LITT; bulk RNA-seq of primary and recurrent tumors, n = 3 per arm; GEO GSE338105.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The four arms named before the analysis</a:t>
            </a:r>
          </a:p>
        </p:txBody>
      </p:sp>
      <p:pic>
        <p:nvPicPr>
          <p:cNvPr id="3" name="Picture 2" descr="fig_c1_events.png"/>
          <p:cNvPicPr>
            <a:picLocks noChangeAspect="1"/>
          </p:cNvPicPr>
          <p:nvPr/>
        </p:nvPicPr>
        <p:blipFill>
          <a:blip r:embed="rId2"/>
          <a:stretch>
            <a:fillRect/>
          </a:stretch>
        </p:blipFill>
        <p:spPr>
          <a:xfrm>
            <a:off x="3464800" y="1420000"/>
            <a:ext cx="6720400" cy="3360200"/>
          </a:xfrm>
          <a:prstGeom prst="rect">
            <a:avLst/>
          </a:prstGeom>
        </p:spPr>
      </p:pic>
      <p:sp>
        <p:nvSpPr>
          <p:cNvPr id="4" name="TextBox 3"/>
          <p:cNvSpPr txBox="1"/>
          <p:nvPr/>
        </p:nvSpPr>
        <p:spPr>
          <a:xfrm>
            <a:off x="1750000" y="4870200"/>
            <a:ext cx="10150000" cy="1379800"/>
          </a:xfrm>
          <a:prstGeom prst="rect">
            <a:avLst/>
          </a:prstGeom>
          <a:noFill/>
        </p:spPr>
        <p:txBody>
          <a:bodyPr wrap="square" lIns="0" rIns="0" tIns="0" bIns="0">
            <a:spAutoFit/>
          </a:bodyPr>
          <a:lstStyle/>
          <a:p>
            <a:pPr>
              <a:spcBef>
                <a:spcPts val="0"/>
              </a:spcBef>
              <a:spcAft>
                <a:spcPts val="1000"/>
              </a:spcAft>
            </a:pPr>
            <a:r>
              <a:rPr sz="1800" b="0">
                <a:solidFill>
                  <a:srgbClr val="191D63"/>
                </a:solidFill>
              </a:rPr>
              <a:t>None is a contralateral-only copy-number event: the animal's own core carries all four, and so does the parental culture.</a:t>
            </a:r>
          </a:p>
          <a:p>
            <a:pPr>
              <a:spcBef>
                <a:spcPts val="0"/>
              </a:spcBef>
              <a:spcAft>
                <a:spcPts val="1000"/>
              </a:spcAft>
            </a:pPr>
            <a:r>
              <a:rPr sz="1800" b="0">
                <a:solidFill>
                  <a:srgbClr val="191D63"/>
                </a:solidFill>
              </a:rPr>
              <a:t>Along the genome the contralateral profile is the core's profile with the same breakpoints.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Colour: amplitude-scaled log2 ratio; a dot marks a value beyond the noise bound measured on thirteen normals. Orthotopic U251N glioblastoma xenograft in the athymic rat, MRI-guided LITT; bulk RNA-seq of primary and recurrent tumors, n = 3 per arm; GEO GSE338105.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Malignant-state composition of the human reads</a:t>
            </a:r>
          </a:p>
        </p:txBody>
      </p:sp>
      <p:pic>
        <p:nvPicPr>
          <p:cNvPr id="3" name="Picture 2" descr="fig_c_states.png"/>
          <p:cNvPicPr>
            <a:picLocks noChangeAspect="1"/>
          </p:cNvPicPr>
          <p:nvPr/>
        </p:nvPicPr>
        <p:blipFill>
          <a:blip r:embed="rId2"/>
          <a:stretch>
            <a:fillRect/>
          </a:stretch>
        </p:blipFill>
        <p:spPr>
          <a:xfrm>
            <a:off x="3831574" y="1420000"/>
            <a:ext cx="5986851" cy="3072200"/>
          </a:xfrm>
          <a:prstGeom prst="rect">
            <a:avLst/>
          </a:prstGeom>
        </p:spPr>
      </p:pic>
      <p:sp>
        <p:nvSpPr>
          <p:cNvPr id="4" name="TextBox 3"/>
          <p:cNvSpPr txBox="1"/>
          <p:nvPr/>
        </p:nvSpPr>
        <p:spPr>
          <a:xfrm>
            <a:off x="1750000" y="4582200"/>
            <a:ext cx="10150000" cy="1667800"/>
          </a:xfrm>
          <a:prstGeom prst="rect">
            <a:avLst/>
          </a:prstGeom>
          <a:noFill/>
        </p:spPr>
        <p:txBody>
          <a:bodyPr wrap="square" lIns="0" rIns="0" tIns="0" bIns="0">
            <a:spAutoFit/>
          </a:bodyPr>
          <a:lstStyle/>
          <a:p>
            <a:pPr>
              <a:spcBef>
                <a:spcPts val="0"/>
              </a:spcBef>
              <a:spcAft>
                <a:spcPts val="1000"/>
              </a:spcAft>
            </a:pPr>
            <a:r>
              <a:rPr sz="1800" b="0">
                <a:solidFill>
                  <a:srgbClr val="191D63"/>
                </a:solidFill>
              </a:rPr>
              <a:t>The contralateral sample has fewer differentiated-like cells than its own core (0.037 against 0.139).</a:t>
            </a:r>
          </a:p>
          <a:p>
            <a:pPr>
              <a:spcBef>
                <a:spcPts val="0"/>
              </a:spcBef>
              <a:spcAft>
                <a:spcPts val="1000"/>
              </a:spcAft>
            </a:pPr>
            <a:r>
              <a:rPr sz="1800" b="0">
                <a:solidFill>
                  <a:srgbClr val="4C70B7"/>
                </a:solidFill>
              </a:rPr>
              <a:t>Weighted lightly: another animal's tumor differs by the same distance, and the method assigns 36 % of a pure human culture to cell types a human-only read stream cannot contain.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CIBERSORT with a published single-cell reference; fit correlation printed above each bar. Orthotopic U251N glioblastoma xenograft in the athymic rat, MRI-guided LITT; bulk RNA-seq of primary and recurrent tumors, n = 3 per arm; GEO GSE338105.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Sizing the tumour-content endpoint</a:t>
            </a:r>
          </a:p>
        </p:txBody>
      </p:sp>
      <p:pic>
        <p:nvPicPr>
          <p:cNvPr id="3" name="Picture 2" descr="fig6_rats_needed_p1.png"/>
          <p:cNvPicPr>
            <a:picLocks noChangeAspect="1"/>
          </p:cNvPicPr>
          <p:nvPr/>
        </p:nvPicPr>
        <p:blipFill>
          <a:blip r:embed="rId2"/>
          <a:stretch>
            <a:fillRect/>
          </a:stretch>
        </p:blipFill>
        <p:spPr>
          <a:xfrm>
            <a:off x="1750000" y="1420000"/>
            <a:ext cx="4112930" cy="4830000"/>
          </a:xfrm>
          <a:prstGeom prst="rect">
            <a:avLst/>
          </a:prstGeom>
        </p:spPr>
      </p:pic>
      <p:sp>
        <p:nvSpPr>
          <p:cNvPr id="4" name="TextBox 3"/>
          <p:cNvSpPr txBox="1"/>
          <p:nvPr/>
        </p:nvSpPr>
        <p:spPr>
          <a:xfrm>
            <a:off x="6162930" y="1540000"/>
            <a:ext cx="5737070"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27 rats per arm for a 15-point difference in tumor content at 80 % power, 35 under Holm; the pilot's own spread sets the variance.</a:t>
            </a:r>
          </a:p>
          <a:p>
            <a:pPr>
              <a:spcBef>
                <a:spcPts val="0"/>
              </a:spcBef>
              <a:spcAft>
                <a:spcPts val="1400"/>
              </a:spcAft>
            </a:pPr>
            <a:r>
              <a:rPr sz="1800" b="0">
                <a:solidFill>
                  <a:srgbClr val="191D63"/>
                </a:solidFill>
              </a:rPr>
              <a:t>The dotted curve is the optimistic reading at the pilot's variance; the study is sized on the pessimistic one.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28. Browne RH. Stat Med 1995;14:1933-1940.   Power against rats per arm at effects of 5 to 25 points. Orthotopic U251N glioblastoma xenograft in the athymic rat, MRI-guided LITT; bulk RNA-seq of primary and recurrent tumors, n = 3 per arm; GEO GSE338105.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Sizing the clone-level test</a:t>
            </a:r>
          </a:p>
        </p:txBody>
      </p:sp>
      <p:pic>
        <p:nvPicPr>
          <p:cNvPr id="3" name="Picture 2" descr="fig6_rats_needed_p9.png"/>
          <p:cNvPicPr>
            <a:picLocks noChangeAspect="1"/>
          </p:cNvPicPr>
          <p:nvPr/>
        </p:nvPicPr>
        <p:blipFill>
          <a:blip r:embed="rId2"/>
          <a:stretch>
            <a:fillRect/>
          </a:stretch>
        </p:blipFill>
        <p:spPr>
          <a:xfrm>
            <a:off x="1750000" y="1420000"/>
            <a:ext cx="4421307" cy="4830000"/>
          </a:xfrm>
          <a:prstGeom prst="rect">
            <a:avLst/>
          </a:prstGeom>
        </p:spPr>
      </p:pic>
      <p:sp>
        <p:nvSpPr>
          <p:cNvPr id="4" name="TextBox 3"/>
          <p:cNvSpPr txBox="1"/>
          <p:nvPr/>
        </p:nvSpPr>
        <p:spPr>
          <a:xfrm>
            <a:off x="6471307" y="1540000"/>
            <a:ext cx="5428693" cy="4710000"/>
          </a:xfrm>
          <a:prstGeom prst="rect">
            <a:avLst/>
          </a:prstGeom>
          <a:noFill/>
        </p:spPr>
        <p:txBody>
          <a:bodyPr wrap="square" lIns="0" rIns="0" tIns="0" bIns="0">
            <a:spAutoFit/>
          </a:bodyPr>
          <a:lstStyle/>
          <a:p>
            <a:pPr>
              <a:spcBef>
                <a:spcPts val="0"/>
              </a:spcBef>
              <a:spcAft>
                <a:spcPts val="1400"/>
              </a:spcAft>
            </a:pPr>
            <a:r>
              <a:rPr sz="1800" b="0">
                <a:solidFill>
                  <a:srgbClr val="191D63"/>
                </a:solidFill>
              </a:rPr>
              <a:t>Wilson lower bound on the share of barcoded animals rejecting in the pre-stated direction: 9 animals with no failure reach 0.70, 16 reach 0.80.</a:t>
            </a:r>
          </a:p>
          <a:p>
            <a:pPr>
              <a:spcBef>
                <a:spcPts val="0"/>
              </a:spcBef>
              <a:spcAft>
                <a:spcPts val="1400"/>
              </a:spcAft>
            </a:pPr>
            <a:r>
              <a:rPr sz="1800" b="0">
                <a:solidFill>
                  <a:srgbClr val="191D63"/>
                </a:solidFill>
              </a:rPr>
              <a:t>The unit of inference is the clone, which is how single digits suffice.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The SchwingNet Figure 5a construction: a Wilson lower bound against the number of units. Orthotopic U251N glioblastoma xenograft in the athymic rat, MRI-guided LITT; bulk RNA-seq of primary and recurrent tumors, n = 3 per arm; GEO GSE338105.</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