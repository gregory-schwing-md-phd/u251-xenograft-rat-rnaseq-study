
<file path=[Content_Types].xml><?xml version="1.0" encoding="utf-8"?>
<Types xmlns="http://schemas.openxmlformats.org/package/2006/content-types">
  <Default Extension="fntdata" ContentType="application/x-fontdata"/>
  <Default Extension="jpeg" ContentType="image/jpeg"/>
  <Default Extension="mp4" ContentType="video/mp4"/>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p:sldMasterIdLst>
    <p:sldMasterId id="2147483648" r:id="rId1"/>
  </p:sldMasterIdLst>
  <p:sldIdLst>
    <p:sldId id="256" r:id="rId4"/>
    <p:sldId id="257" r:id="rId2"/>
    <p:sldId id="258" r:id="rId13"/>
    <p:sldId id="259" r:id="rId14"/>
    <p:sldId id="260" r:id="rId15"/>
    <p:sldId id="261" r:id="rId16"/>
    <p:sldId id="262" r:id="rId17"/>
    <p:sldId id="263" r:id="rId18"/>
    <p:sldId id="277" r:id="rId32"/>
    <p:sldId id="278" r:id="rId33"/>
    <p:sldId id="264" r:id="rId19"/>
    <p:sldId id="265" r:id="rId20"/>
    <p:sldId id="266" r:id="rId21"/>
    <p:sldId id="279" r:id="rId34"/>
    <p:sldId id="280" r:id="rId35"/>
    <p:sldId id="267" r:id="rId22"/>
    <p:sldId id="268" r:id="rId23"/>
    <p:sldId id="281" r:id="rId36"/>
    <p:sldId id="269" r:id="rId24"/>
    <p:sldId id="270" r:id="rId25"/>
    <p:sldId id="271" r:id="rId26"/>
    <p:sldId id="272" r:id="rId27"/>
    <p:sldId id="273" r:id="rId28"/>
    <p:sldId id="274" r:id="rId29"/>
    <p:sldId id="275" r:id="rId30"/>
    <p:sldId id="276" r:id="rId31"/>
    <p:sldId id="282" r:id="rId37"/>
    <p:sldId id="283" r:id="rId38"/>
    <p:sldId id="284" r:id="rId39"/>
    <p:sldId id="285" r:id="rId40"/>
    <p:sldId id="286" r:id="rId41"/>
    <p:sldId id="287" r:id="rId42"/>
    <p:sldId id="288" r:id="rId43"/>
    <p:sldId id="289" r:id="rId44"/>
    <p:sldId id="290" r:id="rId45"/>
    <p:sldId id="291" r:id="rId46"/>
    <p:sldId id="292" r:id="rId47"/>
    <p:sldId id="293" r:id="rId48"/>
    <p:sldId id="294" r:id="rId49"/>
    <p:sldId id="295" r:id="rId50"/>
    <p:sldId id="296" r:id="rId51"/>
    <p:sldId id="297" r:id="rId52"/>
    <p:sldId id="298" r:id="rId53"/>
    <p:sldId id="299" r:id="rId54"/>
    <p:sldId id="300" r:id="rId55"/>
    <p:sldId id="301" r:id="rId56"/>
  </p:sldIdLst>
  <p:sldSz cx="12192000" cy="6858000"/>
  <p:notesSz cx="6858000" cy="9144000"/>
  <p:embeddedFontLst>
    <p:embeddedFont>
      <p:font typeface="New Hero" panose="02000500000000000000" pitchFamily="50" charset="0"/>
      <p:regular r:id="rId5"/>
      <p:italic r:id="rId6"/>
    </p:embeddedFont>
    <p:embeddedFont>
      <p:font typeface="New Hero Medium" panose="02000600000000000000" pitchFamily="50" charset="0"/>
      <p:regular r:id="rId7"/>
      <p:italic r:id="rId8"/>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useTimings="0">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0"/>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995" autoAdjust="0"/>
    <p:restoredTop sz="94660"/>
  </p:normalViewPr>
  <p:slideViewPr>
    <p:cSldViewPr snapToGrid="0">
      <p:cViewPr varScale="1">
        <p:scale>
          <a:sx n="152" d="100"/>
          <a:sy n="152" d="100"/>
        </p:scale>
        <p:origin x="652" y="10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2.xml"/><Relationship Id="rId3" Type="http://schemas.openxmlformats.org/officeDocument/2006/relationships/notesMaster" Target="notesMasters/notesMaster1.xml"/><Relationship Id="rId4" Type="http://schemas.openxmlformats.org/officeDocument/2006/relationships/slide" Target="slides/slide1.xml"/><Relationship Id="rId5" Type="http://schemas.openxmlformats.org/officeDocument/2006/relationships/font" Target="fonts/font1.fntdata"/><Relationship Id="rId6" Type="http://schemas.openxmlformats.org/officeDocument/2006/relationships/font" Target="fonts/font2.fntdata"/><Relationship Id="rId7" Type="http://schemas.openxmlformats.org/officeDocument/2006/relationships/font" Target="fonts/font3.fntdata"/><Relationship Id="rId8" Type="http://schemas.openxmlformats.org/officeDocument/2006/relationships/font" Target="fonts/font4.fntdata"/><Relationship Id="rId9" Type="http://schemas.openxmlformats.org/officeDocument/2006/relationships/presProps" Target="presProps.xml"/><Relationship Id="rId10" Type="http://schemas.openxmlformats.org/officeDocument/2006/relationships/viewProps" Target="viewProps.xml"/><Relationship Id="rId11" Type="http://schemas.openxmlformats.org/officeDocument/2006/relationships/theme" Target="theme/theme1.xml"/><Relationship Id="rId12" Type="http://schemas.openxmlformats.org/officeDocument/2006/relationships/tableStyles" Target="tableStyles.xml"/><Relationship Id="rId13" Type="http://schemas.openxmlformats.org/officeDocument/2006/relationships/slide" Target="slides/slide3.xml"/><Relationship Id="rId14" Type="http://schemas.openxmlformats.org/officeDocument/2006/relationships/slide" Target="slides/slide4.xml"/><Relationship Id="rId15" Type="http://schemas.openxmlformats.org/officeDocument/2006/relationships/slide" Target="slides/slide5.xml"/><Relationship Id="rId16" Type="http://schemas.openxmlformats.org/officeDocument/2006/relationships/slide" Target="slides/slide6.xml"/><Relationship Id="rId17" Type="http://schemas.openxmlformats.org/officeDocument/2006/relationships/slide" Target="slides/slide7.xml"/><Relationship Id="rId18" Type="http://schemas.openxmlformats.org/officeDocument/2006/relationships/slide" Target="slides/slide8.xml"/><Relationship Id="rId19" Type="http://schemas.openxmlformats.org/officeDocument/2006/relationships/slide" Target="slides/slide9.xml"/><Relationship Id="rId20" Type="http://schemas.openxmlformats.org/officeDocument/2006/relationships/slide" Target="slides/slide10.xml"/><Relationship Id="rId21" Type="http://schemas.openxmlformats.org/officeDocument/2006/relationships/slide" Target="slides/slide11.xml"/><Relationship Id="rId22" Type="http://schemas.openxmlformats.org/officeDocument/2006/relationships/slide" Target="slides/slide12.xml"/><Relationship Id="rId23" Type="http://schemas.openxmlformats.org/officeDocument/2006/relationships/slide" Target="slides/slide13.xml"/><Relationship Id="rId24" Type="http://schemas.openxmlformats.org/officeDocument/2006/relationships/slide" Target="slides/slide14.xml"/><Relationship Id="rId25" Type="http://schemas.openxmlformats.org/officeDocument/2006/relationships/slide" Target="slides/slide15.xml"/><Relationship Id="rId26" Type="http://schemas.openxmlformats.org/officeDocument/2006/relationships/slide" Target="slides/slide16.xml"/><Relationship Id="rId27" Type="http://schemas.openxmlformats.org/officeDocument/2006/relationships/slide" Target="slides/slide17.xml"/><Relationship Id="rId28" Type="http://schemas.openxmlformats.org/officeDocument/2006/relationships/slide" Target="slides/slide18.xml"/><Relationship Id="rId29" Type="http://schemas.openxmlformats.org/officeDocument/2006/relationships/slide" Target="slides/slide19.xml"/><Relationship Id="rId30" Type="http://schemas.openxmlformats.org/officeDocument/2006/relationships/slide" Target="slides/slide20.xml"/><Relationship Id="rId31" Type="http://schemas.openxmlformats.org/officeDocument/2006/relationships/slide" Target="slides/slide21.xml"/><Relationship Id="rId32" Type="http://schemas.openxmlformats.org/officeDocument/2006/relationships/slide" Target="slides/slide22.xml"/><Relationship Id="rId33" Type="http://schemas.openxmlformats.org/officeDocument/2006/relationships/slide" Target="slides/slide23.xml"/><Relationship Id="rId34" Type="http://schemas.openxmlformats.org/officeDocument/2006/relationships/slide" Target="slides/slide24.xml"/><Relationship Id="rId35" Type="http://schemas.openxmlformats.org/officeDocument/2006/relationships/slide" Target="slides/slide25.xml"/><Relationship Id="rId36" Type="http://schemas.openxmlformats.org/officeDocument/2006/relationships/slide" Target="slides/slide26.xml"/><Relationship Id="rId37" Type="http://schemas.openxmlformats.org/officeDocument/2006/relationships/slide" Target="slides/slide27.xml"/><Relationship Id="rId38" Type="http://schemas.openxmlformats.org/officeDocument/2006/relationships/slide" Target="slides/slide28.xml"/><Relationship Id="rId39" Type="http://schemas.openxmlformats.org/officeDocument/2006/relationships/slide" Target="slides/slide29.xml"/><Relationship Id="rId40" Type="http://schemas.openxmlformats.org/officeDocument/2006/relationships/slide" Target="slides/slide30.xml"/><Relationship Id="rId41" Type="http://schemas.openxmlformats.org/officeDocument/2006/relationships/slide" Target="slides/slide31.xml"/><Relationship Id="rId42" Type="http://schemas.openxmlformats.org/officeDocument/2006/relationships/slide" Target="slides/slide32.xml"/><Relationship Id="rId43" Type="http://schemas.openxmlformats.org/officeDocument/2006/relationships/slide" Target="slides/slide33.xml"/><Relationship Id="rId44" Type="http://schemas.openxmlformats.org/officeDocument/2006/relationships/slide" Target="slides/slide34.xml"/><Relationship Id="rId45" Type="http://schemas.openxmlformats.org/officeDocument/2006/relationships/slide" Target="slides/slide35.xml"/><Relationship Id="rId46" Type="http://schemas.openxmlformats.org/officeDocument/2006/relationships/slide" Target="slides/slide36.xml"/><Relationship Id="rId47" Type="http://schemas.openxmlformats.org/officeDocument/2006/relationships/slide" Target="slides/slide37.xml"/><Relationship Id="rId48" Type="http://schemas.openxmlformats.org/officeDocument/2006/relationships/slide" Target="slides/slide38.xml"/><Relationship Id="rId49" Type="http://schemas.openxmlformats.org/officeDocument/2006/relationships/slide" Target="slides/slide39.xml"/><Relationship Id="rId50" Type="http://schemas.openxmlformats.org/officeDocument/2006/relationships/slide" Target="slides/slide40.xml"/><Relationship Id="rId51" Type="http://schemas.openxmlformats.org/officeDocument/2006/relationships/slide" Target="slides/slide41.xml"/><Relationship Id="rId52" Type="http://schemas.openxmlformats.org/officeDocument/2006/relationships/slide" Target="slides/slide42.xml"/><Relationship Id="rId53" Type="http://schemas.openxmlformats.org/officeDocument/2006/relationships/slide" Target="slides/slide43.xml"/><Relationship Id="rId54" Type="http://schemas.openxmlformats.org/officeDocument/2006/relationships/slide" Target="slides/slide44.xml"/><Relationship Id="rId55" Type="http://schemas.openxmlformats.org/officeDocument/2006/relationships/slide" Target="slides/slide45.xml"/><Relationship Id="rId56" Type="http://schemas.openxmlformats.org/officeDocument/2006/relationships/slide" Target="slides/slide46.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6.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7.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8.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9.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0.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2.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3.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4.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5.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6.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0:00–0:10  Title. Name, institutions, a rat model of MRI-guided LITT. Do not read the title.</a:t>
            </a:r>
          </a:p>
          <a:p/>
          <a:p>
            <a:r>
              <a:t>Disclosures, read aloud (CNS displays the list; no disclosure slide per the ACCME speaker guidelines): I.Y.L. has consulting agreements with Medtronic, Inc. (Minneapolis, MN) and Monteris Medical, Inc. (Plymouth, MN). All other authors declare no conflicts of interest. Supported by a Henry Ford Health Physician Scientist Award A20050 (I.Y.L.). No commercial support was received for this analysis. Drug candidates discussed here are computational predictions. None is approved for glioblastoma and none has been tested in this model.</a:t>
            </a:r>
          </a:p>
          <a:p/>
          <a:p>
            <a:r>
              <a:t>Timing: 14 slides in six minutes, about 25 s each (slide 3, the design, adds 20 s: everything after it runs 10 s later, taken back on slide 5); seven backups follow the acknowledgments (B7, the rat host, is preliminary). If running long, shorten slide 5 (PCA and volcano) to one sentence.</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0:10–0:35  The one idea: LITT kills the core, but the cells that come back sat in the sublethal margin. A first-pass analysis of these libraries (Nagaraja 2026, next slide) found cell-cycle, motility and inflammatory genes up in recurrence. What is new here: the reads are sorted from the host, read gene-set-wide, stress-tested, and taken to a drug. End on the question.</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0:35–0:55  The design, because it is easy to misread. Eight rats, all implanted. Four primaries, never ablated; four ablated with LITT and allowed to regrow. We compare three against three: rat 64's primary sample had almost no tumor in it, and there is no library for rat 65. The two brain controls come from the other side of the brain of two primary rats, 68 and 69, so they are not independent animals. The culture is a reference only.</a:t>
            </a:r>
          </a:p>
          <a:p/>
          <a:p>
            <a:r>
              <a:t>Why 3 v 3 when Nagaraja 2026 reports 4 v 4: rat 64 (no tumor in the sample) and rat 65 (no library). Harvest time after LITT (2 or 4 weeks) for each recurrence is not in the records we have.</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0:55–1:10  The model the Henry Ford group built (Nagaraja 2026): U251N in the athymic rat, MRI-guided LITT (design on the previous slide). The graft is human and the host is rat, so xengsort sorts every read by species before anything is counted; human reads plus the shared reads enter the analysis.</a:t>
            </a:r>
          </a:p>
          <a:p/>
          <a:p>
            <a:r>
              <a:t>If asked why three per arm when Nagaraja 2026 describes four and four: the libraries come from animals numbered 64 to 71; IL64B's sample holds almost no tumor (it is used only as a control) and there is no library for animal 65 (a recurrence in the lab's key).</a:t>
            </a:r>
          </a:p>
          <a:p/>
          <a:p>
            <a:r>
              <a:t>Numbers to reconcile before the talk: the J Neurosurg paper reports four per arm for RNA-seq; this analysis has three per arm plus IL64B, recorded by the lab as a primary but with almost no tumor in its sample (0.3 % human reads), used as a control. The lab's sample key lists IL-65 as the fourth recurrence; no library for it exists in the data.</a:t>
            </a:r>
          </a:p>
          <a:p/>
          <a:p>
            <a:r>
              <a:t>The two other controls are the contralateral hemispheres of tumor-bearing rats 68 and 69 (lab key: 'Contralateral'; array sheet: '69B control N2'), not separate animals. N269B, from rat 69, the most tumor-rich animal, carries human Y-linked reads, so it holds some tumor cells.</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Printed abstract: PC1 41.8 % / PC2 26.2 % came from the May figure script (vst); this plot uses rlog (35 % / 25 %). PERMANOVA R2 0.278 and 35 genes (23 up, 12 down) are unchanged; the abstract omits p = 0.10. Its hubs (BGN, COL1A1, IGFBP3, CALB1): only 11 of the 35 genes connect, and CALB1 has one interaction (SLIDES/ABSTRACT_VS_TALK.md).</a:t>
            </a:r>
          </a:p>
          <a:p/>
          <a:p>
            <a:r>
              <a:t>1:00–1:25  Global structure in one breath. PC1 carries 35 % of the variance in the 500 genes; the recurrent tumors sit to the right, the closest (IL66B) 1.1 units past the nearest primary on a 16-unit axis. PC1 also splits the NL animals from the IL animals (R² 0.83 against 0.71 for arm): find out what the prefix denotes before the talk. With three per arm, ten splits exist, so PERMANOVA cannot go below 0.10. Only 35 genes pass, mostly readthrough and non-coding loci, most of them zero in one arm.</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Printed abstract: elongation NES -3.17, FDR 1.6e-26 came from a first-pass gene-permutation test (clusterProfiler/fgsea, 25 May report). The pipeline's Broad GSEA (gene-set permutation) gives the same direction, NES near -2, and one set at q = 0.022. Its 'integrated stress' sets are the same ribosomal-protein genes (85 of 99 in GCN2). If asked: 'the abstract's FDR came from a first-pass test that treats genes as independent; the permutation test gives the same direction'.</a:t>
            </a:r>
          </a:p>
          <a:p/>
          <a:p>
            <a:r>
              <a:t>1:25–2:05  The core result. Say 'ribosomal-protein genes', not 'translation initiation': the KEGG MEDICUS set of that name is 80 of 80 cytosolic ribosomal-protein genes (RPL, RPS, FAU, UBA52) with no initiation factor; the other five sets are the same block counted again (their leading edges share 76 genes, union 86);. Whether translation itself falls is the puromycin / polysome experiment on slide 13.</a:t>
            </a:r>
          </a:p>
          <a:p/>
          <a:p>
            <a:r>
              <a:t>Left, the standard GSEA plot: genes ranked from higher in recurrent (left) to higher in primary (right); the 80 genes are the ticks, NES −1.99. The ranking is a difference of means on counts, which weights abundant genes; on a log-scale ranking all 80 are still in the lower half and 74 % in the last 6.6 %, so the direction does not depend on the metric.</a:t>
            </a:r>
          </a:p>
          <a:p/>
          <a:p>
            <a:r>
              <a:t>Right, the leading edge per tumor. Say it plainly: IL68B is high on every gene, the other two primaries sit near the middle, and the three recurrences sit below them on average. The direction is shared; the size leans on one tumor. Next slide asks whether it survives without it.</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Printed abstract: its FDR is not a Broad GSEA q; here q runs 0.022-0.31 with all six tumors, depending on the seed alone.</a:t>
            </a:r>
          </a:p>
          <a:p/>
          <a:p>
            <a:r>
              <a:t>2:05–2:35  Robustness, stated honestly. The direction (NES) never moves. FDR is fragile: with gene-set permutation and six tumors, q depends on the random seed. With the filter re-applied, q never clears 0.05 without IL67B, IL69B or IL66B, and always does without IL68B or NL70B. Six further runs skip the re-filtering (seed 1234): q &lt; 0.05 in 4 of 6, including without IL66B (q = 0.029). Without IL68B the set is no longer the top-ranked one; a stromal set leads.</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2:35–3:10  The confound, head on. Adjusting for human share leaves the ribosomal-protein score's arm difference at p = 0.18 (from 0.06); the gene-level estimate does not shrink (−0.40 to −0.57 log2), though at n = 6 the adjusted estimate is unstable (it leans on IL69B; without IL68B it reverses).</a:t>
            </a:r>
          </a:p>
          <a:p/>
          <a:p>
            <a:r>
              <a:t>The matched pair: IL67B (primary) and NL70B (recurrent) are both 43 % human. On the astrocyte-like score they differ by 0.66, far beyond the spread within either arm. On the ribosomal-protein score the gap (−0.33) is within the spread among the primaries, so the pair says nothing there. One pair, not a test.</a:t>
            </a:r>
          </a:p>
          <a:p/>
          <a:p>
            <a:r>
              <a:t>Contamination: counting every shared read as rat, with the two tumor-free controls, gives +0.001; with N269B (the contralateral hemisphere of rat 69, which holds tumor cells) -0.009, so under 0.01 log2 either way. A second estimate from the controls' shared-read ratio puts the worst case near 0.05 (ANALYSIS/human_cohorts/PLAN.md), an eighth of the fall. Backup B1.</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Printed abstract: 'toward Garofano mitochondrial, away from AC/NPC' came from May mean z-scores of hand-picked 5-6-gene lists (mitochondrial = CS, ACO2, IDH2, IDH3A, OGDH, SDHA), not GSVA. With the published signatures the mitochondrial score falls (not significant); AC-like agrees; NPC does not move. If asked: 'the mitochondrial shift did not survive the published signatures; the astrocyte-like fall did'.</a:t>
            </a:r>
          </a:p>
          <a:p/>
          <a:p>
            <a:r>
              <a:t>3:10–3:40  One state transition: the astrocyte-like program score falls, and every recurrent tumor is below every primary. Call it the strongest group difference and exploratory: 3 v 3 cannot give an exact permutation p below 0.10.</a:t>
            </a:r>
          </a:p>
          <a:p/>
          <a:p>
            <a:r>
              <a:t>Adjusted for human share, P = 0.024 on these counts; across other normalised inputs 0.024 to 0.12, and the adjustment leans on IL69B (graft_relation/SUMMARY.md). The manuscript's run scored TPM (p = 0.007, q = 0.075); 7SK/7SL/Y RNA and rRNA take 40 to 65 % of TPM and the share varies by library, which variance-stabilised counts remove.</a:t>
            </a:r>
          </a:p>
          <a:p/>
          <a:p>
            <a:r>
              <a:t>CIBERSORT puts AC slightly higher in recurrence (0.22 to 0.27), the opposite direction; at this fit neither is a composition.</a:t>
            </a:r>
          </a:p>
          <a:p/>
          <a:p>
            <a:r>
              <a:t>Whole pipeline without IL68B or IL66B (TPM run, from 0.007 with all six): AC p = 0.044 and 0.066 (backup B2).</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3:40–4:15  The drug. Each compound's DSigDB gene set is tested for sitting among the genes that fall in recurrence, then weighted by predicted barrier penetration. Ciclopirox scores 3.27 against 2.35 for pyrantel, the next compound both barrier models pass. Without IL66B it is third, 16th without the barrier weight: say so if asked.</a:t>
            </a:r>
          </a:p>
          <a:p/>
          <a:p>
            <a:r>
              <a:t>What changed since the manuscript's S12: compound names are now matched to ChEMBL by exact name or synonym and mapped to the parent molecule, with every changed or unresolved name audited (ANALYSIS/drug_rematch). The old pipeline took the first free-text search hit, which dropped approved drugs (deferoxamine, vandetanib, mefloquine, bromocriptine) and used salt records whose counterions made escitalopram, paroxetine, metoprolol, trimipramine and propantheline look barrier-impermeable. Clinical compounds 54 -&gt; 62; both barrier models 13 -&gt; 22 (same software, same day). Ciclopirox's rank with the barrier weight did not move in any of the three runs. The manuscript's S12 and prior-art table need the same update.</a:t>
            </a:r>
          </a:p>
          <a:p/>
          <a:p>
            <a:r>
              <a:t>Deferoxamine: first without the barrier weight (score 3.69 against ciclopirox's 3.40), 13th with it; ADMET-AI 0.53 (just over the 0.5 cut) and BOILED-Egg 'out', so the models disagree. Two approved iron chelators at the top of the unweighted list is itself worth saying.</a:t>
            </a:r>
          </a:p>
          <a:p/>
          <a:p>
            <a:r>
              <a:t>New entries to the top twenty since the prior-art audit (backup B4): deferoxamine, L-citrulline, Lysergide, Toluidine Blue O.</a:t>
            </a:r>
          </a:p>
          <a:p/>
          <a:p>
            <a:r>
              <a:t>Caveats if asked: scored per tumor by GSVA, the ciclopirox gene set does not separate the arms (P = 0.89), so the rank rests on the whole-list ordering; its DSigDB sets hold at most one ribosomal-protein gene, so the rank is not the ribosomal block again. Brain pharmacokinetics of ciclopirox have not been measured; the barrier call is a model prediction.</a:t>
            </a:r>
          </a:p>
          <a:p/>
          <a:p>
            <a:r>
              <a:t>What carries ciclopirox's rank: its induced genes are HIF/hypoxia targets (21 of 36 leading-edge genes are hallmark hypoxia; without them NES -1.57, p 0.005). Ranks 2-5 (pentetrazol, nilutamide, primidone, pyrantel) share one leading edge of ribosomal-protein genes plus PGK1 and ENO1 (pairwise Jaccard 0.55-0.86): the ribosomal block counted four times (ANALYSIS/gsc_drugs/REVIEW_2026-09-26.md).</a:t>
            </a:r>
          </a:p>
          <a:p/>
          <a:p>
            <a:r>
              <a:t>Stem-cell programs: restricted to six published glioma stem-cell gene sets, ciclopirox's induced genes fall in recurrence only within the radial-glia-like program (Bhaduri 2020; first of 2,212 drug sets, NES -2.08), and those genes are hypoxia targets, not stem-cell genes. No drug opposed recurrence inside the stem-specific sets. Consistent with this slide, not independent of it.</a:t>
            </a:r>
          </a:p>
          <a:p/>
          <a:p>
            <a:r>
              <a:t>The printed abstract: its 3.40 for ciclopirox is this enrichment with a rule-of-thumb barrier score capped at 1.0; with ADMET-AI it is 3.27 and still first. DMOG and LY-294002, named in the abstract, have no clinical-phase record and drop out. The drug NES come from gene-permutation GSEA, so they are quoted as a ranking, not with FDRs (SLIDES/ABSTRACT_VS_TALK.md).</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4:15–4:45  The mechanism argument, kept modest. DHPS and EIF5A are needed by most lines (85 % and 91 % below −0.5), so they are not selective; DOHH is the step most lines can do without (35 % below −0.5), and U-251 needs it more than the typical glioma line, by a modest margin. U-251 is broadly dependent, so a percentile like this is ordinary for it. Ribonucleotide reductase (RRM1 −3.14, RRM2 −2.25) is needed by nearly every line. HIF1A is not a dependency (+0.15). A public screen of the line in culture, not our data.</a:t>
            </a:r>
          </a:p>
          <a:p/>
          <a:p>
            <a:r>
              <a:t>Barrier window, from Cleary 2026 in SB28 mouse glioma: tight junctions open for 7 days up to 100 µm from the ablation; transcytosis peaks at day 14 and is back to baseline by day 21. No human post-LITT time course exists.</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Say, if time allows: 'Three things differ from the printed abstract: lower ribosomal-protein genes rather than translational shutdown; the mitochondrial shift did not survive the published signatures; and of its three drugs only ciclopirox is clinically available.'</a:t>
            </a:r>
          </a:p>
          <a:p/>
          <a:p>
            <a:r>
              <a:t>4:45–5:15  Three sentences, then the bar. Do not add numbers here.</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Printed abstract: its 'translational shutdown' is what the puromycin / polysome experiment tests; it has not been shown.</a:t>
            </a:r>
          </a:p>
          <a:p/>
          <a:p>
            <a:r>
              <a:t>5:15–5:45  Say the limitations as the reason for each experiment. GLASS recurrences follow standard therapy, not LITT, so it tests whether the signature accompanies recurrence in general. Bulk RNA: the margin is inferred, not isolated. Methylation on the same six tumors (EPIC, 866,238 probes) found no probe past FDR; with purity and arm confounded it cannot separate the two. If asked: host (rat) reads are being analysed separately for the microenvironment; not in this talk.</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5:45–6:00  Thanks. Leave the GEO accession on screen during questions. Indrani Datta's credential is DHI (confirmed by Greg, 2026-09-26). The JNS 2026 author list prints PhD; do not copy it.</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If the printed abstract is the docx version: its claim that contamination 'would bias ribosomal genes upward' does not match this bound. The size argument holds; the direction depends on N269B, the contralateral hemisphere of rat 69 that holds tumor cells.</a:t>
            </a:r>
          </a:p>
          <a:p/>
          <a:p>
            <a:r>
              <a:t>Sensitivity, N269B among the controls: bound -0.009, matched background -0.13, excess -0.26 (tumor-free controls: -0.41); contamination_magnitude_ctrl3.json.</a:t>
            </a:r>
          </a:p>
          <a:p/>
          <a:p>
            <a:r>
              <a:t>Backup. Mean log2 fold change (recurrent vs primary) of each set under each analysis; the bound is a model ceiling, not an observed change.</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Backup. Post hoc holdouts: say so.</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Backup. CIBERSORT estimates the share of each state in a bulk sample; it does not sort reads.</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Backup. Prior-art audit of the top twenty of the 54 in the September ranking (S15); the exact-name rerun changes the top twenty (see slide 10 notes), so new entrants have no audit yet. Known inconsistency to fix in the manuscript: paroxetine and amiodarone have in vivo evidence but sit in B; diazepam's evidence is contested but sits in C.</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Backup. Show if asked whether the arms separate globally.</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Backup. The standard GSEA summary: eight strongest sets each way.</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Backup, preliminary; show only if asked about the host. What holds: Mmp13, Ceacam4, Hbb lower in every recurrence and in every leave-one-out fit (Mmp13 is also not human-read leakage: human MMP13 at most 7 reads per tumor against at least 180 rat reads per primary). What does not: the 38-gene list (FDR &lt; 0.05) shrinks to 8–19 when a primary or rat 70 or 71 is left out; leaving IL66B out raises it to 424 (the tumor side does the same, 102 to 349), so IL66B is the recurrence most like a primary in both species. The true grouping gives 38 genes; the other nine splits give a median of 9; the largest, rats 69, 70, 71 against the rest (2,752 genes), is an immune-infiltration (Ptprc, Cd68, Aif1) against white-matter/neuron (Mbp, Plp1, Pcp4) axis that cuts across treatment. Cxcl10, Batf2, Il2ra, Ighm barely move in IL66B.</a:t>
            </a:r>
          </a:p>
          <a:p/>
          <a:p>
            <a:r>
              <a:t>Broad GSEA (the pipeline's run, gene-set permutation): 4,843 sets, none at FDR &lt; 0.25. By nominal p, up: antigen presentation, allograft rejection, interferon gamma; down: KEGG ribosome and translation initiation (NES about -2.0, nominal p about 0.04). The rat host's ribosomal-protein genes point the same way as the tumor's; their share tracks the human read share (Spearman 0.83 over six tumors), which fits read leakage but does not prove it.</a:t>
            </a:r>
          </a:p>
          <a:p/>
          <a:p>
            <a:r>
              <a:t>Host cell-type deconvolution (CIBERSORT; LM22, Zhang 2014, Bowman 2016 myeloid, and a combined signature): no cell type differs between primaries and recurrences. Tumor-associated bone-marrow macrophages are high in rats 70 and 71 (0.43, 0.50) and not in 66 (0.07): the same rats-70-71 pattern, found after looking, exploratory only.</a:t>
            </a:r>
          </a:p>
          <a:p/>
          <a:p>
            <a:r>
              <a:t>The 'NL' in the file names of rats 70 and 71 is not a group: the lab's sample key calls them IL-70 and IL-71 and its methylation-array sheet IL70B and IL71B; all ten RNA libraries ran on one lane. Why 70 and 71 differ from 66 (for example time after LITT) is not recorded. The host is the athymic RNU/RNU rat: do not describe a T-cell response. Rat reads are the xengsort host bin; nf-core/rnaseq 3.22.2 on mRatBN7.2 (Ensembl 110); nf-core/differentialabundance DESeq2. Tumor vs control brain (contralateral hemispheres of rats 68 and 69, and IL64B): 9,378 genes differ.</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NEW in v5. 25 s. The one idea: in a xenograft the mixture is measured, not estimated, so 'is it recurrence or is it less tumor?' has an exact answer per gene. The identity holds to 3e-18 and the three Shapley terms sum to the fold change to 9e-16 in every gene, which the job checks before it prints anything.</a:t>
            </a:r>
          </a:p>
          <a:p/>
          <a:p>
            <a:r>
              <a:t>Robustness: across the ten balanced splits, the composition share rises with the split's difference in tumor content (Spearman 0.85) and the true split is the highest of the ten, which is what a real composition term must do. The one fraction-matched pair (IL67B against NL70B) gives 0.03.</a:t>
            </a:r>
          </a:p>
          <a:p/>
          <a:p>
            <a:r>
              <a:t>What to concede if asked: the within-arm covariance residual exceeds 10 % of the fold change in 39 % of genes, so the arm-level split is exact at arm means and approximate per animal; and noise at n = 3 inflates the two cell-change terms, which biases the composition share DOWN, so 0.47 is conservative for the hypothesis that composition dominates. The pre-registered threshold was 0.50 and it failed: we report that as the result.</a:t>
            </a:r>
          </a:p>
          <a:p/>
          <a:p>
            <a:r>
              <a:t>Shapley attribution follows Shorrocks' decomposition procedure (J Econ Inequal 2013); confirm that reference before it goes in a manuscript.</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NEW in v5. 25 s. Why a neurosurgical audience should care: 'mesenchymal shift at recurrence' is the most repeated statement about recurrent glioblastoma, and here, where tumor and host can be told apart exactly, the shift belongs to the host compartment while the tumor cells move the other way.</a:t>
            </a:r>
          </a:p>
          <a:p/>
          <a:p>
            <a:r>
              <a:t>Numbers: human-only delta -0.44, virtual bulk -0.29, rat-only +0.05 (Neftel). The pre-registered statistic was the difference between the first two; it ranks 5 of 20 (Wang 9 of 20), so we say 'not shown', not 'absent'.</a:t>
            </a:r>
          </a:p>
          <a:p/>
          <a:p>
            <a:r>
              <a:t>Spitzer 2025 is the largest longitudinal human cohort: no consistent expression trajectory, one consistent change — a lower malignant-cell fraction at recurrence. Our arms reproduce exactly that, on both platforms.</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NEW in v5, and the slide to slow down on. 35 s.</a:t>
            </a:r>
          </a:p>
          <a:p/>
          <a:p>
            <a:r>
              <a:t>Say it in this order: (1) there is U251N material in the hemisphere opposite the implant, established by genotype, Y dosage and copy number on an array handled separately from the libraries; (2) its transcriptome is not the core sampled at lower depth; (3) we cannot tell migration from carry-over at dissection, and both readings matter to a surgeon.</a:t>
            </a:r>
          </a:p>
          <a:p/>
          <a:p>
            <a:r>
              <a:t>The carry-over reading is the surgical one: a blade that passed through tumor and then through brain left tumor in the brain at about 3 % of the piece's transcriptome. In canine cancer surgery, malignant cells were recovered from gloves or instruments in 14 of 47 operations (30 %), and in 8 of 14 (57 %) when margins were incomplete against 6 of 32 (19 %) when they were clear, P = 0.016 (Orjefelt 2026, cytology). Iatrogenic seeding along a biopsy tract or into a distant surgical site is documented in case reports (Steinmetz 2001; Bekar 2010; also Perrin &amp; Bernstein, J Neurooncol 1998;36:243–246). What is new here is that species identity MEASURES the transferred material instead of inferring it.</a:t>
            </a:r>
          </a:p>
          <a:p/>
          <a:p>
            <a:r>
              <a:t>Concede before you are asked: one animal, two sampled hemispheres, so no rate is estimable (the exact interval for one of two runs from 1.3 % to 98.7 %). Both contralateral samples come from animals that were never ablated, so this says nothing about LITT and spread. No blank library was run. The fix is in the scaled design: a cutting-order control — a naive hemisphere cut with the same blade and slide straight after a tumor-bearing one — and 29 such pieces with no positive would bound the false-positive rate at 10 %.</a:t>
            </a:r>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NEW in v5. 25 s. This is the pertinent negative: a methylation array on the same six tumors finds nothing that survives multiple testing, and the difference that looks real before correction is the same tumor-content confound as on the RNA side — replicated in a second, independently written pipeline (nf-core/methylarray) and under every published list of rat-cross-hybridising probes.</a:t>
            </a:r>
          </a:p>
          <a:p/>
          <a:p>
            <a:r>
              <a:t>MGMT matters to this audience: the model's call is unchanged in every array, and the distance to a flip is ten times the observed shift, so nothing here suggests LITT changes MGMT status. No animal received an alkylating agent, so this is a stability readout, not a resistance result.</a:t>
            </a:r>
          </a:p>
          <a:p/>
          <a:p>
            <a:r>
              <a:t>If asked why no FDR hit at all: 3 v 3 with a 15-point difference in tumor content and an array whose betas are not tumor-only (the LUMP check fails, 0.84–0.88 against a 0.9 bar). That failure is carried beside every DNA-side statement in the manuscript.</a:t>
            </a:r>
          </a:p>
        </p:txBody>
      </p:sp>
      <p:sp>
        <p:nvSpPr>
          <p:cNvPr id="4" name="Slide Number Placeholder 3"/>
          <p:cNvSpPr>
            <a:spLocks noGrp="1"/>
          </p:cNvSpPr>
          <p:nvPr>
            <p:ph type="sldNum" idx="5" sz="quarter"/>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NEW in v5. 30 s, and the slide to end the science on. The point is not 'we need more animals': it is that every number on this chart was fixed before the pilot was allowed to speak, in the same form as the power figure in my imaging work — the target line first, the curve afterwards.</a:t>
            </a:r>
          </a:p>
          <a:p/>
          <a:p>
            <a:r>
              <a:t>Why the binary endpoint binds: genome-wide work is cheap in animals and the per-animal yes/no endpoints are not. Arms i and ii are sized by invasion frequency at 44 each (58 under Holm), arms iv and v by the host response at 12. A design that wants every target at once is in the low hundreds of animals; the honest alternative is to stage it, and the two pieces that close a literature gap at the smallest animal cost are the barcode arm and the titration series.</a:t>
            </a:r>
          </a:p>
          <a:p/>
          <a:p>
            <a:r>
              <a:t>What the pilot cannot answer at any effect size: with six tumors there are twenty balanced labellings, so no one-sided p can fall below 0.05 however large the effect; both contralateral samples came from unablated animals; and no animal has a pre-treatment sample, a cutting-order control or a naive hemisphere.</a:t>
            </a:r>
          </a:p>
        </p:txBody>
      </p:sp>
      <p:sp>
        <p:nvSpPr>
          <p:cNvPr id="4" name="Slide Number Placeholder 3"/>
          <p:cNvSpPr>
            <a:spLocks noGrp="1"/>
          </p:cNvSpPr>
          <p:nvPr>
            <p:ph type="sldNum" idx="5" sz="quarter"/>
          </p:nvPr>
        </p:nvSpPr>
        <p:spPr/>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NEW in v5. Backup: show only if asked.</a:t>
            </a:r>
          </a:p>
        </p:txBody>
      </p:sp>
      <p:sp>
        <p:nvSpPr>
          <p:cNvPr id="4" name="Slide Number Placeholder 3"/>
          <p:cNvSpPr>
            <a:spLocks noGrp="1"/>
          </p:cNvSpPr>
          <p:nvPr>
            <p:ph type="sldNum" idx="5" sz="quarter"/>
          </p:nvPr>
        </p:nvSpPr>
        <p:spPr/>
      </p:sp>
    </p:spTree>
  </p:cSld>
  <p:clrMapOvr>
    <a:masterClrMapping/>
  </p:clrMapOvr>
</p:notes>
</file>

<file path=ppt/notesSlides/notesSlide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NEW in v5. Backup: show only if asked.</a:t>
            </a:r>
          </a:p>
        </p:txBody>
      </p:sp>
      <p:sp>
        <p:nvSpPr>
          <p:cNvPr id="4" name="Slide Number Placeholder 3"/>
          <p:cNvSpPr>
            <a:spLocks noGrp="1"/>
          </p:cNvSpPr>
          <p:nvPr>
            <p:ph type="sldNum" idx="5" sz="quarter"/>
          </p:nvPr>
        </p:nvSpPr>
        <p:spPr/>
      </p:sp>
    </p:spTree>
  </p:cSld>
  <p:clrMapOvr>
    <a:masterClrMapping/>
  </p:clrMapOvr>
</p:notes>
</file>

<file path=ppt/notesSlides/notesSlide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NEW in v5. Backup: show only if asked.</a:t>
            </a:r>
          </a:p>
        </p:txBody>
      </p:sp>
      <p:sp>
        <p:nvSpPr>
          <p:cNvPr id="4" name="Slide Number Placeholder 3"/>
          <p:cNvSpPr>
            <a:spLocks noGrp="1"/>
          </p:cNvSpPr>
          <p:nvPr>
            <p:ph type="sldNum" idx="5" sz="quarter"/>
          </p:nvPr>
        </p:nvSpPr>
        <p:spPr/>
      </p:sp>
    </p:spTree>
  </p:cSld>
  <p:clrMapOvr>
    <a:masterClrMapping/>
  </p:clrMapOvr>
</p:notes>
</file>

<file path=ppt/notesSlides/notesSlide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NEW in v5. Backup: show only if asked.</a:t>
            </a:r>
          </a:p>
        </p:txBody>
      </p:sp>
      <p:sp>
        <p:nvSpPr>
          <p:cNvPr id="4" name="Slide Number Placeholder 3"/>
          <p:cNvSpPr>
            <a:spLocks noGrp="1"/>
          </p:cNvSpPr>
          <p:nvPr>
            <p:ph type="sldNum" idx="5" sz="quarter"/>
          </p:nvPr>
        </p:nvSpPr>
        <p:spPr/>
      </p:sp>
    </p:spTree>
  </p:cSld>
  <p:clrMapOvr>
    <a:masterClrMapping/>
  </p:clrMapOvr>
</p:notes>
</file>

<file path=ppt/notesSlides/notesSlide3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NEW in v5. Backup: show only if asked.</a:t>
            </a:r>
          </a:p>
        </p:txBody>
      </p:sp>
      <p:sp>
        <p:nvSpPr>
          <p:cNvPr id="4" name="Slide Number Placeholder 3"/>
          <p:cNvSpPr>
            <a:spLocks noGrp="1"/>
          </p:cNvSpPr>
          <p:nvPr>
            <p:ph type="sldNum" idx="5" sz="quarter"/>
          </p:nvPr>
        </p:nvSpPr>
        <p:spPr/>
      </p:sp>
    </p:spTree>
  </p:cSld>
  <p:clrMapOvr>
    <a:masterClrMapping/>
  </p:clrMapOvr>
</p:notes>
</file>

<file path=ppt/notesSlides/notesSlide3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NEW in v5. Backup: show only if asked.</a:t>
            </a:r>
          </a:p>
        </p:txBody>
      </p:sp>
      <p:sp>
        <p:nvSpPr>
          <p:cNvPr id="4" name="Slide Number Placeholder 3"/>
          <p:cNvSpPr>
            <a:spLocks noGrp="1"/>
          </p:cNvSpPr>
          <p:nvPr>
            <p:ph type="sldNum" idx="5" sz="quarter"/>
          </p:nvPr>
        </p:nvSpPr>
        <p:spPr/>
      </p:sp>
    </p:spTree>
  </p:cSld>
  <p:clrMapOvr>
    <a:masterClrMapping/>
  </p:clrMapOvr>
</p:notes>
</file>

<file path=ppt/notesSlides/notesSlide3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NEW in v5. Backup: show only if asked.</a:t>
            </a:r>
          </a:p>
        </p:txBody>
      </p:sp>
      <p:sp>
        <p:nvSpPr>
          <p:cNvPr id="4" name="Slide Number Placeholder 3"/>
          <p:cNvSpPr>
            <a:spLocks noGrp="1"/>
          </p:cNvSpPr>
          <p:nvPr>
            <p:ph type="sldNum" idx="5" sz="quarter"/>
          </p:nvPr>
        </p:nvSpPr>
        <p:spPr/>
      </p:sp>
    </p:spTree>
  </p:cSld>
  <p:clrMapOvr>
    <a:masterClrMapping/>
  </p:clrMapOvr>
</p:notes>
</file>

<file path=ppt/notesSlides/notesSlide3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NEW in v5. Backup: show only if asked.</a:t>
            </a:r>
          </a:p>
        </p:txBody>
      </p:sp>
      <p:sp>
        <p:nvSpPr>
          <p:cNvPr id="4" name="Slide Number Placeholder 3"/>
          <p:cNvSpPr>
            <a:spLocks noGrp="1"/>
          </p:cNvSpPr>
          <p:nvPr>
            <p:ph type="sldNum" idx="5" sz="quarter"/>
          </p:nvPr>
        </p:nvSpPr>
        <p:spPr/>
      </p:sp>
    </p:spTree>
  </p:cSld>
  <p:clrMapOvr>
    <a:masterClrMapping/>
  </p:clrMapOvr>
</p:notes>
</file>

<file path=ppt/notesSlides/notesSlide3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NEW in v5. Backup: show only if asked.</a:t>
            </a:r>
          </a:p>
        </p:txBody>
      </p:sp>
      <p:sp>
        <p:nvSpPr>
          <p:cNvPr id="4" name="Slide Number Placeholder 3"/>
          <p:cNvSpPr>
            <a:spLocks noGrp="1"/>
          </p:cNvSpPr>
          <p:nvPr>
            <p:ph type="sldNum" idx="5" sz="quarter"/>
          </p:nvPr>
        </p:nvSpPr>
        <p:spPr/>
      </p:sp>
    </p:spTree>
  </p:cSld>
  <p:clrMapOvr>
    <a:masterClrMapping/>
  </p:clrMapOvr>
</p:notes>
</file>

<file path=ppt/notesSlides/notesSlide3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NEW in v5. Backup: show only if asked.</a:t>
            </a:r>
          </a:p>
        </p:txBody>
      </p:sp>
      <p:sp>
        <p:nvSpPr>
          <p:cNvPr id="4" name="Slide Number Placeholder 3"/>
          <p:cNvSpPr>
            <a:spLocks noGrp="1"/>
          </p:cNvSpPr>
          <p:nvPr>
            <p:ph type="sldNum" idx="5" sz="quarter"/>
          </p:nvPr>
        </p:nvSpPr>
        <p:spPr/>
      </p:sp>
    </p:spTree>
  </p:cSld>
  <p:clrMapOvr>
    <a:masterClrMapping/>
  </p:clrMapOvr>
</p:notes>
</file>

<file path=ppt/notesSlides/notesSlide3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NEW in v5. Backup: show only if asked.</a:t>
            </a:r>
          </a:p>
        </p:txBody>
      </p:sp>
      <p:sp>
        <p:nvSpPr>
          <p:cNvPr id="4" name="Slide Number Placeholder 3"/>
          <p:cNvSpPr>
            <a:spLocks noGrp="1"/>
          </p:cNvSpPr>
          <p:nvPr>
            <p:ph type="sldNum" idx="5" sz="quarter"/>
          </p:nvPr>
        </p:nvSpPr>
        <p:spPr/>
      </p:sp>
    </p:spTree>
  </p:cSld>
  <p:clrMapOvr>
    <a:masterClrMapping/>
  </p:clrMapOvr>
</p:notes>
</file>

<file path=ppt/notesSlides/notesSlide3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NEW in v5. Backup: show only if asked.</a:t>
            </a:r>
          </a:p>
        </p:txBody>
      </p:sp>
      <p:sp>
        <p:nvSpPr>
          <p:cNvPr id="4" name="Slide Number Placeholder 3"/>
          <p:cNvSpPr>
            <a:spLocks noGrp="1"/>
          </p:cNvSpPr>
          <p:nvPr>
            <p:ph type="sldNum" idx="5" sz="quarter"/>
          </p:nvPr>
        </p:nvSpPr>
        <p:spPr/>
      </p:sp>
    </p:spTree>
  </p:cSld>
  <p:clrMapOvr>
    <a:masterClrMapping/>
  </p:clrMapOvr>
</p:notes>
</file>

<file path=ppt/notesSlides/notesSlide3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NEW in v5. Backup: show only if asked.</a:t>
            </a:r>
          </a:p>
        </p:txBody>
      </p:sp>
      <p:sp>
        <p:nvSpPr>
          <p:cNvPr id="4" name="Slide Number Placeholder 3"/>
          <p:cNvSpPr>
            <a:spLocks noGrp="1"/>
          </p:cNvSpPr>
          <p:nvPr>
            <p:ph type="sldNum" idx="5" sz="quarter"/>
          </p:nvPr>
        </p:nvSpPr>
        <p:spPr/>
      </p:sp>
    </p:spTree>
  </p:cSld>
  <p:clrMapOvr>
    <a:masterClrMapping/>
  </p:clrMapOvr>
</p:notes>
</file>

<file path=ppt/notesSlides/notesSlide4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NEW in v5. Backup: show only if asked.</a:t>
            </a:r>
          </a:p>
        </p:txBody>
      </p:sp>
      <p:sp>
        <p:nvSpPr>
          <p:cNvPr id="4" name="Slide Number Placeholder 3"/>
          <p:cNvSpPr>
            <a:spLocks noGrp="1"/>
          </p:cNvSpPr>
          <p:nvPr>
            <p:ph type="sldNum" idx="5" sz="quarter"/>
          </p:nvPr>
        </p:nvSpPr>
        <p:spPr/>
      </p:sp>
    </p:spTree>
  </p:cSld>
  <p:clrMapOvr>
    <a:masterClrMapping/>
  </p:clrMapOvr>
</p:notes>
</file>

<file path=ppt/notesSlides/notesSlide4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NEW in v5. Backup: show only if asked.</a:t>
            </a:r>
          </a:p>
        </p:txBody>
      </p:sp>
      <p:sp>
        <p:nvSpPr>
          <p:cNvPr id="4" name="Slide Number Placeholder 3"/>
          <p:cNvSpPr>
            <a:spLocks noGrp="1"/>
          </p:cNvSpPr>
          <p:nvPr>
            <p:ph type="sldNum" idx="5" sz="quarter"/>
          </p:nvPr>
        </p:nvSpPr>
        <p:spPr/>
      </p:sp>
    </p:spTree>
  </p:cSld>
  <p:clrMapOvr>
    <a:masterClrMapping/>
  </p:clrMapOvr>
</p:notes>
</file>

<file path=ppt/notesSlides/notesSlide4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NEW in v5. Backup: show only if asked.</a:t>
            </a:r>
          </a:p>
        </p:txBody>
      </p:sp>
      <p:sp>
        <p:nvSpPr>
          <p:cNvPr id="4" name="Slide Number Placeholder 3"/>
          <p:cNvSpPr>
            <a:spLocks noGrp="1"/>
          </p:cNvSpPr>
          <p:nvPr>
            <p:ph type="sldNum" idx="5" sz="quarter"/>
          </p:nvPr>
        </p:nvSpPr>
        <p:spPr/>
      </p:sp>
    </p:spTree>
  </p:cSld>
  <p:clrMapOvr>
    <a:masterClrMapping/>
  </p:clrMapOvr>
</p:notes>
</file>

<file path=ppt/notesSlides/notesSlide4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NEW in v5. Backup: show only if asked.</a:t>
            </a:r>
          </a:p>
        </p:txBody>
      </p:sp>
      <p:sp>
        <p:nvSpPr>
          <p:cNvPr id="4" name="Slide Number Placeholder 3"/>
          <p:cNvSpPr>
            <a:spLocks noGrp="1"/>
          </p:cNvSpPr>
          <p:nvPr>
            <p:ph type="sldNum" idx="5" sz="quarter"/>
          </p:nvPr>
        </p:nvSpPr>
        <p:spPr/>
      </p:sp>
    </p:spTree>
  </p:cSld>
  <p:clrMapOvr>
    <a:masterClrMapping/>
  </p:clrMapOvr>
</p:notes>
</file>

<file path=ppt/notesSlides/notesSlide4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NEW in v5. Backup: show only if asked.</a:t>
            </a:r>
          </a:p>
        </p:txBody>
      </p:sp>
      <p:sp>
        <p:nvSpPr>
          <p:cNvPr id="4" name="Slide Number Placeholder 3"/>
          <p:cNvSpPr>
            <a:spLocks noGrp="1"/>
          </p:cNvSpPr>
          <p:nvPr>
            <p:ph type="sldNum" idx="5" sz="quarter"/>
          </p:nvPr>
        </p:nvSpPr>
        <p:spPr/>
      </p:sp>
    </p:spTree>
  </p:cSld>
  <p:clrMapOvr>
    <a:masterClrMapping/>
  </p:clrMapOvr>
</p:notes>
</file>

<file path=ppt/notesSlides/notesSlide4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NEW in v5. Backup: show only if asked.</a:t>
            </a:r>
          </a:p>
        </p:txBody>
      </p:sp>
      <p:sp>
        <p:nvSpPr>
          <p:cNvPr id="4" name="Slide Number Placeholder 3"/>
          <p:cNvSpPr>
            <a:spLocks noGrp="1"/>
          </p:cNvSpPr>
          <p:nvPr>
            <p:ph type="sldNum" idx="5" sz="quarter"/>
          </p:nvPr>
        </p:nvSpPr>
        <p:spPr/>
      </p:sp>
    </p:spTree>
  </p:cSld>
  <p:clrMapOvr>
    <a:masterClrMapping/>
  </p:clrMapOvr>
</p:notes>
</file>

<file path=ppt/notesSlides/notesSlide4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NEW in v5. Backup: show only if asked.</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 Id="rId3" Type="http://schemas.openxmlformats.org/officeDocument/2006/relationships/image" Target="../media/image2.png"/><Relationship Id="rId4" Type="http://schemas.openxmlformats.org/officeDocument/2006/relationships/image" Target="../media/image3.pn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png"/><Relationship Id="rId3" Type="http://schemas.openxmlformats.org/officeDocument/2006/relationships/image" Target="../media/image3.png"/></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5.png"/><Relationship Id="rId3" Type="http://schemas.openxmlformats.org/officeDocument/2006/relationships/image" Target="../media/image6.png"/><Relationship Id="rId4" Type="http://schemas.openxmlformats.org/officeDocument/2006/relationships/image" Target="../media/image7.png"/><Relationship Id="rId5" Type="http://schemas.openxmlformats.org/officeDocument/2006/relationships/image" Target="../media/image8.png"/></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Slide">
    <p:bg>
      <p:bgRef idx="1001">
        <a:schemeClr val="bg2"/>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FBC5D9C-5792-771F-694B-77CA43049154}"/>
              </a:ext>
            </a:extLst>
          </p:cNvPr>
          <p:cNvSpPr>
            <a:spLocks noGrp="1"/>
          </p:cNvSpPr>
          <p:nvPr>
            <p:ph type="ctrTitle" hasCustomPrompt="1"/>
          </p:nvPr>
        </p:nvSpPr>
        <p:spPr>
          <a:xfrm>
            <a:off x="5185558" y="2192976"/>
            <a:ext cx="5482442" cy="907473"/>
          </a:xfrm>
        </p:spPr>
        <p:txBody>
          <a:bodyPr anchor="b"/>
          <a:lstStyle>
            <a:lvl1pPr algn="l">
              <a:defRPr sz="4800"/>
            </a:lvl1pPr>
          </a:lstStyle>
          <a:p>
            <a:r>
              <a:rPr lang="en-US" dirty="0"/>
              <a:t>Dr. Faculty Name</a:t>
            </a:r>
          </a:p>
        </p:txBody>
      </p:sp>
      <p:sp>
        <p:nvSpPr>
          <p:cNvPr id="3" name="Subtitle 2">
            <a:extLst>
              <a:ext uri="{FF2B5EF4-FFF2-40B4-BE49-F238E27FC236}">
                <a16:creationId xmlns:a16="http://schemas.microsoft.com/office/drawing/2014/main" id="{C2D7A35E-BEBE-B4D0-7E84-2C228CF60F53}"/>
              </a:ext>
            </a:extLst>
          </p:cNvPr>
          <p:cNvSpPr>
            <a:spLocks noGrp="1"/>
          </p:cNvSpPr>
          <p:nvPr>
            <p:ph type="subTitle" idx="1" hasCustomPrompt="1"/>
          </p:nvPr>
        </p:nvSpPr>
        <p:spPr>
          <a:xfrm>
            <a:off x="5185558" y="3249879"/>
            <a:ext cx="5482442" cy="907473"/>
          </a:xfrm>
        </p:spPr>
        <p:txBody>
          <a:bodyPr/>
          <a:lstStyle>
            <a:lvl1pPr marL="0" indent="0" algn="l">
              <a:buNone/>
              <a:defRPr sz="2400" i="1"/>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Course Name</a:t>
            </a:r>
          </a:p>
        </p:txBody>
      </p:sp>
      <p:grpSp>
        <p:nvGrpSpPr>
          <p:cNvPr id="6" name="Group 5">
            <a:extLst>
              <a:ext uri="{FF2B5EF4-FFF2-40B4-BE49-F238E27FC236}">
                <a16:creationId xmlns:a16="http://schemas.microsoft.com/office/drawing/2014/main" id="{841D854B-C2B2-DDD8-28EF-A21EAB95E16D}"/>
              </a:ext>
            </a:extLst>
          </p:cNvPr>
          <p:cNvGrpSpPr/>
          <p:nvPr userDrawn="1"/>
        </p:nvGrpSpPr>
        <p:grpSpPr>
          <a:xfrm>
            <a:off x="847126" y="1001444"/>
            <a:ext cx="3392365" cy="5404342"/>
            <a:chOff x="1036632" y="919574"/>
            <a:chExt cx="3753081" cy="5723760"/>
          </a:xfrm>
        </p:grpSpPr>
        <p:pic>
          <p:nvPicPr>
            <p:cNvPr id="8" name="Picture 7">
              <a:extLst>
                <a:ext uri="{FF2B5EF4-FFF2-40B4-BE49-F238E27FC236}">
                  <a16:creationId xmlns:a16="http://schemas.microsoft.com/office/drawing/2014/main" id="{61C177E0-77CF-B03F-06FA-088C1D060346}"/>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1041827" y="2219010"/>
              <a:ext cx="3747886" cy="4424324"/>
            </a:xfrm>
            <a:prstGeom prst="rect">
              <a:avLst/>
            </a:prstGeom>
          </p:spPr>
        </p:pic>
        <p:pic>
          <p:nvPicPr>
            <p:cNvPr id="12" name="Picture 11">
              <a:extLst>
                <a:ext uri="{FF2B5EF4-FFF2-40B4-BE49-F238E27FC236}">
                  <a16:creationId xmlns:a16="http://schemas.microsoft.com/office/drawing/2014/main" id="{0F9E73F2-0D3C-7F75-3484-F28045CEC697}"/>
                </a:ext>
              </a:extLst>
            </p:cNvPr>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1047022" y="919574"/>
              <a:ext cx="3742691" cy="697664"/>
            </a:xfrm>
            <a:prstGeom prst="rect">
              <a:avLst/>
            </a:prstGeom>
          </p:spPr>
        </p:pic>
        <p:sp>
          <p:nvSpPr>
            <p:cNvPr id="5" name="TextBox 4">
              <a:extLst>
                <a:ext uri="{FF2B5EF4-FFF2-40B4-BE49-F238E27FC236}">
                  <a16:creationId xmlns:a16="http://schemas.microsoft.com/office/drawing/2014/main" id="{19F29650-3D6A-FED0-9A7A-6C768EE2C654}"/>
                </a:ext>
              </a:extLst>
            </p:cNvPr>
            <p:cNvSpPr txBox="1"/>
            <p:nvPr userDrawn="1"/>
          </p:nvSpPr>
          <p:spPr>
            <a:xfrm>
              <a:off x="1036632" y="1733458"/>
              <a:ext cx="3753081" cy="391161"/>
            </a:xfrm>
            <a:prstGeom prst="rect">
              <a:avLst/>
            </a:prstGeom>
            <a:noFill/>
          </p:spPr>
          <p:txBody>
            <a:bodyPr wrap="square" rtlCol="0">
              <a:spAutoFit/>
            </a:bodyPr>
            <a:lstStyle/>
            <a:p>
              <a:pPr algn="ctr"/>
              <a:r>
                <a:rPr lang="en-US" sz="1800" dirty="0">
                  <a:solidFill>
                    <a:schemeClr val="accent1"/>
                  </a:solidFill>
                </a:rPr>
                <a:t>Change is the only constant.</a:t>
              </a:r>
            </a:p>
          </p:txBody>
        </p:sp>
      </p:grpSp>
      <p:pic>
        <p:nvPicPr>
          <p:cNvPr id="11" name="Picture 10">
            <a:extLst>
              <a:ext uri="{FF2B5EF4-FFF2-40B4-BE49-F238E27FC236}">
                <a16:creationId xmlns:a16="http://schemas.microsoft.com/office/drawing/2014/main" id="{41E578DB-AFC7-16E4-ECF9-65CEB98447D5}"/>
              </a:ext>
            </a:extLst>
          </p:cNvPr>
          <p:cNvPicPr>
            <a:picLocks noChangeAspect="1"/>
          </p:cNvPicPr>
          <p:nvPr userDrawn="1"/>
        </p:nvPicPr>
        <p:blipFill>
          <a:blip r:embed="rId4">
            <a:extLst>
              <a:ext uri="{28A0092B-C50C-407E-A947-70E740481C1C}">
                <a14:useLocalDpi xmlns:a14="http://schemas.microsoft.com/office/drawing/2010/main" val="0"/>
              </a:ext>
            </a:extLst>
          </a:blip>
          <a:stretch>
            <a:fillRect/>
          </a:stretch>
        </p:blipFill>
        <p:spPr>
          <a:xfrm>
            <a:off x="4071068" y="214666"/>
            <a:ext cx="4049865" cy="700055"/>
          </a:xfrm>
          <a:prstGeom prst="rect">
            <a:avLst/>
          </a:prstGeom>
        </p:spPr>
      </p:pic>
      <p:sp>
        <p:nvSpPr>
          <p:cNvPr id="15" name="Text Placeholder 14">
            <a:extLst>
              <a:ext uri="{FF2B5EF4-FFF2-40B4-BE49-F238E27FC236}">
                <a16:creationId xmlns:a16="http://schemas.microsoft.com/office/drawing/2014/main" id="{EF253582-705B-B89C-A200-9E17D2D2C586}"/>
              </a:ext>
            </a:extLst>
          </p:cNvPr>
          <p:cNvSpPr>
            <a:spLocks noGrp="1"/>
          </p:cNvSpPr>
          <p:nvPr>
            <p:ph type="body" sz="quarter" idx="10" hasCustomPrompt="1"/>
          </p:nvPr>
        </p:nvSpPr>
        <p:spPr>
          <a:xfrm>
            <a:off x="5184775" y="4306782"/>
            <a:ext cx="5483225" cy="907473"/>
          </a:xfrm>
        </p:spPr>
        <p:txBody>
          <a:bodyPr>
            <a:normAutofit/>
          </a:bodyPr>
          <a:lstStyle>
            <a:lvl1pPr>
              <a:buNone/>
              <a:defRPr sz="1800" i="1"/>
            </a:lvl1pPr>
          </a:lstStyle>
          <a:p>
            <a:pPr lvl="0"/>
            <a:r>
              <a:rPr lang="en-US" dirty="0"/>
              <a:t>Month Day, 2026</a:t>
            </a:r>
          </a:p>
        </p:txBody>
      </p:sp>
    </p:spTree>
    <p:extLst>
      <p:ext uri="{BB962C8B-B14F-4D97-AF65-F5344CB8AC3E}">
        <p14:creationId xmlns:p14="http://schemas.microsoft.com/office/powerpoint/2010/main" val="711098651"/>
      </p:ext>
    </p:extLst>
  </p:cSld>
  <p:clrMapOvr>
    <a:overrideClrMapping bg1="dk1" tx1="lt1" bg2="dk2" tx2="lt2" accent1="accent1" accent2="accent2" accent3="accent3" accent4="accent4" accent5="accent5" accent6="accent6" hlink="hlink" folHlink="folHlink"/>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Horizontal">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8D06045-3FB1-8F2E-A028-FB95665FB480}"/>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4888C1D1-BE5D-4237-1020-D5CE775F4FAB}"/>
              </a:ext>
            </a:extLst>
          </p:cNvPr>
          <p:cNvSpPr>
            <a:spLocks noGrp="1"/>
          </p:cNvSpPr>
          <p:nvPr>
            <p:ph idx="1"/>
          </p:nvPr>
        </p:nvSpPr>
        <p:spPr>
          <a:xfrm>
            <a:off x="838200" y="1825625"/>
            <a:ext cx="10515600" cy="3435144"/>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Rectangle 6">
            <a:extLst>
              <a:ext uri="{FF2B5EF4-FFF2-40B4-BE49-F238E27FC236}">
                <a16:creationId xmlns:a16="http://schemas.microsoft.com/office/drawing/2014/main" id="{DFC2D3F5-1202-6847-63BD-4AC6A5ECB2C0}"/>
              </a:ext>
            </a:extLst>
          </p:cNvPr>
          <p:cNvSpPr/>
          <p:nvPr userDrawn="1"/>
        </p:nvSpPr>
        <p:spPr>
          <a:xfrm>
            <a:off x="0" y="5910242"/>
            <a:ext cx="12192000" cy="947758"/>
          </a:xfrm>
          <a:prstGeom prst="rect">
            <a:avLst/>
          </a:prstGeom>
          <a:ln>
            <a:noFill/>
          </a:ln>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US"/>
          </a:p>
        </p:txBody>
      </p:sp>
      <p:pic>
        <p:nvPicPr>
          <p:cNvPr id="10" name="Picture 9">
            <a:extLst>
              <a:ext uri="{FF2B5EF4-FFF2-40B4-BE49-F238E27FC236}">
                <a16:creationId xmlns:a16="http://schemas.microsoft.com/office/drawing/2014/main" id="{A0E8012F-5BD4-739D-BDB0-CC13C8D4C57F}"/>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6911440" y="5968249"/>
            <a:ext cx="4168239" cy="776989"/>
          </a:xfrm>
          <a:prstGeom prst="rect">
            <a:avLst/>
          </a:prstGeom>
        </p:spPr>
      </p:pic>
      <p:pic>
        <p:nvPicPr>
          <p:cNvPr id="12" name="Picture 11">
            <a:extLst>
              <a:ext uri="{FF2B5EF4-FFF2-40B4-BE49-F238E27FC236}">
                <a16:creationId xmlns:a16="http://schemas.microsoft.com/office/drawing/2014/main" id="{412AA35E-FC7F-3AD6-8375-B0AF94E67B90}"/>
              </a:ext>
            </a:extLst>
          </p:cNvPr>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1112323" y="6024721"/>
            <a:ext cx="4168238" cy="720517"/>
          </a:xfrm>
          <a:prstGeom prst="rect">
            <a:avLst/>
          </a:prstGeom>
        </p:spPr>
      </p:pic>
    </p:spTree>
    <p:extLst>
      <p:ext uri="{BB962C8B-B14F-4D97-AF65-F5344CB8AC3E}">
        <p14:creationId xmlns:p14="http://schemas.microsoft.com/office/powerpoint/2010/main" val="240962002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1_Title and Content Vertical">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8D06045-3FB1-8F2E-A028-FB95665FB480}"/>
              </a:ext>
            </a:extLst>
          </p:cNvPr>
          <p:cNvSpPr>
            <a:spLocks noGrp="1"/>
          </p:cNvSpPr>
          <p:nvPr>
            <p:ph type="title"/>
          </p:nvPr>
        </p:nvSpPr>
        <p:spPr>
          <a:xfrm>
            <a:off x="2449286" y="365125"/>
            <a:ext cx="8899566" cy="1325563"/>
          </a:xfrm>
        </p:spPr>
        <p:txBody>
          <a:bodyPr/>
          <a:lstStyle/>
          <a:p>
            <a:r>
              <a:rPr lang="en-US"/>
              <a:t>Click to edit Master title style</a:t>
            </a:r>
          </a:p>
        </p:txBody>
      </p:sp>
      <p:sp>
        <p:nvSpPr>
          <p:cNvPr id="3" name="Content Placeholder 2">
            <a:extLst>
              <a:ext uri="{FF2B5EF4-FFF2-40B4-BE49-F238E27FC236}">
                <a16:creationId xmlns:a16="http://schemas.microsoft.com/office/drawing/2014/main" id="{4888C1D1-BE5D-4237-1020-D5CE775F4FAB}"/>
              </a:ext>
            </a:extLst>
          </p:cNvPr>
          <p:cNvSpPr>
            <a:spLocks noGrp="1"/>
          </p:cNvSpPr>
          <p:nvPr>
            <p:ph idx="1"/>
          </p:nvPr>
        </p:nvSpPr>
        <p:spPr>
          <a:xfrm>
            <a:off x="2449286" y="1825625"/>
            <a:ext cx="8899566" cy="4349544"/>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Rectangle 6">
            <a:extLst>
              <a:ext uri="{FF2B5EF4-FFF2-40B4-BE49-F238E27FC236}">
                <a16:creationId xmlns:a16="http://schemas.microsoft.com/office/drawing/2014/main" id="{DFC2D3F5-1202-6847-63BD-4AC6A5ECB2C0}"/>
              </a:ext>
            </a:extLst>
          </p:cNvPr>
          <p:cNvSpPr/>
          <p:nvPr userDrawn="1"/>
        </p:nvSpPr>
        <p:spPr>
          <a:xfrm>
            <a:off x="0" y="0"/>
            <a:ext cx="1520042" cy="6858000"/>
          </a:xfrm>
          <a:prstGeom prst="rect">
            <a:avLst/>
          </a:prstGeom>
          <a:ln>
            <a:noFill/>
          </a:ln>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US"/>
          </a:p>
        </p:txBody>
      </p:sp>
      <p:pic>
        <p:nvPicPr>
          <p:cNvPr id="17" name="Picture 16">
            <a:extLst>
              <a:ext uri="{FF2B5EF4-FFF2-40B4-BE49-F238E27FC236}">
                <a16:creationId xmlns:a16="http://schemas.microsoft.com/office/drawing/2014/main" id="{98FB3A93-668A-1CF3-B918-CD631EB4E2C3}"/>
              </a:ext>
            </a:extLst>
          </p:cNvPr>
          <p:cNvPicPr>
            <a:picLocks noChangeAspect="1"/>
          </p:cNvPicPr>
          <p:nvPr userDrawn="1"/>
        </p:nvPicPr>
        <p:blipFill>
          <a:blip r:embed="rId2">
            <a:extLst>
              <a:ext uri="{28A0092B-C50C-407E-A947-70E740481C1C}">
                <a14:useLocalDpi xmlns:a14="http://schemas.microsoft.com/office/drawing/2010/main" val="0"/>
              </a:ext>
            </a:extLst>
          </a:blip>
          <a:srcRect l="25050" r="25049" b="5581"/>
          <a:stretch>
            <a:fillRect/>
          </a:stretch>
        </p:blipFill>
        <p:spPr>
          <a:xfrm>
            <a:off x="0" y="3462836"/>
            <a:ext cx="1520042" cy="3395164"/>
          </a:xfrm>
          <a:prstGeom prst="rect">
            <a:avLst/>
          </a:prstGeom>
        </p:spPr>
      </p:pic>
      <p:pic>
        <p:nvPicPr>
          <p:cNvPr id="18" name="Picture 17">
            <a:extLst>
              <a:ext uri="{FF2B5EF4-FFF2-40B4-BE49-F238E27FC236}">
                <a16:creationId xmlns:a16="http://schemas.microsoft.com/office/drawing/2014/main" id="{849D4793-B10F-8496-76F9-FE0FE3608155}"/>
              </a:ext>
            </a:extLst>
          </p:cNvPr>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83364" y="2524382"/>
            <a:ext cx="1353312" cy="252268"/>
          </a:xfrm>
          <a:prstGeom prst="rect">
            <a:avLst/>
          </a:prstGeom>
        </p:spPr>
      </p:pic>
      <p:grpSp>
        <p:nvGrpSpPr>
          <p:cNvPr id="25" name="Group 24">
            <a:extLst>
              <a:ext uri="{FF2B5EF4-FFF2-40B4-BE49-F238E27FC236}">
                <a16:creationId xmlns:a16="http://schemas.microsoft.com/office/drawing/2014/main" id="{6D4AEB14-71E3-97E9-160E-A0BBA1A71054}"/>
              </a:ext>
            </a:extLst>
          </p:cNvPr>
          <p:cNvGrpSpPr/>
          <p:nvPr userDrawn="1"/>
        </p:nvGrpSpPr>
        <p:grpSpPr>
          <a:xfrm>
            <a:off x="82887" y="766440"/>
            <a:ext cx="1354267" cy="964978"/>
            <a:chOff x="10782960" y="633046"/>
            <a:chExt cx="1354267" cy="964978"/>
          </a:xfrm>
        </p:grpSpPr>
        <p:pic>
          <p:nvPicPr>
            <p:cNvPr id="19" name="Picture 18">
              <a:extLst>
                <a:ext uri="{FF2B5EF4-FFF2-40B4-BE49-F238E27FC236}">
                  <a16:creationId xmlns:a16="http://schemas.microsoft.com/office/drawing/2014/main" id="{FFCFB381-6494-A153-C972-3B18E1B8A555}"/>
                </a:ext>
              </a:extLst>
            </p:cNvPr>
            <p:cNvPicPr>
              <a:picLocks noChangeAspect="1"/>
            </p:cNvPicPr>
            <p:nvPr userDrawn="1"/>
          </p:nvPicPr>
          <p:blipFill>
            <a:blip r:embed="rId4">
              <a:extLst>
                <a:ext uri="{28A0092B-C50C-407E-A947-70E740481C1C}">
                  <a14:useLocalDpi xmlns:a14="http://schemas.microsoft.com/office/drawing/2010/main" val="0"/>
                </a:ext>
              </a:extLst>
            </a:blip>
            <a:srcRect r="61498"/>
            <a:stretch>
              <a:fillRect/>
            </a:stretch>
          </p:blipFill>
          <p:spPr>
            <a:xfrm>
              <a:off x="10784059" y="633046"/>
              <a:ext cx="1352069" cy="422367"/>
            </a:xfrm>
            <a:prstGeom prst="rect">
              <a:avLst/>
            </a:prstGeom>
          </p:spPr>
        </p:pic>
        <p:pic>
          <p:nvPicPr>
            <p:cNvPr id="20" name="Picture 19">
              <a:extLst>
                <a:ext uri="{FF2B5EF4-FFF2-40B4-BE49-F238E27FC236}">
                  <a16:creationId xmlns:a16="http://schemas.microsoft.com/office/drawing/2014/main" id="{1B64C24C-DAD1-0F23-28F8-6F5C083DA340}"/>
                </a:ext>
              </a:extLst>
            </p:cNvPr>
            <p:cNvPicPr>
              <a:picLocks noChangeAspect="1"/>
            </p:cNvPicPr>
            <p:nvPr userDrawn="1"/>
          </p:nvPicPr>
          <p:blipFill>
            <a:blip r:embed="rId5">
              <a:extLst>
                <a:ext uri="{28A0092B-C50C-407E-A947-70E740481C1C}">
                  <a14:useLocalDpi xmlns:a14="http://schemas.microsoft.com/office/drawing/2010/main" val="0"/>
                </a:ext>
              </a:extLst>
            </a:blip>
            <a:srcRect l="48564"/>
            <a:stretch>
              <a:fillRect/>
            </a:stretch>
          </p:blipFill>
          <p:spPr>
            <a:xfrm>
              <a:off x="10782960" y="1281349"/>
              <a:ext cx="1354267" cy="316675"/>
            </a:xfrm>
            <a:prstGeom prst="rect">
              <a:avLst/>
            </a:prstGeom>
          </p:spPr>
        </p:pic>
        <p:cxnSp>
          <p:nvCxnSpPr>
            <p:cNvPr id="22" name="Straight Connector 21">
              <a:extLst>
                <a:ext uri="{FF2B5EF4-FFF2-40B4-BE49-F238E27FC236}">
                  <a16:creationId xmlns:a16="http://schemas.microsoft.com/office/drawing/2014/main" id="{A253C4AD-7231-2FE0-A5D7-FAF0BDD46E7C}"/>
                </a:ext>
              </a:extLst>
            </p:cNvPr>
            <p:cNvCxnSpPr>
              <a:cxnSpLocks/>
            </p:cNvCxnSpPr>
            <p:nvPr userDrawn="1"/>
          </p:nvCxnSpPr>
          <p:spPr>
            <a:xfrm>
              <a:off x="10783437" y="1157717"/>
              <a:ext cx="1353312" cy="0"/>
            </a:xfrm>
            <a:prstGeom prst="line">
              <a:avLst/>
            </a:prstGeom>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4010222656"/>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10A36C3F-FC84-C2F8-4A3E-63120A1D43DF}"/>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BCF108BF-53B4-57C0-F90D-24E0BD5706D2}"/>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916659124"/>
      </p:ext>
    </p:extLst>
  </p:cSld>
  <p:clrMap bg1="lt1" tx1="dk1" bg2="lt2" tx2="dk2" accent1="accent1" accent2="accent2" accent3="accent3" accent4="accent4" accent5="accent5" accent6="accent6" hlink="hlink" folHlink="folHlink"/>
  <p:sldLayoutIdLst>
    <p:sldLayoutId id="2147483649" r:id="rId1"/>
    <p:sldLayoutId id="2147483660" r:id="rId2"/>
    <p:sldLayoutId id="2147483661" r:id="rId3"/>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9.png"/><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10.png"/><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microsoft.com/office/2007/relationships/media" Target="../media/media1.mp4"/><Relationship Id="rId3" Type="http://schemas.openxmlformats.org/officeDocument/2006/relationships/video" Target="../media/media1.mp4"/><Relationship Id="rId4" Type="http://schemas.openxmlformats.org/officeDocument/2006/relationships/image" Target="../media/image11.png"/><Relationship Id="rId5" Type="http://schemas.openxmlformats.org/officeDocument/2006/relationships/image" Target="../media/image12.png"/><Relationship Id="rId6"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13.png"/><Relationship Id="rId3" Type="http://schemas.openxmlformats.org/officeDocument/2006/relationships/image" Target="../media/image14.png"/><Relationship Id="rId4"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15.png"/><Relationship Id="rId3" Type="http://schemas.openxmlformats.org/officeDocument/2006/relationships/image" Target="../media/image16.png"/><Relationship Id="rId4"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17.png"/><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18.png"/><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19.png"/><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20.png"/><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21.png"/><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22.png"/><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23.png"/><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24.png"/><Relationship Id="rId3"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25.png"/><Relationship Id="rId3"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26.png"/><Relationship Id="rId3"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27.png"/><Relationship Id="rId3"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28.png"/><Relationship Id="rId3"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29.png"/><Relationship Id="rId3"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30.png"/><Relationship Id="rId3"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31.png"/><Relationship Id="rId3"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32.png"/><Relationship Id="rId3"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33.png"/><Relationship Id="rId3"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34.png"/><Relationship Id="rId3"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35.png"/><Relationship Id="rId3"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36.png"/><Relationship Id="rId3"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37.png"/><Relationship Id="rId3"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38.png"/><Relationship Id="rId3"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39.png"/><Relationship Id="rId3"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40.png"/><Relationship Id="rId3"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41.png"/><Relationship Id="rId3"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42.png"/><Relationship Id="rId3"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43.png"/><Relationship Id="rId3"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44.png"/><Relationship Id="rId3"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45.png"/><Relationship Id="rId3"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46.png"/><Relationship Id="rId3"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47.png"/><Relationship Id="rId3"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48.png"/><Relationship Id="rId3"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49.png"/><Relationship Id="rId3"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50.png"/><Relationship Id="rId3"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51.png"/><Relationship Id="rId3" Type="http://schemas.openxmlformats.org/officeDocument/2006/relationships/notesSlide" Target="../notesSlides/notesSlide46.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ctrTitle"/>
          </p:nvPr>
        </p:nvSpPr>
        <p:spPr>
          <a:xfrm>
            <a:off x="5185558" y="950000"/>
            <a:ext cx="6600000" cy="2000000"/>
          </a:xfrm>
        </p:spPr>
        <p:txBody>
          <a:bodyPr wrap="square"/>
          <a:lstStyle/>
          <a:p>
            <a:r>
              <a:rPr sz="2400" b="1">
                <a:solidFill>
                  <a:srgbClr val="FFFFFF"/>
                </a:solidFill>
              </a:rPr>
              <a:t>Characterizing the Transcriptomic Recurrence Signature of Glioblastoma Following Laser Interstitial Thermal Therapy</a:t>
            </a:r>
          </a:p>
        </p:txBody>
      </p:sp>
      <p:sp>
        <p:nvSpPr>
          <p:cNvPr id="3" name="Subtitle 2"/>
          <p:cNvSpPr>
            <a:spLocks noGrp="1"/>
          </p:cNvSpPr>
          <p:nvPr>
            <p:ph type="subTitle" idx="1"/>
          </p:nvPr>
        </p:nvSpPr>
        <p:spPr>
          <a:xfrm>
            <a:off x="5185558" y="3050000"/>
            <a:ext cx="6600000" cy="1350000"/>
          </a:xfrm>
        </p:spPr>
        <p:txBody>
          <a:bodyPr wrap="square"/>
          <a:lstStyle/>
          <a:p>
            <a:pPr marL="0" indent="0">
              <a:spcAft>
                <a:spcPts val="100"/>
              </a:spcAft>
            </a:pPr>
            <a:r>
              <a:rPr sz="1500">
                <a:solidFill>
                  <a:srgbClr val="FFFFFF"/>
                </a:solidFill>
              </a:rPr>
              <a:t>Gregory J. Schwing, MD, PhD¹  ·  Tavarekere N. Nagaraja, PhD²</a:t>
            </a:r>
          </a:p>
          <a:p>
            <a:pPr marL="0" indent="0">
              <a:spcAft>
                <a:spcPts val="500"/>
              </a:spcAft>
            </a:pPr>
            <a:r>
              <a:rPr sz="1500">
                <a:solidFill>
                  <a:srgbClr val="FFFFFF"/>
                </a:solidFill>
              </a:rPr>
              <a:t>Indrani Datta, DHI²  ·  Ian Y. Lee, MD²</a:t>
            </a:r>
          </a:p>
          <a:p>
            <a:pPr marL="0" indent="0">
              <a:spcAft>
                <a:spcPts val="100"/>
              </a:spcAft>
            </a:pPr>
            <a:r>
              <a:rPr sz="1100">
                <a:solidFill>
                  <a:srgbClr val="FFFFFF"/>
                </a:solidFill>
              </a:rPr>
              <a:t>¹ Department of General Surgery, Detroit Medical Center and Wayne State University, Detroit, MI</a:t>
            </a:r>
          </a:p>
          <a:p>
            <a:pPr marL="0" indent="0">
              <a:spcAft>
                <a:spcPts val="100"/>
              </a:spcAft>
            </a:pPr>
            <a:r>
              <a:rPr sz="1100">
                <a:solidFill>
                  <a:srgbClr val="FFFFFF"/>
                </a:solidFill>
              </a:rPr>
              <a:t>² Department of Neurosurgery, Hermelin Brain Tumor Center, Henry Ford Health, Detroit, MI</a:t>
            </a:r>
          </a:p>
        </p:txBody>
      </p:sp>
      <p:sp>
        <p:nvSpPr>
          <p:cNvPr id="4" name="Text Placeholder 3"/>
          <p:cNvSpPr>
            <a:spLocks noGrp="1"/>
          </p:cNvSpPr>
          <p:nvPr>
            <p:ph type="body" idx="10" sz="quarter"/>
          </p:nvPr>
        </p:nvSpPr>
        <p:spPr>
          <a:xfrm>
            <a:off x="5185558" y="4550000"/>
            <a:ext cx="6600000" cy="1450000"/>
          </a:xfrm>
        </p:spPr>
        <p:txBody>
          <a:bodyPr wrap="square"/>
          <a:lstStyle/>
          <a:p>
            <a:pPr marL="0" indent="0">
              <a:spcAft>
                <a:spcPts val="300"/>
              </a:spcAft>
            </a:pPr>
            <a:r>
              <a:rPr sz="1200">
                <a:solidFill>
                  <a:srgbClr val="FFFFFF"/>
                </a:solidFill>
              </a:rPr>
              <a:t>CNS 2026 Annual Meeting, Washington, DC</a:t>
            </a:r>
          </a:p>
          <a:p>
            <a:pPr marL="0" indent="0">
              <a:spcAft>
                <a:spcPts val="300"/>
              </a:spcAft>
            </a:pPr>
            <a:r>
              <a:rPr sz="1200">
                <a:solidFill>
                  <a:srgbClr val="FFFFFF"/>
                </a:solidFill>
              </a:rPr>
              <a:t>Presentation SSTU02 (Abstract 418)  ·  Sunrise Science Session, Tumor 2</a:t>
            </a:r>
          </a:p>
          <a:p>
            <a:pPr marL="0" indent="0">
              <a:spcAft>
                <a:spcPts val="300"/>
              </a:spcAft>
            </a:pPr>
            <a:r>
              <a:rPr sz="1200">
                <a:solidFill>
                  <a:srgbClr val="FFFFFF"/>
                </a:solidFill>
              </a:rPr>
              <a:t>Monday 2 November 2026, 7:00–7:06 AM</a:t>
            </a:r>
          </a:p>
          <a:p>
            <a:pPr marL="0" indent="0">
              <a:spcAft>
                <a:spcPts val="300"/>
              </a:spcAft>
            </a:pPr>
            <a:r>
              <a:rPr sz="1200">
                <a:solidFill>
                  <a:srgbClr val="FFFFFF"/>
                </a:solidFill>
              </a:rPr>
              <a:t>Room 147B, Walter E. Washington Convention Center</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1750000" y="300000"/>
            <a:ext cx="10150000" cy="1000000"/>
          </a:xfrm>
        </p:spPr>
        <p:txBody>
          <a:bodyPr wrap="square" anchor="b"/>
          <a:lstStyle/>
          <a:p>
            <a:r>
              <a:rPr sz="3000" b="1">
                <a:solidFill>
                  <a:srgbClr val="191D63"/>
                </a:solidFill>
              </a:rPr>
              <a:t>LITT kills the core; glioblastoma returns from the margin</a:t>
            </a:r>
          </a:p>
        </p:txBody>
      </p:sp>
      <p:pic>
        <p:nvPicPr>
          <p:cNvPr id="3" name="Picture 2" descr="fig_margin.png"/>
          <p:cNvPicPr>
            <a:picLocks noChangeAspect="1"/>
          </p:cNvPicPr>
          <p:nvPr/>
        </p:nvPicPr>
        <p:blipFill>
          <a:blip r:embed="rId2"/>
          <a:stretch>
            <a:fillRect/>
          </a:stretch>
        </p:blipFill>
        <p:spPr>
          <a:xfrm>
            <a:off x="1750000" y="1420000"/>
            <a:ext cx="6200000" cy="3738760"/>
          </a:xfrm>
          <a:prstGeom prst="rect">
            <a:avLst/>
          </a:prstGeom>
        </p:spPr>
      </p:pic>
      <p:sp>
        <p:nvSpPr>
          <p:cNvPr id="4" name="TextBox 3"/>
          <p:cNvSpPr txBox="1"/>
          <p:nvPr/>
        </p:nvSpPr>
        <p:spPr>
          <a:xfrm>
            <a:off x="8250000" y="1570000"/>
            <a:ext cx="3650000" cy="3738760"/>
          </a:xfrm>
          <a:prstGeom prst="rect">
            <a:avLst/>
          </a:prstGeom>
          <a:noFill/>
        </p:spPr>
        <p:txBody>
          <a:bodyPr wrap="square" lIns="0" rIns="0" tIns="0" bIns="0">
            <a:spAutoFit/>
          </a:bodyPr>
          <a:lstStyle/>
          <a:p>
            <a:pPr>
              <a:spcBef>
                <a:spcPts val="0"/>
              </a:spcBef>
              <a:spcAft>
                <a:spcPts val="1400"/>
              </a:spcAft>
            </a:pPr>
            <a:r>
              <a:rPr sz="1800" b="0">
                <a:solidFill>
                  <a:srgbClr val="191D63"/>
                </a:solidFill>
              </a:rPr>
              <a:t>LITT is increasingly used for deep and recurrent glioblastoma.¹</a:t>
            </a:r>
          </a:p>
          <a:p>
            <a:pPr>
              <a:spcBef>
                <a:spcPts val="0"/>
              </a:spcBef>
              <a:spcAft>
                <a:spcPts val="1400"/>
              </a:spcAft>
            </a:pPr>
            <a:r>
              <a:rPr sz="1800" b="0">
                <a:solidFill>
                  <a:srgbClr val="191D63"/>
                </a:solidFill>
              </a:rPr>
              <a:t>Past the ablative threshold lies a sublethal margin.</a:t>
            </a:r>
          </a:p>
          <a:p>
            <a:pPr>
              <a:spcBef>
                <a:spcPts val="0"/>
              </a:spcBef>
              <a:spcAft>
                <a:spcPts val="1400"/>
              </a:spcAft>
            </a:pPr>
            <a:r>
              <a:rPr sz="1800" b="0">
                <a:solidFill>
                  <a:srgbClr val="191D63"/>
                </a:solidFill>
              </a:rPr>
              <a:t>Recurrence is thought to grow from the cells that survive there.</a:t>
            </a:r>
          </a:p>
        </p:txBody>
      </p:sp>
      <p:sp>
        <p:nvSpPr>
          <p:cNvPr id="5" name="Rounded Rectangle 4"/>
          <p:cNvSpPr/>
          <p:nvPr/>
        </p:nvSpPr>
        <p:spPr>
          <a:xfrm>
            <a:off x="1750000" y="5308760"/>
            <a:ext cx="10150000" cy="941240"/>
          </a:xfrm>
          <a:prstGeom prst="roundRect">
            <a:avLst/>
          </a:prstGeom>
          <a:solidFill>
            <a:srgbClr val="191D63"/>
          </a:solidFill>
          <a:ln>
            <a:solidFill>
              <a:srgbClr val="191D63"/>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900" b="1">
                <a:solidFill>
                  <a:srgbClr val="FFFFFF"/>
                </a:solidFill>
              </a:rPr>
              <a:t>Does the tumor that regrows after LITT carry its own program, and does that program point to a drug?</a:t>
            </a:r>
          </a:p>
        </p:txBody>
      </p:sp>
      <p:sp>
        <p:nvSpPr>
          <p:cNvPr id="6" name="TextBox 5"/>
          <p:cNvSpPr txBox="1"/>
          <p:nvPr/>
        </p:nvSpPr>
        <p:spPr>
          <a:xfrm>
            <a:off x="1750000" y="6380000"/>
            <a:ext cx="10150000" cy="420000"/>
          </a:xfrm>
          <a:prstGeom prst="rect">
            <a:avLst/>
          </a:prstGeom>
          <a:noFill/>
        </p:spPr>
        <p:txBody>
          <a:bodyPr wrap="square" lIns="0" rIns="0" tIns="0" bIns="0">
            <a:spAutoFit/>
          </a:bodyPr>
          <a:lstStyle/>
          <a:p>
            <a:pPr>
              <a:spcBef>
                <a:spcPts val="0"/>
              </a:spcBef>
              <a:spcAft>
                <a:spcPts val="0"/>
              </a:spcAft>
            </a:pPr>
            <a:r>
              <a:rPr sz="1000" b="0">
                <a:solidFill>
                  <a:srgbClr val="7A7A7A"/>
                </a:solidFill>
              </a:rPr>
              <a:t>1. Chen C, et al. J Neurooncol 2021;151:429–442.   Diagram: thermal dose falls with distance from the fiber; schematic, not to scale.</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1750000" y="300000"/>
            <a:ext cx="10150000" cy="1000000"/>
          </a:xfrm>
        </p:spPr>
        <p:txBody>
          <a:bodyPr wrap="square" anchor="b"/>
          <a:lstStyle/>
          <a:p>
            <a:r>
              <a:rPr sz="3000" b="1">
                <a:solidFill>
                  <a:srgbClr val="191D63"/>
                </a:solidFill>
              </a:rPr>
              <a:t>The design: eight rats, RNA and methylation</a:t>
            </a:r>
          </a:p>
        </p:txBody>
      </p:sp>
      <p:pic>
        <p:nvPicPr>
          <p:cNvPr id="3" name="Picture 2" descr="fig_design.png"/>
          <p:cNvPicPr>
            <a:picLocks noChangeAspect="1"/>
          </p:cNvPicPr>
          <p:nvPr/>
        </p:nvPicPr>
        <p:blipFill>
          <a:blip r:embed="rId2"/>
          <a:stretch>
            <a:fillRect/>
          </a:stretch>
        </p:blipFill>
        <p:spPr>
          <a:xfrm>
            <a:off x="1750000" y="1420000"/>
            <a:ext cx="10150000" cy="3372636"/>
          </a:xfrm>
          <a:prstGeom prst="rect">
            <a:avLst/>
          </a:prstGeom>
        </p:spPr>
      </p:pic>
      <p:sp>
        <p:nvSpPr>
          <p:cNvPr id="4" name="TextBox 3"/>
          <p:cNvSpPr txBox="1"/>
          <p:nvPr/>
        </p:nvSpPr>
        <p:spPr>
          <a:xfrm>
            <a:off x="1750000" y="4892636"/>
            <a:ext cx="10150000" cy="1357364"/>
          </a:xfrm>
          <a:prstGeom prst="rect">
            <a:avLst/>
          </a:prstGeom>
          <a:noFill/>
        </p:spPr>
        <p:txBody>
          <a:bodyPr wrap="square" lIns="0" rIns="0" tIns="0" bIns="0">
            <a:spAutoFit/>
          </a:bodyPr>
          <a:lstStyle/>
          <a:p>
            <a:pPr>
              <a:spcBef>
                <a:spcPts val="0"/>
              </a:spcBef>
              <a:spcAft>
                <a:spcPts val="600"/>
              </a:spcAft>
            </a:pPr>
            <a:r>
              <a:rPr sz="1600" b="0">
                <a:solidFill>
                  <a:srgbClr val="191D63"/>
                </a:solidFill>
              </a:rPr>
              <a:t>Three primaries (rats 67, 68, 69) are compared with three recurrences (66, 70, 71). Rat 64's sample held almost no tumor and rat 65 has no library.</a:t>
            </a:r>
          </a:p>
          <a:p>
            <a:pPr>
              <a:spcBef>
                <a:spcPts val="0"/>
              </a:spcBef>
              <a:spcAft>
                <a:spcPts val="600"/>
              </a:spcAft>
            </a:pPr>
            <a:r>
              <a:rPr sz="1600" b="0">
                <a:solidFill>
                  <a:srgbClr val="191D63"/>
                </a:solidFill>
              </a:rPr>
              <a:t>The two brain controls are the opposite hemispheres of rats 68 and 69, not separate animals.</a:t>
            </a:r>
          </a:p>
          <a:p>
            <a:pPr>
              <a:spcBef>
                <a:spcPts val="0"/>
              </a:spcBef>
              <a:spcAft>
                <a:spcPts val="600"/>
              </a:spcAft>
            </a:pPr>
            <a:r>
              <a:rPr sz="1600" b="0">
                <a:solidFill>
                  <a:srgbClr val="191D63"/>
                </a:solidFill>
              </a:rPr>
              <a:t>Eight samples were also run on one EPIC methylation array: the six tumors, rat 69's opposite hemisphere and the culture.</a:t>
            </a:r>
          </a:p>
        </p:txBody>
      </p:sp>
      <p:sp>
        <p:nvSpPr>
          <p:cNvPr id="5" name="TextBox 4"/>
          <p:cNvSpPr txBox="1"/>
          <p:nvPr/>
        </p:nvSpPr>
        <p:spPr>
          <a:xfrm>
            <a:off x="1750000" y="6380000"/>
            <a:ext cx="10150000" cy="420000"/>
          </a:xfrm>
          <a:prstGeom prst="rect">
            <a:avLst/>
          </a:prstGeom>
          <a:noFill/>
        </p:spPr>
        <p:txBody>
          <a:bodyPr wrap="square" lIns="0" rIns="0" tIns="0" bIns="0">
            <a:spAutoFit/>
          </a:bodyPr>
          <a:lstStyle/>
          <a:p>
            <a:pPr>
              <a:spcBef>
                <a:spcPts val="0"/>
              </a:spcBef>
              <a:spcAft>
                <a:spcPts val="0"/>
              </a:spcAft>
            </a:pPr>
            <a:r>
              <a:rPr sz="1000" b="0">
                <a:solidFill>
                  <a:srgbClr val="7A7A7A"/>
                </a:solidFill>
              </a:rPr>
              <a:t>Nagaraja lab sample key (2023) and methylation-array sample sheet. The sequencing files call rats 70 and 71 NL70B and NL71B; the lab records call them IL-70 and IL-71.</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1750000" y="300000"/>
            <a:ext cx="10150000" cy="1000000"/>
          </a:xfrm>
        </p:spPr>
        <p:txBody>
          <a:bodyPr wrap="square" anchor="b"/>
          <a:lstStyle/>
          <a:p>
            <a:r>
              <a:rPr sz="3000" b="1">
                <a:solidFill>
                  <a:srgbClr val="191D63"/>
                </a:solidFill>
              </a:rPr>
              <a:t>A human tumor in a rat brain, so the tumor can be read on its own</a:t>
            </a:r>
          </a:p>
        </p:txBody>
      </p:sp>
      <p:pic>
        <p:nvPicPr>
          <p:cNvPr id="3" name="ablation_512.mp4">
            <a:hlinkClick r:id="" action="ppaction://media"/>
          </p:cNvPr>
          <p:cNvPicPr>
            <a:picLocks noChangeAspect="1"/>
          </p:cNvPicPr>
          <p:nvPr>
            <a:videoFile r:link="rId3"/>
            <p:extLst>
              <p:ext uri="{DAA4B4D4-6D71-4841-9C94-3DE7FCFB9230}">
                <p14:media xmlns:p14="http://schemas.microsoft.com/office/powerpoint/2010/main" r:embed="rId2"/>
              </p:ext>
            </p:extLst>
          </p:nvPr>
        </p:nvPicPr>
        <p:blipFill>
          <a:blip r:embed="rId4"/>
          <a:stretch>
            <a:fillRect/>
          </a:stretch>
        </p:blipFill>
        <p:spPr>
          <a:xfrm>
            <a:off x="1750000" y="1420000"/>
            <a:ext cx="3000000" cy="3000000"/>
          </a:xfrm>
          <a:prstGeom prst="rect">
            <a:avLst/>
          </a:prstGeom>
        </p:spPr>
      </p:pic>
      <p:sp>
        <p:nvSpPr>
          <p:cNvPr id="4" name="TextBox 3"/>
          <p:cNvSpPr txBox="1"/>
          <p:nvPr/>
        </p:nvSpPr>
        <p:spPr>
          <a:xfrm>
            <a:off x="1750000" y="4480000"/>
            <a:ext cx="3000000" cy="600000"/>
          </a:xfrm>
          <a:prstGeom prst="rect">
            <a:avLst/>
          </a:prstGeom>
          <a:noFill/>
        </p:spPr>
        <p:txBody>
          <a:bodyPr wrap="square" lIns="0" rIns="0" tIns="0" bIns="0">
            <a:spAutoFit/>
          </a:bodyPr>
          <a:lstStyle/>
          <a:p>
            <a:pPr>
              <a:spcBef>
                <a:spcPts val="0"/>
              </a:spcBef>
              <a:spcAft>
                <a:spcPts val="0"/>
              </a:spcAft>
            </a:pPr>
            <a:r>
              <a:rPr sz="1200" b="0">
                <a:solidFill>
                  <a:srgbClr val="7A7A7A"/>
                </a:solidFill>
              </a:rPr>
              <a:t>MRI-guided LITT in this model, diffusion-weighted MRI (from Nagaraja 2021²); click to play.</a:t>
            </a:r>
          </a:p>
        </p:txBody>
      </p:sp>
      <p:pic>
        <p:nvPicPr>
          <p:cNvPr id="5" name="Picture 4" descr="chart_sorting.png"/>
          <p:cNvPicPr>
            <a:picLocks noChangeAspect="1"/>
          </p:cNvPicPr>
          <p:nvPr/>
        </p:nvPicPr>
        <p:blipFill>
          <a:blip r:embed="rId5"/>
          <a:stretch>
            <a:fillRect/>
          </a:stretch>
        </p:blipFill>
        <p:spPr>
          <a:xfrm>
            <a:off x="5050000" y="1420000"/>
            <a:ext cx="6732876" cy="3000000"/>
          </a:xfrm>
          <a:prstGeom prst="rect">
            <a:avLst/>
          </a:prstGeom>
        </p:spPr>
      </p:pic>
      <p:sp>
        <p:nvSpPr>
          <p:cNvPr id="6" name="TextBox 5"/>
          <p:cNvSpPr txBox="1"/>
          <p:nvPr/>
        </p:nvSpPr>
        <p:spPr>
          <a:xfrm>
            <a:off x="5050000" y="4570000"/>
            <a:ext cx="6850000" cy="1680000"/>
          </a:xfrm>
          <a:prstGeom prst="rect">
            <a:avLst/>
          </a:prstGeom>
          <a:noFill/>
        </p:spPr>
        <p:txBody>
          <a:bodyPr wrap="square" lIns="0" rIns="0" tIns="0" bIns="0">
            <a:spAutoFit/>
          </a:bodyPr>
          <a:lstStyle/>
          <a:p>
            <a:pPr>
              <a:spcBef>
                <a:spcPts val="0"/>
              </a:spcBef>
              <a:spcAft>
                <a:spcPts val="1000"/>
              </a:spcAft>
            </a:pPr>
            <a:r>
              <a:rPr sz="1600" b="0">
                <a:solidFill>
                  <a:srgbClr val="191D63"/>
                </a:solidFill>
              </a:rPr>
              <a:t>Reads sorted by species³: 89–92 % go to one species, 7–10 % are shared by both and kept with the human reads, under 2.1 % are unresolved.</a:t>
            </a:r>
          </a:p>
          <a:p>
            <a:pPr>
              <a:spcBef>
                <a:spcPts val="0"/>
              </a:spcBef>
              <a:spcAft>
                <a:spcPts val="1000"/>
              </a:spcAft>
            </a:pPr>
            <a:r>
              <a:rPr sz="1600" b="0">
                <a:solidFill>
                  <a:srgbClr val="4C70B7"/>
                </a:solidFill>
              </a:rPr>
              <a:t>Recurrent tumors are less human on average (35 % against 51 %; ranges overlap): a confound, tested on slide 8.</a:t>
            </a:r>
          </a:p>
        </p:txBody>
      </p:sp>
      <p:sp>
        <p:nvSpPr>
          <p:cNvPr id="7" name="TextBox 6"/>
          <p:cNvSpPr txBox="1"/>
          <p:nvPr/>
        </p:nvSpPr>
        <p:spPr>
          <a:xfrm>
            <a:off x="1750000" y="6380000"/>
            <a:ext cx="10150000" cy="420000"/>
          </a:xfrm>
          <a:prstGeom prst="rect">
            <a:avLst/>
          </a:prstGeom>
          <a:noFill/>
        </p:spPr>
        <p:txBody>
          <a:bodyPr wrap="square" lIns="0" rIns="0" tIns="0" bIns="0">
            <a:spAutoFit/>
          </a:bodyPr>
          <a:lstStyle/>
          <a:p>
            <a:pPr>
              <a:spcBef>
                <a:spcPts val="0"/>
              </a:spcBef>
              <a:spcAft>
                <a:spcPts val="0"/>
              </a:spcAft>
            </a:pPr>
            <a:r>
              <a:rPr sz="1000" b="0">
                <a:solidFill>
                  <a:srgbClr val="7A7A7A"/>
                </a:solidFill>
              </a:rPr>
              <a:t>2. Nagaraja TN, et al. Acta Neurochir 2021;163:3455–3463.   3. Zentgraf J, Rahmann S. Algorithms Mol Biol 2021;16:2.   4. Nagaraja TN, et al. J Neurosurg 2026;145:364–377.   Orthotopic U251N glioblastoma xenograft in the athymic rat, MRI-guided LITT; bulk RNA-seq of primary and recurrent tumors, n = 3 per arm; GEO GSE338105.</a:t>
            </a:r>
          </a:p>
        </p:txBody>
      </p:sp>
    </p:spTree>
  </p:cSld>
  <p:clrMapOvr>
    <a:masterClrMapping/>
  </p:clrMapOvr>
  <p:timing>
    <p:tnLst>
      <p:par>
        <p:cTn id="1" dur="indefinite" restart="never" nodeType="tmRoot">
          <p:childTnLst>
            <p:video>
              <p:cMediaNode vol="80000">
                <p:cTn id="2" fill="hold" display="0">
                  <p:stCondLst>
                    <p:cond delay="indefinite"/>
                  </p:stCondLst>
                </p:cTn>
                <p:tgtEl>
                  <p:spTgt spid="3"/>
                </p:tgtEl>
              </p:cMediaNode>
            </p:video>
          </p:childTnLst>
        </p:cTn>
      </p:par>
    </p:tnLst>
  </p:timing>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1750000" y="300000"/>
            <a:ext cx="10150000" cy="1000000"/>
          </a:xfrm>
        </p:spPr>
        <p:txBody>
          <a:bodyPr wrap="square" anchor="b"/>
          <a:lstStyle/>
          <a:p>
            <a:r>
              <a:rPr sz="3000" b="1">
                <a:solidFill>
                  <a:srgbClr val="191D63"/>
                </a:solidFill>
              </a:rPr>
              <a:t>The arms separate modestly, and few single genes move</a:t>
            </a:r>
          </a:p>
        </p:txBody>
      </p:sp>
      <p:pic>
        <p:nvPicPr>
          <p:cNvPr id="3" name="Picture 2" descr="fig_pca.png"/>
          <p:cNvPicPr>
            <a:picLocks noChangeAspect="1"/>
          </p:cNvPicPr>
          <p:nvPr/>
        </p:nvPicPr>
        <p:blipFill>
          <a:blip r:embed="rId2"/>
          <a:stretch>
            <a:fillRect/>
          </a:stretch>
        </p:blipFill>
        <p:spPr>
          <a:xfrm>
            <a:off x="2113168" y="1420000"/>
            <a:ext cx="3843888" cy="3700000"/>
          </a:xfrm>
          <a:prstGeom prst="rect">
            <a:avLst/>
          </a:prstGeom>
        </p:spPr>
      </p:pic>
      <p:pic>
        <p:nvPicPr>
          <p:cNvPr id="4" name="Picture 3" descr="chart_volcano.png"/>
          <p:cNvPicPr>
            <a:picLocks noChangeAspect="1"/>
          </p:cNvPicPr>
          <p:nvPr/>
        </p:nvPicPr>
        <p:blipFill>
          <a:blip r:embed="rId3"/>
          <a:stretch>
            <a:fillRect/>
          </a:stretch>
        </p:blipFill>
        <p:spPr>
          <a:xfrm>
            <a:off x="6257056" y="1420000"/>
            <a:ext cx="5279775" cy="3700000"/>
          </a:xfrm>
          <a:prstGeom prst="rect">
            <a:avLst/>
          </a:prstGeom>
        </p:spPr>
      </p:pic>
      <p:sp>
        <p:nvSpPr>
          <p:cNvPr id="5" name="TextBox 4"/>
          <p:cNvSpPr txBox="1"/>
          <p:nvPr/>
        </p:nvSpPr>
        <p:spPr>
          <a:xfrm>
            <a:off x="1750000" y="5270000"/>
            <a:ext cx="10150000" cy="980000"/>
          </a:xfrm>
          <a:prstGeom prst="rect">
            <a:avLst/>
          </a:prstGeom>
          <a:noFill/>
        </p:spPr>
        <p:txBody>
          <a:bodyPr wrap="square" lIns="0" rIns="0" tIns="0" bIns="0">
            <a:spAutoFit/>
          </a:bodyPr>
          <a:lstStyle/>
          <a:p>
            <a:pPr>
              <a:spcBef>
                <a:spcPts val="0"/>
              </a:spcBef>
              <a:spcAft>
                <a:spcPts val="0"/>
              </a:spcAft>
            </a:pPr>
            <a:r>
              <a:rPr sz="1600" b="0">
                <a:solidFill>
                  <a:srgbClr val="191D63"/>
                </a:solidFill>
              </a:rPr>
              <a:t>The recurrent tumors lie to the right on PC1, IL66B only just; clustering does not separate the arms (backup B5). DESeq2⁵: 35 genes at FDR &lt; 0.05 and two-fold. So we read whole programs.</a:t>
            </a:r>
          </a:p>
        </p:txBody>
      </p:sp>
      <p:sp>
        <p:nvSpPr>
          <p:cNvPr id="6" name="TextBox 5"/>
          <p:cNvSpPr txBox="1"/>
          <p:nvPr/>
        </p:nvSpPr>
        <p:spPr>
          <a:xfrm>
            <a:off x="1750000" y="6380000"/>
            <a:ext cx="10150000" cy="420000"/>
          </a:xfrm>
          <a:prstGeom prst="rect">
            <a:avLst/>
          </a:prstGeom>
          <a:noFill/>
        </p:spPr>
        <p:txBody>
          <a:bodyPr wrap="square" lIns="0" rIns="0" tIns="0" bIns="0">
            <a:spAutoFit/>
          </a:bodyPr>
          <a:lstStyle/>
          <a:p>
            <a:pPr>
              <a:spcBef>
                <a:spcPts val="0"/>
              </a:spcBef>
              <a:spcAft>
                <a:spcPts val="0"/>
              </a:spcAft>
            </a:pPr>
            <a:r>
              <a:rPr sz="1000" b="0">
                <a:solidFill>
                  <a:srgbClr val="7A7A7A"/>
                </a:solidFill>
              </a:rPr>
              <a:t>5. Love MI, et al. Genome Biol 2014;15:550.   PCA of the 500 most variable rlog genes (DESeq2 plotPCA); PERMANOVA on all genes R² 0.28, p = 0.10, the smallest 3 v 3 allows; Wald test with ashr shrinkage. Orthotopic U251N glioblastoma xenograft in the athymic rat, MRI-guided LITT; bulk RNA-seq of primary and recurrent tumors, n = 3 per arm; GEO GSE338105.</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1750000" y="300000"/>
            <a:ext cx="10150000" cy="1000000"/>
          </a:xfrm>
        </p:spPr>
        <p:txBody>
          <a:bodyPr wrap="square" anchor="b"/>
          <a:lstStyle/>
          <a:p>
            <a:r>
              <a:rPr sz="3000" b="1">
                <a:solidFill>
                  <a:srgbClr val="191D63"/>
                </a:solidFill>
              </a:rPr>
              <a:t>After LITT, the regrown tumor turns its ribosomal-protein genes down</a:t>
            </a:r>
          </a:p>
        </p:txBody>
      </p:sp>
      <p:pic>
        <p:nvPicPr>
          <p:cNvPr id="3" name="Picture 2" descr="fig_gsea_ti.png"/>
          <p:cNvPicPr>
            <a:picLocks noChangeAspect="1"/>
          </p:cNvPicPr>
          <p:nvPr/>
        </p:nvPicPr>
        <p:blipFill>
          <a:blip r:embed="rId2"/>
          <a:stretch>
            <a:fillRect/>
          </a:stretch>
        </p:blipFill>
        <p:spPr>
          <a:xfrm>
            <a:off x="1591902" y="1420000"/>
            <a:ext cx="5244968" cy="3900000"/>
          </a:xfrm>
          <a:prstGeom prst="rect">
            <a:avLst/>
          </a:prstGeom>
        </p:spPr>
      </p:pic>
      <p:pic>
        <p:nvPicPr>
          <p:cNvPr id="4" name="Picture 3" descr="fig_le_heatmap.png"/>
          <p:cNvPicPr>
            <a:picLocks noChangeAspect="1"/>
          </p:cNvPicPr>
          <p:nvPr/>
        </p:nvPicPr>
        <p:blipFill>
          <a:blip r:embed="rId3"/>
          <a:stretch>
            <a:fillRect/>
          </a:stretch>
        </p:blipFill>
        <p:spPr>
          <a:xfrm>
            <a:off x="7136870" y="1420000"/>
            <a:ext cx="4921228" cy="3900000"/>
          </a:xfrm>
          <a:prstGeom prst="rect">
            <a:avLst/>
          </a:prstGeom>
        </p:spPr>
      </p:pic>
      <p:sp>
        <p:nvSpPr>
          <p:cNvPr id="5" name="TextBox 4"/>
          <p:cNvSpPr txBox="1"/>
          <p:nvPr/>
        </p:nvSpPr>
        <p:spPr>
          <a:xfrm>
            <a:off x="1750000" y="5440000"/>
            <a:ext cx="10150000" cy="810000"/>
          </a:xfrm>
          <a:prstGeom prst="rect">
            <a:avLst/>
          </a:prstGeom>
          <a:noFill/>
        </p:spPr>
        <p:txBody>
          <a:bodyPr wrap="square" lIns="0" rIns="0" tIns="0" bIns="0">
            <a:spAutoFit/>
          </a:bodyPr>
          <a:lstStyle/>
          <a:p>
            <a:pPr>
              <a:spcBef>
                <a:spcPts val="0"/>
              </a:spcBef>
              <a:spcAft>
                <a:spcPts val="400"/>
              </a:spcAft>
            </a:pPr>
            <a:r>
              <a:rPr sz="1500" b="0">
                <a:solidFill>
                  <a:srgbClr val="191D63"/>
                </a:solidFill>
              </a:rPr>
              <a:t>Of 8,869 gene sets⁶, six reach q &lt; 0.25, all down in recurrence and all built on the same 76 ribosomal-protein genes; only this set is below 0.05 (q = 0.022). No up-regulated set gets below q = 0.61.</a:t>
            </a:r>
          </a:p>
          <a:p>
            <a:pPr>
              <a:spcBef>
                <a:spcPts val="0"/>
              </a:spcBef>
              <a:spcAft>
                <a:spcPts val="400"/>
              </a:spcAft>
            </a:pPr>
            <a:r>
              <a:rPr sz="1500" b="0">
                <a:solidFill>
                  <a:srgbClr val="4C70B7"/>
                </a:solidFill>
              </a:rPr>
              <a:t>The heatmap shows the catch: one primary, IL68B, is the highest of the six on all 77 leading-edge genes.</a:t>
            </a:r>
          </a:p>
        </p:txBody>
      </p:sp>
      <p:sp>
        <p:nvSpPr>
          <p:cNvPr id="6" name="TextBox 5"/>
          <p:cNvSpPr txBox="1"/>
          <p:nvPr/>
        </p:nvSpPr>
        <p:spPr>
          <a:xfrm>
            <a:off x="1750000" y="6380000"/>
            <a:ext cx="10150000" cy="420000"/>
          </a:xfrm>
          <a:prstGeom prst="rect">
            <a:avLst/>
          </a:prstGeom>
          <a:noFill/>
        </p:spPr>
        <p:txBody>
          <a:bodyPr wrap="square" lIns="0" rIns="0" tIns="0" bIns="0">
            <a:spAutoFit/>
          </a:bodyPr>
          <a:lstStyle/>
          <a:p>
            <a:pPr>
              <a:spcBef>
                <a:spcPts val="0"/>
              </a:spcBef>
              <a:spcAft>
                <a:spcPts val="0"/>
              </a:spcAft>
            </a:pPr>
            <a:r>
              <a:rPr sz="1000" b="0">
                <a:solidFill>
                  <a:srgbClr val="7A7A7A"/>
                </a:solidFill>
              </a:rPr>
              <a:t>6. Subramanian A, et al. Proc Natl Acad Sci USA 2005;102:15545–15550.   Broad GSEA, gene-set permutation; metric Diff_of_Classes on normalised counts (lower panel clipped at the 99.5th percentile); leading edge = core-enrichment genes, rlog row z-scores; n = 3 per arm.</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1750000" y="300000"/>
            <a:ext cx="10150000" cy="1000000"/>
          </a:xfrm>
        </p:spPr>
        <p:txBody>
          <a:bodyPr wrap="square" anchor="b"/>
          <a:lstStyle/>
          <a:p>
            <a:r>
              <a:rPr sz="3000" b="1">
                <a:solidFill>
                  <a:srgbClr val="191D63"/>
                </a:solidFill>
              </a:rPr>
              <a:t>Leave any tumor out: the direction holds, the FDR does not</a:t>
            </a:r>
          </a:p>
        </p:txBody>
      </p:sp>
      <p:pic>
        <p:nvPicPr>
          <p:cNvPr id="3" name="Picture 2" descr="fig_loo_heatmap.png"/>
          <p:cNvPicPr>
            <a:picLocks noChangeAspect="1"/>
          </p:cNvPicPr>
          <p:nvPr/>
        </p:nvPicPr>
        <p:blipFill>
          <a:blip r:embed="rId2"/>
          <a:stretch>
            <a:fillRect/>
          </a:stretch>
        </p:blipFill>
        <p:spPr>
          <a:xfrm>
            <a:off x="1750000" y="1420000"/>
            <a:ext cx="6500000" cy="3957940"/>
          </a:xfrm>
          <a:prstGeom prst="rect">
            <a:avLst/>
          </a:prstGeom>
        </p:spPr>
      </p:pic>
      <p:sp>
        <p:nvSpPr>
          <p:cNvPr id="4" name="TextBox 3"/>
          <p:cNvSpPr txBox="1"/>
          <p:nvPr/>
        </p:nvSpPr>
        <p:spPr>
          <a:xfrm>
            <a:off x="8550000" y="1480000"/>
            <a:ext cx="3350000" cy="4770000"/>
          </a:xfrm>
          <a:prstGeom prst="rect">
            <a:avLst/>
          </a:prstGeom>
          <a:noFill/>
        </p:spPr>
        <p:txBody>
          <a:bodyPr wrap="square" lIns="0" rIns="0" tIns="0" bIns="0">
            <a:spAutoFit/>
          </a:bodyPr>
          <a:lstStyle/>
          <a:p>
            <a:pPr>
              <a:spcBef>
                <a:spcPts val="0"/>
              </a:spcBef>
              <a:spcAft>
                <a:spcPts val="1200"/>
              </a:spcAft>
            </a:pPr>
            <a:r>
              <a:rPr sz="1600" b="0">
                <a:solidFill>
                  <a:srgbClr val="191D63"/>
                </a:solidFill>
              </a:rPr>
              <a:t>The published GSEA re-run 35 times: each tumor left out, five permutation seeds.</a:t>
            </a:r>
          </a:p>
          <a:p>
            <a:pPr>
              <a:spcBef>
                <a:spcPts val="0"/>
              </a:spcBef>
              <a:spcAft>
                <a:spcPts val="1200"/>
              </a:spcAft>
            </a:pPr>
            <a:r>
              <a:rPr sz="1600" b="0">
                <a:solidFill>
                  <a:srgbClr val="191D63"/>
                </a:solidFill>
              </a:rPr>
              <a:t>Every run: NES −1.88 to −2.02, nominal p &lt; 0.002.</a:t>
            </a:r>
          </a:p>
          <a:p>
            <a:pPr>
              <a:spcBef>
                <a:spcPts val="0"/>
              </a:spcBef>
              <a:spcAft>
                <a:spcPts val="1200"/>
              </a:spcAft>
            </a:pPr>
            <a:r>
              <a:rPr sz="1600" b="0">
                <a:solidFill>
                  <a:srgbClr val="191D63"/>
                </a:solidFill>
              </a:rPr>
              <a:t>FDR q &lt; 0.05 in 15 of 35; with all six it moves with the seed alone (0.022–0.31).</a:t>
            </a:r>
          </a:p>
          <a:p>
            <a:pPr>
              <a:spcBef>
                <a:spcPts val="0"/>
              </a:spcBef>
              <a:spcAft>
                <a:spcPts val="1200"/>
              </a:spcAft>
            </a:pPr>
            <a:r>
              <a:rPr sz="1600" b="0">
                <a:solidFill>
                  <a:srgbClr val="4C70B7"/>
                </a:solidFill>
              </a:rPr>
              <a:t>Dropping IL68B keeps q &lt; 0.05 at every seed: it carries the size of the fall, not its direction.</a:t>
            </a:r>
          </a:p>
        </p:txBody>
      </p:sp>
      <p:sp>
        <p:nvSpPr>
          <p:cNvPr id="5" name="TextBox 4"/>
          <p:cNvSpPr txBox="1"/>
          <p:nvPr/>
        </p:nvSpPr>
        <p:spPr>
          <a:xfrm>
            <a:off x="1750000" y="6380000"/>
            <a:ext cx="10150000" cy="420000"/>
          </a:xfrm>
          <a:prstGeom prst="rect">
            <a:avLst/>
          </a:prstGeom>
          <a:noFill/>
        </p:spPr>
        <p:txBody>
          <a:bodyPr wrap="square" lIns="0" rIns="0" tIns="0" bIns="0">
            <a:spAutoFit/>
          </a:bodyPr>
          <a:lstStyle/>
          <a:p>
            <a:pPr>
              <a:spcBef>
                <a:spcPts val="0"/>
              </a:spcBef>
              <a:spcAft>
                <a:spcPts val="0"/>
              </a:spcAft>
            </a:pPr>
            <a:r>
              <a:rPr sz="1000" b="0">
                <a:solidFill>
                  <a:srgbClr val="7A7A7A"/>
                </a:solidFill>
              </a:rPr>
              <a:t>ANALYSIS/gsea_leave_one_out: the published command, gene filter re-applied after each drop; seed 1234 reproduces the published report exactly; blue cells q &lt; 0.05; NES range over the five seeds.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1750000" y="300000"/>
            <a:ext cx="10150000" cy="1000000"/>
          </a:xfrm>
        </p:spPr>
        <p:txBody>
          <a:bodyPr wrap="square" anchor="b"/>
          <a:lstStyle/>
          <a:p>
            <a:r>
              <a:rPr sz="3000" b="1">
                <a:solidFill>
                  <a:srgbClr val="191D63"/>
                </a:solidFill>
              </a:rPr>
              <a:t>Recurrence after LITT, or less tumor in the sample?</a:t>
            </a:r>
          </a:p>
        </p:txBody>
      </p:sp>
      <p:pic>
        <p:nvPicPr>
          <p:cNvPr id="3" name="Picture 2" descr="fig_graft_corr.png"/>
          <p:cNvPicPr>
            <a:picLocks noChangeAspect="1"/>
          </p:cNvPicPr>
          <p:nvPr/>
        </p:nvPicPr>
        <p:blipFill>
          <a:blip r:embed="rId2"/>
          <a:stretch>
            <a:fillRect/>
          </a:stretch>
        </p:blipFill>
        <p:spPr>
          <a:xfrm>
            <a:off x="2181639" y="1420000"/>
            <a:ext cx="9286721" cy="3780000"/>
          </a:xfrm>
          <a:prstGeom prst="rect">
            <a:avLst/>
          </a:prstGeom>
        </p:spPr>
      </p:pic>
      <p:sp>
        <p:nvSpPr>
          <p:cNvPr id="4" name="TextBox 3"/>
          <p:cNvSpPr txBox="1"/>
          <p:nvPr/>
        </p:nvSpPr>
        <p:spPr>
          <a:xfrm>
            <a:off x="1750000" y="5260000"/>
            <a:ext cx="10150000" cy="990000"/>
          </a:xfrm>
          <a:prstGeom prst="rect">
            <a:avLst/>
          </a:prstGeom>
          <a:noFill/>
        </p:spPr>
        <p:txBody>
          <a:bodyPr wrap="square" lIns="0" rIns="0" tIns="0" bIns="0">
            <a:spAutoFit/>
          </a:bodyPr>
          <a:lstStyle/>
          <a:p>
            <a:pPr>
              <a:spcBef>
                <a:spcPts val="0"/>
              </a:spcBef>
              <a:spcAft>
                <a:spcPts val="400"/>
              </a:spcAft>
            </a:pPr>
            <a:r>
              <a:rPr sz="1500" b="0">
                <a:solidFill>
                  <a:srgbClr val="191D63"/>
                </a:solidFill>
              </a:rPr>
              <a:t>Both scores rise with the human share (r = 0.51 and 0.70; P = 0.31, 0.12), and arm and share are correlated (r = −0.70): six tumors cannot fully separate the two.</a:t>
            </a:r>
          </a:p>
          <a:p>
            <a:pPr>
              <a:spcBef>
                <a:spcPts val="0"/>
              </a:spcBef>
              <a:spcAft>
                <a:spcPts val="400"/>
              </a:spcAft>
            </a:pPr>
            <a:r>
              <a:rPr sz="1500" b="0">
                <a:solidFill>
                  <a:srgbClr val="4C70B7"/>
                </a:solidFill>
              </a:rPr>
              <a:t>IL67B and NL70B have the same share (42.5 and 42.7 %) yet differ on the astrocyte-like score (+0.25 against −0.42). Rat reads could shift the ribosomal-protein genes by about 0.01 log2; they fall 0.40.</a:t>
            </a:r>
          </a:p>
        </p:txBody>
      </p:sp>
      <p:sp>
        <p:nvSpPr>
          <p:cNvPr id="5" name="TextBox 4"/>
          <p:cNvSpPr txBox="1"/>
          <p:nvPr/>
        </p:nvSpPr>
        <p:spPr>
          <a:xfrm>
            <a:off x="1750000" y="6380000"/>
            <a:ext cx="10150000" cy="420000"/>
          </a:xfrm>
          <a:prstGeom prst="rect">
            <a:avLst/>
          </a:prstGeom>
          <a:noFill/>
        </p:spPr>
        <p:txBody>
          <a:bodyPr wrap="square" lIns="0" rIns="0" tIns="0" bIns="0">
            <a:spAutoFit/>
          </a:bodyPr>
          <a:lstStyle/>
          <a:p>
            <a:pPr>
              <a:spcBef>
                <a:spcPts val="0"/>
              </a:spcBef>
              <a:spcAft>
                <a:spcPts val="0"/>
              </a:spcAft>
            </a:pPr>
            <a:r>
              <a:rPr sz="1000" b="0">
                <a:solidFill>
                  <a:srgbClr val="7A7A7A"/>
                </a:solidFill>
              </a:rPr>
              <a:t>GSVA on DESeq2 variance-stabilised counts; OLS fit with 95 % confidence band; human share from xengsort; contamination bound: every shared read treated as rat. Orthotopic U251N glioblastoma xenograft in the athymic rat, MRI-guided LITT; bulk RNA-seq of primary and recurrent tumors, n = 3 per arm; GEO GSE338105.</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1750000" y="300000"/>
            <a:ext cx="10150000" cy="1000000"/>
          </a:xfrm>
        </p:spPr>
        <p:txBody>
          <a:bodyPr wrap="square" anchor="b"/>
          <a:lstStyle/>
          <a:p>
            <a:r>
              <a:rPr sz="3000" b="1">
                <a:solidFill>
                  <a:srgbClr val="191D63"/>
                </a:solidFill>
              </a:rPr>
              <a:t>Of ten published subtype signatures, only the astrocyte-like score separates the arms</a:t>
            </a:r>
          </a:p>
        </p:txBody>
      </p:sp>
      <p:pic>
        <p:nvPicPr>
          <p:cNvPr id="3" name="Picture 2" descr="fig_subtype_heatmap.png"/>
          <p:cNvPicPr>
            <a:picLocks noChangeAspect="1"/>
          </p:cNvPicPr>
          <p:nvPr/>
        </p:nvPicPr>
        <p:blipFill>
          <a:blip r:embed="rId2"/>
          <a:stretch>
            <a:fillRect/>
          </a:stretch>
        </p:blipFill>
        <p:spPr>
          <a:xfrm>
            <a:off x="1750000" y="1420000"/>
            <a:ext cx="6600000" cy="3776065"/>
          </a:xfrm>
          <a:prstGeom prst="rect">
            <a:avLst/>
          </a:prstGeom>
        </p:spPr>
      </p:pic>
      <p:sp>
        <p:nvSpPr>
          <p:cNvPr id="4" name="TextBox 3"/>
          <p:cNvSpPr txBox="1"/>
          <p:nvPr/>
        </p:nvSpPr>
        <p:spPr>
          <a:xfrm>
            <a:off x="8650000" y="1460000"/>
            <a:ext cx="3250000" cy="4790000"/>
          </a:xfrm>
          <a:prstGeom prst="rect">
            <a:avLst/>
          </a:prstGeom>
          <a:noFill/>
        </p:spPr>
        <p:txBody>
          <a:bodyPr wrap="square" lIns="0" rIns="0" tIns="0" bIns="0">
            <a:spAutoFit/>
          </a:bodyPr>
          <a:lstStyle/>
          <a:p>
            <a:pPr>
              <a:spcBef>
                <a:spcPts val="0"/>
              </a:spcBef>
              <a:spcAft>
                <a:spcPts val="1000"/>
              </a:spcAft>
            </a:pPr>
            <a:r>
              <a:rPr sz="1500" b="0">
                <a:solidFill>
                  <a:srgbClr val="191D63"/>
                </a:solidFill>
              </a:rPr>
              <a:t>Neftel⁷ and Garofano⁸ signatures, scored per tumor by GSVA⁹.</a:t>
            </a:r>
          </a:p>
          <a:p>
            <a:pPr>
              <a:spcBef>
                <a:spcPts val="0"/>
              </a:spcBef>
              <a:spcAft>
                <a:spcPts val="1000"/>
              </a:spcAft>
            </a:pPr>
            <a:r>
              <a:rPr sz="1500" b="0">
                <a:solidFill>
                  <a:srgbClr val="191D63"/>
                </a:solidFill>
              </a:rPr>
              <a:t>AC-like: +0.28 → −0.29, every recurrent below every primary (t-test P = 0.002, q = 0.021; exact floor 0.10); direction kept after adjusting for human share.</a:t>
            </a:r>
          </a:p>
          <a:p>
            <a:pPr>
              <a:spcBef>
                <a:spcPts val="0"/>
              </a:spcBef>
              <a:spcAft>
                <a:spcPts val="1000"/>
              </a:spcAft>
            </a:pPr>
            <a:r>
              <a:rPr sz="1500" b="0">
                <a:solidFill>
                  <a:srgbClr val="191D63"/>
                </a:solidFill>
              </a:rPr>
              <a:t>MES1 is lower in recurrence (P = 0.09) but tracks human share as closely (r = 0.77, P = 0.08).</a:t>
            </a:r>
          </a:p>
          <a:p>
            <a:pPr>
              <a:spcBef>
                <a:spcPts val="0"/>
              </a:spcBef>
              <a:spcAft>
                <a:spcPts val="1000"/>
              </a:spcAft>
            </a:pPr>
            <a:r>
              <a:rPr sz="1500" b="0">
                <a:solidFill>
                  <a:srgbClr val="191D63"/>
                </a:solidFill>
              </a:rPr>
              <a:t>CIBERSORT¹⁰ with the Neftel reference fits these cells poorly (r 0.19–0.26; backup B3).</a:t>
            </a:r>
          </a:p>
        </p:txBody>
      </p:sp>
      <p:sp>
        <p:nvSpPr>
          <p:cNvPr id="5" name="TextBox 4"/>
          <p:cNvSpPr txBox="1"/>
          <p:nvPr/>
        </p:nvSpPr>
        <p:spPr>
          <a:xfrm>
            <a:off x="1750000" y="6380000"/>
            <a:ext cx="10150000" cy="420000"/>
          </a:xfrm>
          <a:prstGeom prst="rect">
            <a:avLst/>
          </a:prstGeom>
          <a:noFill/>
        </p:spPr>
        <p:txBody>
          <a:bodyPr wrap="square" lIns="0" rIns="0" tIns="0" bIns="0">
            <a:spAutoFit/>
          </a:bodyPr>
          <a:lstStyle/>
          <a:p>
            <a:pPr>
              <a:spcBef>
                <a:spcPts val="0"/>
              </a:spcBef>
              <a:spcAft>
                <a:spcPts val="0"/>
              </a:spcAft>
            </a:pPr>
            <a:r>
              <a:rPr sz="1000" b="0">
                <a:solidFill>
                  <a:srgbClr val="7A7A7A"/>
                </a:solidFill>
              </a:rPr>
              <a:t>7. Neftel C, et al. Cell 2019;178:835–849.   8. Garofano L, et al. Nat Cancer 2021;2:141–156.   9. Hänzelmann S, et al. BMC Bioinformatics 2013;14:7.   10. Newman AM, et al. Nat Methods 2015;12:453–457.   GSVA on variance-stabilised counts; two-sample t per signature, Benjamini–Hochberg across the ten. Orthotopic U251N glioblastoma xenograft in the athymic rat, MRI-guided LITT; bulk RNA-seq of primary and recurrent tumors, n = 3 per arm; GEO GSE338105.</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1750000" y="300000"/>
            <a:ext cx="10150000" cy="1000000"/>
          </a:xfrm>
        </p:spPr>
        <p:txBody>
          <a:bodyPr wrap="square" anchor="b"/>
          <a:lstStyle/>
          <a:p>
            <a:r>
              <a:rPr sz="3000" b="1">
                <a:solidFill>
                  <a:srgbClr val="191D63"/>
                </a:solidFill>
              </a:rPr>
              <a:t>A candidate drug against the recurrent state: ciclopirox</a:t>
            </a:r>
          </a:p>
        </p:txBody>
      </p:sp>
      <p:graphicFrame>
        <p:nvGraphicFramePr>
          <p:cNvPr id="3" name="Table 2"/>
          <p:cNvGraphicFramePr>
            <a:graphicFrameLocks noGrp="1"/>
          </p:cNvGraphicFramePr>
          <p:nvPr/>
        </p:nvGraphicFramePr>
        <p:xfrm>
          <a:off x="1750000" y="1470000"/>
          <a:ext cx="6380000" cy="2820000"/>
        </p:xfrm>
        <a:graphic>
          <a:graphicData uri="http://schemas.openxmlformats.org/drawingml/2006/table">
            <a:tbl>
              <a:tblPr firstRow="0" bandRow="0">
                <a:tableStyleId>{5940675A-B579-460E-94D1-54222C63F5DA}</a:tableStyleId>
              </a:tblPr>
              <a:tblGrid>
                <a:gridCol w="680000"/>
                <a:gridCol w="1900000"/>
                <a:gridCol w="950000"/>
                <a:gridCol w="1400000"/>
                <a:gridCol w="1450000"/>
              </a:tblGrid>
              <a:tr h="470000">
                <a:tc>
                  <a:txBody>
                    <a:bodyPr wrap="square"/>
                    <a:lstStyle/>
                    <a:p>
                      <a:r>
                        <a:rPr sz="1700" b="1">
                          <a:solidFill>
                            <a:srgbClr val="000000"/>
                          </a:solidFill>
                        </a:rPr>
                        <a:t>Rank</a:t>
                      </a:r>
                    </a:p>
                  </a:txBody>
                  <a:tcPr marL="60000" marR="60000" marT="20000" marB="20000" anchor="ctr"/>
                </a:tc>
                <a:tc>
                  <a:txBody>
                    <a:bodyPr wrap="square"/>
                    <a:lstStyle/>
                    <a:p>
                      <a:r>
                        <a:rPr sz="1700" b="1">
                          <a:solidFill>
                            <a:srgbClr val="000000"/>
                          </a:solidFill>
                        </a:rPr>
                        <a:t>Compound</a:t>
                      </a:r>
                    </a:p>
                  </a:txBody>
                  <a:tcPr marL="60000" marR="60000" marT="20000" marB="20000" anchor="ctr"/>
                </a:tc>
                <a:tc>
                  <a:txBody>
                    <a:bodyPr wrap="square"/>
                    <a:lstStyle/>
                    <a:p>
                      <a:r>
                        <a:rPr sz="1700" b="1">
                          <a:solidFill>
                            <a:srgbClr val="000000"/>
                          </a:solidFill>
                        </a:rPr>
                        <a:t>NES</a:t>
                      </a:r>
                    </a:p>
                  </a:txBody>
                  <a:tcPr marL="60000" marR="60000" marT="20000" marB="20000" anchor="ctr"/>
                </a:tc>
                <a:tc>
                  <a:txBody>
                    <a:bodyPr wrap="square"/>
                    <a:lstStyle/>
                    <a:p>
                      <a:r>
                        <a:rPr sz="1700" b="1">
                          <a:solidFill>
                            <a:srgbClr val="000000"/>
                          </a:solidFill>
                        </a:rPr>
                        <a:t>BBB probability</a:t>
                      </a:r>
                    </a:p>
                  </a:txBody>
                  <a:tcPr marL="60000" marR="60000" marT="20000" marB="20000" anchor="ctr"/>
                </a:tc>
                <a:tc>
                  <a:txBody>
                    <a:bodyPr wrap="square"/>
                    <a:lstStyle/>
                    <a:p>
                      <a:r>
                        <a:rPr sz="1700" b="1">
                          <a:solidFill>
                            <a:srgbClr val="000000"/>
                          </a:solidFill>
                        </a:rPr>
                        <a:t>Both BBB models</a:t>
                      </a:r>
                    </a:p>
                  </a:txBody>
                  <a:tcPr marL="60000" marR="60000" marT="20000" marB="20000" anchor="ctr"/>
                </a:tc>
              </a:tr>
              <a:tr h="470000">
                <a:tc>
                  <a:txBody>
                    <a:bodyPr wrap="square"/>
                    <a:lstStyle/>
                    <a:p>
                      <a:r>
                        <a:rPr sz="1700" b="1">
                          <a:solidFill>
                            <a:srgbClr val="000000"/>
                          </a:solidFill>
                        </a:rPr>
                        <a:t>1</a:t>
                      </a:r>
                    </a:p>
                  </a:txBody>
                  <a:tcPr marL="60000" marR="60000" marT="20000" marB="20000" anchor="ctr"/>
                </a:tc>
                <a:tc>
                  <a:txBody>
                    <a:bodyPr wrap="square"/>
                    <a:lstStyle/>
                    <a:p>
                      <a:r>
                        <a:rPr sz="1700" b="1">
                          <a:solidFill>
                            <a:srgbClr val="000000"/>
                          </a:solidFill>
                        </a:rPr>
                        <a:t>ciclopirox</a:t>
                      </a:r>
                    </a:p>
                  </a:txBody>
                  <a:tcPr marL="60000" marR="60000" marT="20000" marB="20000" anchor="ctr"/>
                </a:tc>
                <a:tc>
                  <a:txBody>
                    <a:bodyPr wrap="square"/>
                    <a:lstStyle/>
                    <a:p>
                      <a:r>
                        <a:rPr sz="1700" b="1">
                          <a:solidFill>
                            <a:srgbClr val="000000"/>
                          </a:solidFill>
                        </a:rPr>
                        <a:t>−2.26</a:t>
                      </a:r>
                    </a:p>
                  </a:txBody>
                  <a:tcPr marL="60000" marR="60000" marT="20000" marB="20000" anchor="ctr"/>
                </a:tc>
                <a:tc>
                  <a:txBody>
                    <a:bodyPr wrap="square"/>
                    <a:lstStyle/>
                    <a:p>
                      <a:r>
                        <a:rPr sz="1700" b="1">
                          <a:solidFill>
                            <a:srgbClr val="000000"/>
                          </a:solidFill>
                        </a:rPr>
                        <a:t>0.96</a:t>
                      </a:r>
                    </a:p>
                  </a:txBody>
                  <a:tcPr marL="60000" marR="60000" marT="20000" marB="20000" anchor="ctr"/>
                </a:tc>
                <a:tc>
                  <a:txBody>
                    <a:bodyPr wrap="square"/>
                    <a:lstStyle/>
                    <a:p>
                      <a:r>
                        <a:rPr sz="1700" b="1">
                          <a:solidFill>
                            <a:srgbClr val="000000"/>
                          </a:solidFill>
                        </a:rPr>
                        <a:t>yes</a:t>
                      </a:r>
                    </a:p>
                  </a:txBody>
                  <a:tcPr marL="60000" marR="60000" marT="20000" marB="20000" anchor="ctr"/>
                </a:tc>
              </a:tr>
              <a:tr h="470000">
                <a:tc>
                  <a:txBody>
                    <a:bodyPr wrap="square"/>
                    <a:lstStyle/>
                    <a:p>
                      <a:r>
                        <a:rPr sz="1700" b="0">
                          <a:solidFill>
                            <a:srgbClr val="000000"/>
                          </a:solidFill>
                        </a:rPr>
                        <a:t>2</a:t>
                      </a:r>
                    </a:p>
                  </a:txBody>
                  <a:tcPr marL="60000" marR="60000" marT="20000" marB="20000" anchor="ctr"/>
                </a:tc>
                <a:tc>
                  <a:txBody>
                    <a:bodyPr wrap="square"/>
                    <a:lstStyle/>
                    <a:p>
                      <a:r>
                        <a:rPr sz="1700" b="0">
                          <a:solidFill>
                            <a:srgbClr val="000000"/>
                          </a:solidFill>
                        </a:rPr>
                        <a:t>pentetrazol</a:t>
                      </a:r>
                    </a:p>
                  </a:txBody>
                  <a:tcPr marL="60000" marR="60000" marT="20000" marB="20000" anchor="ctr"/>
                </a:tc>
                <a:tc>
                  <a:txBody>
                    <a:bodyPr wrap="square"/>
                    <a:lstStyle/>
                    <a:p>
                      <a:r>
                        <a:rPr sz="1700" b="0">
                          <a:solidFill>
                            <a:srgbClr val="000000"/>
                          </a:solidFill>
                        </a:rPr>
                        <a:t>−1.95</a:t>
                      </a:r>
                    </a:p>
                  </a:txBody>
                  <a:tcPr marL="60000" marR="60000" marT="20000" marB="20000" anchor="ctr"/>
                </a:tc>
                <a:tc>
                  <a:txBody>
                    <a:bodyPr wrap="square"/>
                    <a:lstStyle/>
                    <a:p>
                      <a:r>
                        <a:rPr sz="1700" b="0">
                          <a:solidFill>
                            <a:srgbClr val="000000"/>
                          </a:solidFill>
                        </a:rPr>
                        <a:t>0.99</a:t>
                      </a:r>
                    </a:p>
                  </a:txBody>
                  <a:tcPr marL="60000" marR="60000" marT="20000" marB="20000" anchor="ctr"/>
                </a:tc>
                <a:tc>
                  <a:txBody>
                    <a:bodyPr wrap="square"/>
                    <a:lstStyle/>
                    <a:p>
                      <a:r>
                        <a:rPr sz="1700" b="0">
                          <a:solidFill>
                            <a:srgbClr val="000000"/>
                          </a:solidFill>
                        </a:rPr>
                        <a:t>no</a:t>
                      </a:r>
                    </a:p>
                  </a:txBody>
                  <a:tcPr marL="60000" marR="60000" marT="20000" marB="20000" anchor="ctr"/>
                </a:tc>
              </a:tr>
              <a:tr h="470000">
                <a:tc>
                  <a:txBody>
                    <a:bodyPr wrap="square"/>
                    <a:lstStyle/>
                    <a:p>
                      <a:r>
                        <a:rPr sz="1700" b="0">
                          <a:solidFill>
                            <a:srgbClr val="000000"/>
                          </a:solidFill>
                        </a:rPr>
                        <a:t>3</a:t>
                      </a:r>
                    </a:p>
                  </a:txBody>
                  <a:tcPr marL="60000" marR="60000" marT="20000" marB="20000" anchor="ctr"/>
                </a:tc>
                <a:tc>
                  <a:txBody>
                    <a:bodyPr wrap="square"/>
                    <a:lstStyle/>
                    <a:p>
                      <a:r>
                        <a:rPr sz="1700" b="0">
                          <a:solidFill>
                            <a:srgbClr val="000000"/>
                          </a:solidFill>
                        </a:rPr>
                        <a:t>nilutamide</a:t>
                      </a:r>
                    </a:p>
                  </a:txBody>
                  <a:tcPr marL="60000" marR="60000" marT="20000" marB="20000" anchor="ctr"/>
                </a:tc>
                <a:tc>
                  <a:txBody>
                    <a:bodyPr wrap="square"/>
                    <a:lstStyle/>
                    <a:p>
                      <a:r>
                        <a:rPr sz="1700" b="0">
                          <a:solidFill>
                            <a:srgbClr val="000000"/>
                          </a:solidFill>
                        </a:rPr>
                        <a:t>−1.88</a:t>
                      </a:r>
                    </a:p>
                  </a:txBody>
                  <a:tcPr marL="60000" marR="60000" marT="20000" marB="20000" anchor="ctr"/>
                </a:tc>
                <a:tc>
                  <a:txBody>
                    <a:bodyPr wrap="square"/>
                    <a:lstStyle/>
                    <a:p>
                      <a:r>
                        <a:rPr sz="1700" b="0">
                          <a:solidFill>
                            <a:srgbClr val="000000"/>
                          </a:solidFill>
                        </a:rPr>
                        <a:t>0.95</a:t>
                      </a:r>
                    </a:p>
                  </a:txBody>
                  <a:tcPr marL="60000" marR="60000" marT="20000" marB="20000" anchor="ctr"/>
                </a:tc>
                <a:tc>
                  <a:txBody>
                    <a:bodyPr wrap="square"/>
                    <a:lstStyle/>
                    <a:p>
                      <a:r>
                        <a:rPr sz="1700" b="0">
                          <a:solidFill>
                            <a:srgbClr val="000000"/>
                          </a:solidFill>
                        </a:rPr>
                        <a:t>no</a:t>
                      </a:r>
                    </a:p>
                  </a:txBody>
                  <a:tcPr marL="60000" marR="60000" marT="20000" marB="20000" anchor="ctr"/>
                </a:tc>
              </a:tr>
              <a:tr h="470000">
                <a:tc>
                  <a:txBody>
                    <a:bodyPr wrap="square"/>
                    <a:lstStyle/>
                    <a:p>
                      <a:r>
                        <a:rPr sz="1700" b="0">
                          <a:solidFill>
                            <a:srgbClr val="000000"/>
                          </a:solidFill>
                        </a:rPr>
                        <a:t>4</a:t>
                      </a:r>
                    </a:p>
                  </a:txBody>
                  <a:tcPr marL="60000" marR="60000" marT="20000" marB="20000" anchor="ctr"/>
                </a:tc>
                <a:tc>
                  <a:txBody>
                    <a:bodyPr wrap="square"/>
                    <a:lstStyle/>
                    <a:p>
                      <a:r>
                        <a:rPr sz="1700" b="0">
                          <a:solidFill>
                            <a:srgbClr val="000000"/>
                          </a:solidFill>
                        </a:rPr>
                        <a:t>primidone</a:t>
                      </a:r>
                    </a:p>
                  </a:txBody>
                  <a:tcPr marL="60000" marR="60000" marT="20000" marB="20000" anchor="ctr"/>
                </a:tc>
                <a:tc>
                  <a:txBody>
                    <a:bodyPr wrap="square"/>
                    <a:lstStyle/>
                    <a:p>
                      <a:r>
                        <a:rPr sz="1700" b="0">
                          <a:solidFill>
                            <a:srgbClr val="000000"/>
                          </a:solidFill>
                        </a:rPr>
                        <a:t>−1.87</a:t>
                      </a:r>
                    </a:p>
                  </a:txBody>
                  <a:tcPr marL="60000" marR="60000" marT="20000" marB="20000" anchor="ctr"/>
                </a:tc>
                <a:tc>
                  <a:txBody>
                    <a:bodyPr wrap="square"/>
                    <a:lstStyle/>
                    <a:p>
                      <a:r>
                        <a:rPr sz="1700" b="0">
                          <a:solidFill>
                            <a:srgbClr val="000000"/>
                          </a:solidFill>
                        </a:rPr>
                        <a:t>0.96</a:t>
                      </a:r>
                    </a:p>
                  </a:txBody>
                  <a:tcPr marL="60000" marR="60000" marT="20000" marB="20000" anchor="ctr"/>
                </a:tc>
                <a:tc>
                  <a:txBody>
                    <a:bodyPr wrap="square"/>
                    <a:lstStyle/>
                    <a:p>
                      <a:r>
                        <a:rPr sz="1700" b="0">
                          <a:solidFill>
                            <a:srgbClr val="000000"/>
                          </a:solidFill>
                        </a:rPr>
                        <a:t>no</a:t>
                      </a:r>
                    </a:p>
                  </a:txBody>
                  <a:tcPr marL="60000" marR="60000" marT="20000" marB="20000" anchor="ctr"/>
                </a:tc>
              </a:tr>
              <a:tr h="470000">
                <a:tc>
                  <a:txBody>
                    <a:bodyPr wrap="square"/>
                    <a:lstStyle/>
                    <a:p>
                      <a:r>
                        <a:rPr sz="1700" b="0">
                          <a:solidFill>
                            <a:srgbClr val="000000"/>
                          </a:solidFill>
                        </a:rPr>
                        <a:t>5</a:t>
                      </a:r>
                    </a:p>
                  </a:txBody>
                  <a:tcPr marL="60000" marR="60000" marT="20000" marB="20000" anchor="ctr"/>
                </a:tc>
                <a:tc>
                  <a:txBody>
                    <a:bodyPr wrap="square"/>
                    <a:lstStyle/>
                    <a:p>
                      <a:r>
                        <a:rPr sz="1700" b="0">
                          <a:solidFill>
                            <a:srgbClr val="000000"/>
                          </a:solidFill>
                        </a:rPr>
                        <a:t>pyrantel</a:t>
                      </a:r>
                    </a:p>
                  </a:txBody>
                  <a:tcPr marL="60000" marR="60000" marT="20000" marB="20000" anchor="ctr"/>
                </a:tc>
                <a:tc>
                  <a:txBody>
                    <a:bodyPr wrap="square"/>
                    <a:lstStyle/>
                    <a:p>
                      <a:r>
                        <a:rPr sz="1700" b="0">
                          <a:solidFill>
                            <a:srgbClr val="000000"/>
                          </a:solidFill>
                        </a:rPr>
                        <a:t>−1.79</a:t>
                      </a:r>
                    </a:p>
                  </a:txBody>
                  <a:tcPr marL="60000" marR="60000" marT="20000" marB="20000" anchor="ctr"/>
                </a:tc>
                <a:tc>
                  <a:txBody>
                    <a:bodyPr wrap="square"/>
                    <a:lstStyle/>
                    <a:p>
                      <a:r>
                        <a:rPr sz="1700" b="0">
                          <a:solidFill>
                            <a:srgbClr val="000000"/>
                          </a:solidFill>
                        </a:rPr>
                        <a:t>0.98</a:t>
                      </a:r>
                    </a:p>
                  </a:txBody>
                  <a:tcPr marL="60000" marR="60000" marT="20000" marB="20000" anchor="ctr"/>
                </a:tc>
                <a:tc>
                  <a:txBody>
                    <a:bodyPr wrap="square"/>
                    <a:lstStyle/>
                    <a:p>
                      <a:r>
                        <a:rPr sz="1700" b="0">
                          <a:solidFill>
                            <a:srgbClr val="000000"/>
                          </a:solidFill>
                        </a:rPr>
                        <a:t>yes</a:t>
                      </a:r>
                    </a:p>
                  </a:txBody>
                  <a:tcPr marL="60000" marR="60000" marT="20000" marB="20000" anchor="ctr"/>
                </a:tc>
              </a:tr>
            </a:tbl>
          </a:graphicData>
        </a:graphic>
      </p:graphicFrame>
      <p:sp>
        <p:nvSpPr>
          <p:cNvPr id="4" name="TextBox 3"/>
          <p:cNvSpPr txBox="1"/>
          <p:nvPr/>
        </p:nvSpPr>
        <p:spPr>
          <a:xfrm>
            <a:off x="8430000" y="1470000"/>
            <a:ext cx="3470000" cy="4830000"/>
          </a:xfrm>
          <a:prstGeom prst="rect">
            <a:avLst/>
          </a:prstGeom>
          <a:noFill/>
        </p:spPr>
        <p:txBody>
          <a:bodyPr wrap="square" lIns="0" rIns="0" tIns="0" bIns="0">
            <a:spAutoFit/>
          </a:bodyPr>
          <a:lstStyle/>
          <a:p>
            <a:pPr>
              <a:spcBef>
                <a:spcPts val="0"/>
              </a:spcBef>
              <a:spcAft>
                <a:spcPts val="1200"/>
              </a:spcAft>
            </a:pPr>
            <a:r>
              <a:rPr sz="1500" b="0">
                <a:solidFill>
                  <a:srgbClr val="191D63"/>
                </a:solidFill>
              </a:rPr>
              <a:t>DSigDB drug signatures¹¹ against the recurrence ranking, used as a ranking: the 100 most opposing name 92 compounds; 62 have a clinical-phase ChEMBL record; 22 pass both barrier models¹²˒¹³.</a:t>
            </a:r>
          </a:p>
          <a:p>
            <a:pPr>
              <a:spcBef>
                <a:spcPts val="0"/>
              </a:spcBef>
              <a:spcAft>
                <a:spcPts val="1200"/>
              </a:spcAft>
            </a:pPr>
            <a:r>
              <a:rPr sz="1500" b="0">
                <a:solidFill>
                  <a:srgbClr val="191D63"/>
                </a:solidFill>
              </a:rPr>
              <a:t>Ciclopirox ranks first with the barrier weight (second without it); first without IL68B, third without IL66B. Another group's reversal screen also nominated it.¹⁴</a:t>
            </a:r>
          </a:p>
          <a:p>
            <a:pPr>
              <a:spcBef>
                <a:spcPts val="0"/>
              </a:spcBef>
              <a:spcAft>
                <a:spcPts val="1200"/>
              </a:spcAft>
            </a:pPr>
            <a:r>
              <a:rPr sz="1500" b="0">
                <a:solidFill>
                  <a:srgbClr val="191D63"/>
                </a:solidFill>
              </a:rPr>
              <a:t>Approved as a topical antifungal; an oral form completed phase 1 in hematologic cancer.¹⁵</a:t>
            </a:r>
          </a:p>
        </p:txBody>
      </p:sp>
      <p:sp>
        <p:nvSpPr>
          <p:cNvPr id="5" name="TextBox 4"/>
          <p:cNvSpPr txBox="1"/>
          <p:nvPr/>
        </p:nvSpPr>
        <p:spPr>
          <a:xfrm>
            <a:off x="1750000" y="4440000"/>
            <a:ext cx="6380000" cy="1200000"/>
          </a:xfrm>
          <a:prstGeom prst="rect">
            <a:avLst/>
          </a:prstGeom>
          <a:noFill/>
        </p:spPr>
        <p:txBody>
          <a:bodyPr wrap="square" lIns="0" rIns="0" tIns="0" bIns="0">
            <a:spAutoFit/>
          </a:bodyPr>
          <a:lstStyle/>
          <a:p>
            <a:pPr>
              <a:spcBef>
                <a:spcPts val="0"/>
              </a:spcBef>
              <a:spcAft>
                <a:spcPts val="800"/>
              </a:spcAft>
            </a:pPr>
            <a:r>
              <a:rPr sz="1500" b="0">
                <a:solidFill>
                  <a:srgbClr val="191D63"/>
                </a:solidFill>
              </a:rPr>
              <a:t>Without the barrier weight, deferoxamine, another approved iron chelator, leads (NES −2.39); the barrier models disagree on it (ADMET-AI 0.53, borderline; BOILED-Egg, no). Ranks 2–5 share one ribosomal-protein gene set: one signal, not four candidates.</a:t>
            </a:r>
          </a:p>
          <a:p>
            <a:pPr>
              <a:spcBef>
                <a:spcPts val="0"/>
              </a:spcBef>
              <a:spcAft>
                <a:spcPts val="800"/>
              </a:spcAft>
            </a:pPr>
            <a:r>
              <a:rPr sz="1500" b="0">
                <a:solidFill>
                  <a:srgbClr val="4C70B7"/>
                </a:solidFill>
              </a:rPr>
              <a:t>Computational predictions: nothing here has been dosed in this model.</a:t>
            </a:r>
          </a:p>
        </p:txBody>
      </p:sp>
      <p:sp>
        <p:nvSpPr>
          <p:cNvPr id="6" name="TextBox 5"/>
          <p:cNvSpPr txBox="1"/>
          <p:nvPr/>
        </p:nvSpPr>
        <p:spPr>
          <a:xfrm>
            <a:off x="1750000" y="6380000"/>
            <a:ext cx="10150000" cy="420000"/>
          </a:xfrm>
          <a:prstGeom prst="rect">
            <a:avLst/>
          </a:prstGeom>
          <a:noFill/>
        </p:spPr>
        <p:txBody>
          <a:bodyPr wrap="square" lIns="0" rIns="0" tIns="0" bIns="0">
            <a:spAutoFit/>
          </a:bodyPr>
          <a:lstStyle/>
          <a:p>
            <a:pPr>
              <a:spcBef>
                <a:spcPts val="0"/>
              </a:spcBef>
              <a:spcAft>
                <a:spcPts val="0"/>
              </a:spcAft>
            </a:pPr>
            <a:r>
              <a:rPr sz="1000" b="0">
                <a:solidFill>
                  <a:srgbClr val="7A7A7A"/>
                </a:solidFill>
              </a:rPr>
              <a:t>11. Yoo M, et al. Bioinformatics 2015;31:3069–3071.   12. Swanson K, et al. Bioinformatics 2024;40:btae416.   13. Daina A, Zoete V. ChemMedChem 2016;11:1117–1121.   14. Sun S, et al. J Transl Med 2025;23:25.   15. Minden MD, et al. Am J Hematol 2014;89:363–368.   Rank among the 62 compounds with a clinical-phase ChEMBL record (exact-name matching, audited) by |NES|^1.5 × ADMET-AI BBB probability; BBB models ADMET-AI and BOILED-Egg; supersedes Online Resource 1, S12.</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1750000" y="300000"/>
            <a:ext cx="10150000" cy="1000000"/>
          </a:xfrm>
        </p:spPr>
        <p:txBody>
          <a:bodyPr wrap="square" anchor="b"/>
          <a:lstStyle/>
          <a:p>
            <a:r>
              <a:rPr sz="3000" b="1">
                <a:solidFill>
                  <a:srgbClr val="191D63"/>
                </a:solidFill>
              </a:rPr>
              <a:t>Why ciclopirox: U-251 is past the threshold on the axis it inhibits</a:t>
            </a:r>
          </a:p>
        </p:txBody>
      </p:sp>
      <p:pic>
        <p:nvPicPr>
          <p:cNvPr id="3" name="Picture 2" descr="fig_depmap.png"/>
          <p:cNvPicPr>
            <a:picLocks noChangeAspect="1"/>
          </p:cNvPicPr>
          <p:nvPr/>
        </p:nvPicPr>
        <p:blipFill>
          <a:blip r:embed="rId2"/>
          <a:stretch>
            <a:fillRect/>
          </a:stretch>
        </p:blipFill>
        <p:spPr>
          <a:xfrm>
            <a:off x="2976488" y="1420000"/>
            <a:ext cx="7697024" cy="3829999"/>
          </a:xfrm>
          <a:prstGeom prst="rect">
            <a:avLst/>
          </a:prstGeom>
        </p:spPr>
      </p:pic>
      <p:sp>
        <p:nvSpPr>
          <p:cNvPr id="4" name="TextBox 3"/>
          <p:cNvSpPr txBox="1"/>
          <p:nvPr/>
        </p:nvSpPr>
        <p:spPr>
          <a:xfrm>
            <a:off x="1750000" y="5309999"/>
            <a:ext cx="10150000" cy="940001"/>
          </a:xfrm>
          <a:prstGeom prst="rect">
            <a:avLst/>
          </a:prstGeom>
          <a:noFill/>
        </p:spPr>
        <p:txBody>
          <a:bodyPr wrap="square" lIns="0" rIns="0" tIns="0" bIns="0">
            <a:spAutoFit/>
          </a:bodyPr>
          <a:lstStyle/>
          <a:p>
            <a:pPr>
              <a:spcBef>
                <a:spcPts val="0"/>
              </a:spcBef>
              <a:spcAft>
                <a:spcPts val="400"/>
              </a:spcAft>
            </a:pPr>
            <a:r>
              <a:rPr sz="1500" b="0">
                <a:solidFill>
                  <a:srgbClr val="191D63"/>
                </a:solidFill>
              </a:rPr>
              <a:t>Ciclopirox chelates iron and inhibits DOHH, which activates eIF5A for translation elongation. In DepMap¹⁶, U-251 MG is past the dependency threshold for DOHH (−0.58), more dependent than 69 % of 90 CNS lines (median −0.46).</a:t>
            </a:r>
          </a:p>
          <a:p>
            <a:pPr>
              <a:spcBef>
                <a:spcPts val="0"/>
              </a:spcBef>
              <a:spcAft>
                <a:spcPts val="400"/>
              </a:spcAft>
            </a:pPr>
            <a:r>
              <a:rPr sz="1500" b="0">
                <a:solidFill>
                  <a:srgbClr val="4C70B7"/>
                </a:solidFill>
              </a:rPr>
              <a:t>In mice, LITT opens the barrier around the ablation for one to three weeks¹⁷: a possible delivery window.</a:t>
            </a:r>
          </a:p>
        </p:txBody>
      </p:sp>
      <p:sp>
        <p:nvSpPr>
          <p:cNvPr id="5" name="TextBox 4"/>
          <p:cNvSpPr txBox="1"/>
          <p:nvPr/>
        </p:nvSpPr>
        <p:spPr>
          <a:xfrm>
            <a:off x="1750000" y="6380000"/>
            <a:ext cx="10150000" cy="420000"/>
          </a:xfrm>
          <a:prstGeom prst="rect">
            <a:avLst/>
          </a:prstGeom>
          <a:noFill/>
        </p:spPr>
        <p:txBody>
          <a:bodyPr wrap="square" lIns="0" rIns="0" tIns="0" bIns="0">
            <a:spAutoFit/>
          </a:bodyPr>
          <a:lstStyle/>
          <a:p>
            <a:pPr>
              <a:spcBef>
                <a:spcPts val="0"/>
              </a:spcBef>
              <a:spcAft>
                <a:spcPts val="0"/>
              </a:spcAft>
            </a:pPr>
            <a:r>
              <a:rPr sz="1000" b="0">
                <a:solidFill>
                  <a:srgbClr val="7A7A7A"/>
                </a:solidFill>
              </a:rPr>
              <a:t>16. DepMap 24Q4 (depmap.org), Chronos gene effect, U-251 MG (ACH-000232); Dempster JM, et al. Genome Biol 2021;22:343.   17. Cleary RT, et al. Neuro Oncol 2026;28:1649–1661.   Violins: all screened lines (n per gene 1,043–1,178); dots, CNS/brain lines; bar, interquartile range; white dot, median; dashed, −0.5; dotted, −1 (median common-essential gene).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1750000" y="300000"/>
            <a:ext cx="10150000" cy="1000000"/>
          </a:xfrm>
        </p:spPr>
        <p:txBody>
          <a:bodyPr wrap="square" anchor="b"/>
          <a:lstStyle/>
          <a:p>
            <a:r>
              <a:rPr sz="3000" b="1">
                <a:solidFill>
                  <a:srgbClr val="191D63"/>
                </a:solidFill>
              </a:rPr>
              <a:t>What this means</a:t>
            </a:r>
          </a:p>
        </p:txBody>
      </p:sp>
      <p:sp>
        <p:nvSpPr>
          <p:cNvPr id="3" name="TextBox 2"/>
          <p:cNvSpPr txBox="1"/>
          <p:nvPr/>
        </p:nvSpPr>
        <p:spPr>
          <a:xfrm>
            <a:off x="1750000" y="1520000"/>
            <a:ext cx="10150000" cy="3000000"/>
          </a:xfrm>
          <a:prstGeom prst="rect">
            <a:avLst/>
          </a:prstGeom>
          <a:noFill/>
        </p:spPr>
        <p:txBody>
          <a:bodyPr wrap="square" lIns="0" rIns="0" tIns="0" bIns="0">
            <a:spAutoFit/>
          </a:bodyPr>
          <a:lstStyle/>
          <a:p>
            <a:pPr>
              <a:spcBef>
                <a:spcPts val="0"/>
              </a:spcBef>
              <a:spcAft>
                <a:spcPts val="1800"/>
              </a:spcAft>
            </a:pPr>
            <a:r>
              <a:rPr sz="1900" b="0">
                <a:solidFill>
                  <a:srgbClr val="191D63"/>
                </a:solidFill>
              </a:rPr>
              <a:t>After LITT, the regrown tumor carries a program of its own: lower ribosomal-protein genes and a lower astrocyte-like score.</a:t>
            </a:r>
          </a:p>
          <a:p>
            <a:pPr>
              <a:spcBef>
                <a:spcPts val="0"/>
              </a:spcBef>
              <a:spcAft>
                <a:spcPts val="1800"/>
              </a:spcAft>
            </a:pPr>
            <a:r>
              <a:rPr sz="1900" b="0">
                <a:solidFill>
                  <a:srgbClr val="191D63"/>
                </a:solidFill>
              </a:rPr>
              <a:t>Its direction holds with any tumor left out; its size leans on one tumor, its FDR on the seed, and tumor content is not yet separated from it.</a:t>
            </a:r>
          </a:p>
          <a:p>
            <a:pPr>
              <a:spcBef>
                <a:spcPts val="0"/>
              </a:spcBef>
              <a:spcAft>
                <a:spcPts val="1800"/>
              </a:spcAft>
            </a:pPr>
            <a:r>
              <a:rPr sz="1900" b="0">
                <a:solidFill>
                  <a:srgbClr val="191D63"/>
                </a:solidFill>
              </a:rPr>
              <a:t>It ranks first a topically approved iron chelator predicted to cross the barrier (third without one recurrent tumor), on an axis this line depends on.</a:t>
            </a:r>
          </a:p>
        </p:txBody>
      </p:sp>
      <p:sp>
        <p:nvSpPr>
          <p:cNvPr id="4" name="Rounded Rectangle 3"/>
          <p:cNvSpPr/>
          <p:nvPr/>
        </p:nvSpPr>
        <p:spPr>
          <a:xfrm>
            <a:off x="1750000" y="4770000"/>
            <a:ext cx="10150000" cy="1480000"/>
          </a:xfrm>
          <a:prstGeom prst="roundRect">
            <a:avLst/>
          </a:prstGeom>
          <a:solidFill>
            <a:srgbClr val="191D63"/>
          </a:solidFill>
          <a:ln>
            <a:solidFill>
              <a:srgbClr val="191D63"/>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900" b="1">
                <a:solidFill>
                  <a:srgbClr val="FFFFFF"/>
                </a:solidFill>
              </a:rPr>
              <a:t>A hypothesis with a mechanism and a window, from six tumors: worth the experiments on the next slide.</a:t>
            </a:r>
          </a:p>
        </p:txBody>
      </p:sp>
      <p:sp>
        <p:nvSpPr>
          <p:cNvPr id="5" name="TextBox 4"/>
          <p:cNvSpPr txBox="1"/>
          <p:nvPr/>
        </p:nvSpPr>
        <p:spPr>
          <a:xfrm>
            <a:off x="1750000" y="6380000"/>
            <a:ext cx="10150000" cy="420000"/>
          </a:xfrm>
          <a:prstGeom prst="rect">
            <a:avLst/>
          </a:prstGeom>
          <a:noFill/>
        </p:spPr>
        <p:txBody>
          <a:bodyPr wrap="square" lIns="0" rIns="0" tIns="0" bIns="0">
            <a:spAutoFit/>
          </a:bodyPr>
          <a:lstStyle/>
          <a:p>
            <a:pPr>
              <a:spcBef>
                <a:spcPts val="0"/>
              </a:spcBef>
              <a:spcAft>
                <a:spcPts val="0"/>
              </a:spcAft>
            </a:pPr>
            <a:r>
              <a:rPr sz="1000" b="0">
                <a:solidFill>
                  <a:srgbClr val="7A7A7A"/>
                </a:solidFill>
              </a:rPr>
              <a:t>Evidence status: one cell line (U251N) in one rat xenograft model, n = 3 per arm; drug candidates are computational predictions; GEO GSE338105.</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1750000" y="300000"/>
            <a:ext cx="10150000" cy="1000000"/>
          </a:xfrm>
        </p:spPr>
        <p:txBody>
          <a:bodyPr wrap="square" anchor="b"/>
          <a:lstStyle/>
          <a:p>
            <a:r>
              <a:rPr sz="3000" b="1">
                <a:solidFill>
                  <a:srgbClr val="191D63"/>
                </a:solidFill>
              </a:rPr>
              <a:t>Limitations, and the experiments that answer them</a:t>
            </a:r>
          </a:p>
        </p:txBody>
      </p:sp>
      <p:sp>
        <p:nvSpPr>
          <p:cNvPr id="3" name="Rounded Rectangle 2"/>
          <p:cNvSpPr/>
          <p:nvPr/>
        </p:nvSpPr>
        <p:spPr>
          <a:xfrm>
            <a:off x="1750000" y="1420000"/>
            <a:ext cx="4925000" cy="460000"/>
          </a:xfrm>
          <a:prstGeom prst="roundRect">
            <a:avLst/>
          </a:prstGeom>
          <a:solidFill>
            <a:srgbClr val="191D63"/>
          </a:solidFill>
          <a:ln>
            <a:solidFill>
              <a:srgbClr val="191D63"/>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2200" b="1">
                <a:solidFill>
                  <a:srgbClr val="FFFFFF"/>
                </a:solidFill>
              </a:rPr>
              <a:t>Limitations</a:t>
            </a:r>
          </a:p>
        </p:txBody>
      </p:sp>
      <p:sp>
        <p:nvSpPr>
          <p:cNvPr id="4" name="TextBox 3"/>
          <p:cNvSpPr txBox="1"/>
          <p:nvPr/>
        </p:nvSpPr>
        <p:spPr>
          <a:xfrm>
            <a:off x="1750000" y="2040000"/>
            <a:ext cx="4925000" cy="4210000"/>
          </a:xfrm>
          <a:prstGeom prst="rect">
            <a:avLst/>
          </a:prstGeom>
          <a:noFill/>
        </p:spPr>
        <p:txBody>
          <a:bodyPr wrap="square" lIns="0" rIns="0" tIns="0" bIns="0">
            <a:spAutoFit/>
          </a:bodyPr>
          <a:lstStyle/>
          <a:p>
            <a:pPr>
              <a:spcBef>
                <a:spcPts val="0"/>
              </a:spcBef>
              <a:spcAft>
                <a:spcPts val="1200"/>
              </a:spcAft>
            </a:pPr>
            <a:r>
              <a:rPr sz="1700" b="0">
                <a:solidFill>
                  <a:srgbClr val="191D63"/>
                </a:solidFill>
              </a:rPr>
              <a:t>Three tumors per arm; the size of the ribosomal-protein fall leans on one.</a:t>
            </a:r>
          </a:p>
          <a:p>
            <a:pPr>
              <a:spcBef>
                <a:spcPts val="0"/>
              </a:spcBef>
              <a:spcAft>
                <a:spcPts val="1200"/>
              </a:spcAft>
            </a:pPr>
            <a:r>
              <a:rPr sz="1700" b="0">
                <a:solidFill>
                  <a:srgbClr val="191D63"/>
                </a:solidFill>
              </a:rPr>
              <a:t>Lower ribosomal-protein mRNA is not yet lower translation.</a:t>
            </a:r>
          </a:p>
          <a:p>
            <a:pPr>
              <a:spcBef>
                <a:spcPts val="0"/>
              </a:spcBef>
              <a:spcAft>
                <a:spcPts val="1200"/>
              </a:spcAft>
            </a:pPr>
            <a:r>
              <a:rPr sz="1700" b="0">
                <a:solidFill>
                  <a:srgbClr val="191D63"/>
                </a:solidFill>
              </a:rPr>
              <a:t>Arm and human share are partly collinear; no sham or non-thermal regrowth arm.</a:t>
            </a:r>
          </a:p>
          <a:p>
            <a:pPr>
              <a:spcBef>
                <a:spcPts val="0"/>
              </a:spcBef>
              <a:spcAft>
                <a:spcPts val="1200"/>
              </a:spcAft>
            </a:pPr>
            <a:r>
              <a:rPr sz="1700" b="0">
                <a:solidFill>
                  <a:srgbClr val="191D63"/>
                </a:solidFill>
              </a:rPr>
              <a:t>One cell line in an athymic rat: no T cells, no patient tissue.</a:t>
            </a:r>
          </a:p>
        </p:txBody>
      </p:sp>
      <p:sp>
        <p:nvSpPr>
          <p:cNvPr id="5" name="Rounded Rectangle 4"/>
          <p:cNvSpPr/>
          <p:nvPr/>
        </p:nvSpPr>
        <p:spPr>
          <a:xfrm>
            <a:off x="6975000" y="1420000"/>
            <a:ext cx="4925000" cy="460000"/>
          </a:xfrm>
          <a:prstGeom prst="roundRect">
            <a:avLst/>
          </a:prstGeom>
          <a:solidFill>
            <a:srgbClr val="191D63"/>
          </a:solidFill>
          <a:ln>
            <a:solidFill>
              <a:srgbClr val="191D63"/>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2200" b="1">
                <a:solidFill>
                  <a:srgbClr val="FFFFFF"/>
                </a:solidFill>
              </a:rPr>
              <a:t>Next</a:t>
            </a:r>
          </a:p>
        </p:txBody>
      </p:sp>
      <p:sp>
        <p:nvSpPr>
          <p:cNvPr id="6" name="TextBox 5"/>
          <p:cNvSpPr txBox="1"/>
          <p:nvPr/>
        </p:nvSpPr>
        <p:spPr>
          <a:xfrm>
            <a:off x="6975000" y="2040000"/>
            <a:ext cx="4925000" cy="4210000"/>
          </a:xfrm>
          <a:prstGeom prst="rect">
            <a:avLst/>
          </a:prstGeom>
          <a:noFill/>
        </p:spPr>
        <p:txBody>
          <a:bodyPr wrap="square" lIns="0" rIns="0" tIns="0" bIns="0">
            <a:spAutoFit/>
          </a:bodyPr>
          <a:lstStyle/>
          <a:p>
            <a:pPr>
              <a:spcBef>
                <a:spcPts val="0"/>
              </a:spcBef>
              <a:spcAft>
                <a:spcPts val="1200"/>
              </a:spcAft>
            </a:pPr>
            <a:r>
              <a:rPr sz="1700" b="0">
                <a:solidFill>
                  <a:srgbClr val="191D63"/>
                </a:solidFill>
              </a:rPr>
              <a:t>Burden-matched primaries, sham-fiber and non-thermal cytoreduction arms, more animals.</a:t>
            </a:r>
          </a:p>
          <a:p>
            <a:pPr>
              <a:spcBef>
                <a:spcPts val="0"/>
              </a:spcBef>
              <a:spcAft>
                <a:spcPts val="1200"/>
              </a:spcAft>
            </a:pPr>
            <a:r>
              <a:rPr sz="1700" b="0">
                <a:solidFill>
                  <a:srgbClr val="191D63"/>
                </a:solidFill>
              </a:rPr>
              <a:t>Puromycin incorporation and polysome profiling: is translation suppressed?</a:t>
            </a:r>
          </a:p>
          <a:p>
            <a:pPr>
              <a:spcBef>
                <a:spcPts val="0"/>
              </a:spcBef>
              <a:spcAft>
                <a:spcPts val="1200"/>
              </a:spcAft>
            </a:pPr>
            <a:r>
              <a:rPr sz="1700" b="0">
                <a:solidFill>
                  <a:srgbClr val="191D63"/>
                </a:solidFill>
              </a:rPr>
              <a:t>Paired IDH-wild-type primary and recurrent glioblastoma (GLASS¹⁸): does it recur in patients?</a:t>
            </a:r>
          </a:p>
          <a:p>
            <a:pPr>
              <a:spcBef>
                <a:spcPts val="0"/>
              </a:spcBef>
              <a:spcAft>
                <a:spcPts val="1200"/>
              </a:spcAft>
            </a:pPr>
            <a:r>
              <a:rPr sz="1700" b="0">
                <a:solidFill>
                  <a:srgbClr val="191D63"/>
                </a:solidFill>
              </a:rPr>
              <a:t>Ciclopirox dosed into the post-LITT barrier window, survival as the endpoint.</a:t>
            </a:r>
          </a:p>
        </p:txBody>
      </p:sp>
      <p:sp>
        <p:nvSpPr>
          <p:cNvPr id="7" name="TextBox 6"/>
          <p:cNvSpPr txBox="1"/>
          <p:nvPr/>
        </p:nvSpPr>
        <p:spPr>
          <a:xfrm>
            <a:off x="1750000" y="6380000"/>
            <a:ext cx="10150000" cy="420000"/>
          </a:xfrm>
          <a:prstGeom prst="rect">
            <a:avLst/>
          </a:prstGeom>
          <a:noFill/>
        </p:spPr>
        <p:txBody>
          <a:bodyPr wrap="square" lIns="0" rIns="0" tIns="0" bIns="0">
            <a:spAutoFit/>
          </a:bodyPr>
          <a:lstStyle/>
          <a:p>
            <a:pPr>
              <a:spcBef>
                <a:spcPts val="0"/>
              </a:spcBef>
              <a:spcAft>
                <a:spcPts val="0"/>
              </a:spcAft>
            </a:pPr>
            <a:r>
              <a:rPr sz="1000" b="0">
                <a:solidFill>
                  <a:srgbClr val="7A7A7A"/>
                </a:solidFill>
              </a:rPr>
              <a:t>18. Varn FS, et al. Cell 2022;185:2184–2199.   Orthotopic U251N glioblastoma xenograft in the athymic rat, MRI-guided LITT; bulk RNA-seq of primary and recurrent tumors, n = 3 per arm; GEO GSE338105.</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1750000" y="300000"/>
            <a:ext cx="10150000" cy="1000000"/>
          </a:xfrm>
        </p:spPr>
        <p:txBody>
          <a:bodyPr wrap="square" anchor="b"/>
          <a:lstStyle/>
          <a:p>
            <a:r>
              <a:rPr sz="3000" b="1">
                <a:solidFill>
                  <a:srgbClr val="191D63"/>
                </a:solidFill>
              </a:rPr>
              <a:t>Acknowledgments and data availability</a:t>
            </a:r>
          </a:p>
        </p:txBody>
      </p:sp>
      <p:sp>
        <p:nvSpPr>
          <p:cNvPr id="3" name="TextBox 2"/>
          <p:cNvSpPr txBox="1"/>
          <p:nvPr/>
        </p:nvSpPr>
        <p:spPr>
          <a:xfrm>
            <a:off x="1750000" y="1420000"/>
            <a:ext cx="6300000" cy="4830000"/>
          </a:xfrm>
          <a:prstGeom prst="rect">
            <a:avLst/>
          </a:prstGeom>
          <a:noFill/>
        </p:spPr>
        <p:txBody>
          <a:bodyPr wrap="square" lIns="0" rIns="0" tIns="0" bIns="0">
            <a:spAutoFit/>
          </a:bodyPr>
          <a:lstStyle/>
          <a:p>
            <a:pPr>
              <a:spcBef>
                <a:spcPts val="0"/>
              </a:spcBef>
              <a:spcAft>
                <a:spcPts val="1200"/>
              </a:spcAft>
            </a:pPr>
            <a:r>
              <a:rPr sz="1700" b="0">
                <a:solidFill>
                  <a:srgbClr val="191D63"/>
                </a:solidFill>
              </a:rPr>
              <a:t>Co-authors Tavarekere N. Nagaraja, PhD, Indrani Datta, DHI, and Ian Y. Lee, MD, Hermelin Brain Tumor Center, Henry Ford Health: the model, the ablations, the tissue and the study design.</a:t>
            </a:r>
          </a:p>
          <a:p>
            <a:pPr>
              <a:spcBef>
                <a:spcPts val="0"/>
              </a:spcBef>
              <a:spcAft>
                <a:spcPts val="1200"/>
              </a:spcAft>
            </a:pPr>
            <a:r>
              <a:rPr sz="1700" b="0">
                <a:solidFill>
                  <a:srgbClr val="191D63"/>
                </a:solidFill>
              </a:rPr>
              <a:t>Supported by a Henry Ford Health Physician Scientist Award A20050 (I.Y.L.).</a:t>
            </a:r>
          </a:p>
          <a:p>
            <a:pPr>
              <a:spcBef>
                <a:spcPts val="0"/>
              </a:spcBef>
              <a:spcAft>
                <a:spcPts val="1200"/>
              </a:spcAft>
            </a:pPr>
            <a:r>
              <a:rPr sz="1700" b="0">
                <a:solidFill>
                  <a:srgbClr val="191D63"/>
                </a:solidFill>
              </a:rPr>
              <a:t>Henry Ford Health IACUC protocol #1509; ARRIVE guidelines.</a:t>
            </a:r>
          </a:p>
          <a:p>
            <a:pPr>
              <a:spcBef>
                <a:spcPts val="0"/>
              </a:spcBef>
              <a:spcAft>
                <a:spcPts val="1200"/>
              </a:spcAft>
            </a:pPr>
            <a:r>
              <a:rPr sz="1700" b="0">
                <a:solidFill>
                  <a:srgbClr val="191D63"/>
                </a:solidFill>
              </a:rPr>
              <a:t>Sequencing data: GEO GSE338105.</a:t>
            </a:r>
          </a:p>
        </p:txBody>
      </p:sp>
      <p:sp>
        <p:nvSpPr>
          <p:cNvPr id="4" name="Rounded Rectangle 3"/>
          <p:cNvSpPr/>
          <p:nvPr/>
        </p:nvSpPr>
        <p:spPr>
          <a:xfrm>
            <a:off x="8300000" y="1720000"/>
            <a:ext cx="3600000" cy="1300000"/>
          </a:xfrm>
          <a:prstGeom prst="roundRect">
            <a:avLst/>
          </a:prstGeom>
          <a:solidFill>
            <a:srgbClr val="191D63"/>
          </a:solidFill>
          <a:ln>
            <a:solidFill>
              <a:srgbClr val="191D63"/>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2000" b="1">
                <a:solidFill>
                  <a:srgbClr val="FFFFFF"/>
                </a:solidFill>
              </a:rPr>
              <a:t>Questions</a:t>
            </a:r>
          </a:p>
          <a:p>
            <a:pPr algn="ctr"/>
            <a:r>
              <a:rPr sz="1600" b="0">
                <a:solidFill>
                  <a:srgbClr val="FFFFFF"/>
                </a:solidFill>
              </a:rPr>
              <a:t>go2432@wayne.edu</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1750000" y="300000"/>
            <a:ext cx="10150000" cy="1000000"/>
          </a:xfrm>
        </p:spPr>
        <p:txBody>
          <a:bodyPr wrap="square" anchor="b"/>
          <a:lstStyle/>
          <a:p>
            <a:r>
              <a:rPr sz="3000" b="1">
                <a:solidFill>
                  <a:srgbClr val="191D63"/>
                </a:solidFill>
              </a:rPr>
              <a:t>Backup B1. Is the fall rat contamination?</a:t>
            </a:r>
          </a:p>
        </p:txBody>
      </p:sp>
      <p:pic>
        <p:nvPicPr>
          <p:cNvPr id="3" name="Picture 2" descr="chart_contamination_magnitude.png"/>
          <p:cNvPicPr>
            <a:picLocks noChangeAspect="1"/>
          </p:cNvPicPr>
          <p:nvPr/>
        </p:nvPicPr>
        <p:blipFill>
          <a:blip r:embed="rId2"/>
          <a:stretch>
            <a:fillRect/>
          </a:stretch>
        </p:blipFill>
        <p:spPr>
          <a:xfrm>
            <a:off x="1750000" y="1420000"/>
            <a:ext cx="6600000" cy="3980431"/>
          </a:xfrm>
          <a:prstGeom prst="rect">
            <a:avLst/>
          </a:prstGeom>
        </p:spPr>
      </p:pic>
      <p:sp>
        <p:nvSpPr>
          <p:cNvPr id="4" name="TextBox 3"/>
          <p:cNvSpPr txBox="1"/>
          <p:nvPr/>
        </p:nvSpPr>
        <p:spPr>
          <a:xfrm>
            <a:off x="8650000" y="1480000"/>
            <a:ext cx="3250000" cy="4770000"/>
          </a:xfrm>
          <a:prstGeom prst="rect">
            <a:avLst/>
          </a:prstGeom>
          <a:noFill/>
        </p:spPr>
        <p:txBody>
          <a:bodyPr wrap="square" lIns="0" rIns="0" tIns="0" bIns="0">
            <a:spAutoFit/>
          </a:bodyPr>
          <a:lstStyle/>
          <a:p>
            <a:pPr>
              <a:spcBef>
                <a:spcPts val="0"/>
              </a:spcBef>
              <a:spcAft>
                <a:spcPts val="1200"/>
              </a:spcAft>
            </a:pPr>
            <a:r>
              <a:rPr sz="1600" b="0">
                <a:solidFill>
                  <a:srgbClr val="191D63"/>
                </a:solidFill>
              </a:rPr>
              <a:t>Counting every shared read as rat would move the ribosomal-protein sets by under 0.01 log2 (+0.001; the two tumor-free controls).</a:t>
            </a:r>
          </a:p>
          <a:p>
            <a:pPr>
              <a:spcBef>
                <a:spcPts val="0"/>
              </a:spcBef>
              <a:spcAft>
                <a:spcPts val="1200"/>
              </a:spcAft>
            </a:pPr>
            <a:r>
              <a:rPr sz="1600" b="0">
                <a:solidFill>
                  <a:srgbClr val="191D63"/>
                </a:solidFill>
              </a:rPr>
              <a:t>They fall −0.40; background genes matched on abundance and control/tumor ratio move +0.01.</a:t>
            </a:r>
          </a:p>
          <a:p>
            <a:pPr>
              <a:spcBef>
                <a:spcPts val="0"/>
              </a:spcBef>
              <a:spcAft>
                <a:spcPts val="1200"/>
              </a:spcAft>
            </a:pPr>
            <a:r>
              <a:rPr sz="1600" b="0">
                <a:solidFill>
                  <a:srgbClr val="191D63"/>
                </a:solidFill>
              </a:rPr>
              <a:t>Without IL68B the fall is −0.11.</a:t>
            </a:r>
          </a:p>
        </p:txBody>
      </p:sp>
      <p:sp>
        <p:nvSpPr>
          <p:cNvPr id="5" name="TextBox 4"/>
          <p:cNvSpPr txBox="1"/>
          <p:nvPr/>
        </p:nvSpPr>
        <p:spPr>
          <a:xfrm>
            <a:off x="1750000" y="6380000"/>
            <a:ext cx="10150000" cy="420000"/>
          </a:xfrm>
          <a:prstGeom prst="rect">
            <a:avLst/>
          </a:prstGeom>
          <a:noFill/>
        </p:spPr>
        <p:txBody>
          <a:bodyPr wrap="square" lIns="0" rIns="0" tIns="0" bIns="0">
            <a:spAutoFit/>
          </a:bodyPr>
          <a:lstStyle/>
          <a:p>
            <a:pPr>
              <a:spcBef>
                <a:spcPts val="0"/>
              </a:spcBef>
              <a:spcAft>
                <a:spcPts val="0"/>
              </a:spcAft>
            </a:pPr>
            <a:r>
              <a:rPr sz="1000" b="0">
                <a:solidFill>
                  <a:srgbClr val="7A7A7A"/>
                </a:solidFill>
              </a:rPr>
              <a:t>19. Risso D, et al. Nat Biotechnol 2014;32:896–902.   Controls: IL64B (no tumor in its sample) and N168B (opposite hemisphere of rat 68); N269B holds tumor cells and is left out. RUVSeq¹⁹ factors (k = 2, from the three control libraries; rerun on the two tumor-free ones pending) also separate the arms.</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1750000" y="300000"/>
            <a:ext cx="10150000" cy="1000000"/>
          </a:xfrm>
        </p:spPr>
        <p:txBody>
          <a:bodyPr wrap="square" anchor="b"/>
          <a:lstStyle/>
          <a:p>
            <a:r>
              <a:rPr sz="3000" b="1">
                <a:solidFill>
                  <a:srgbClr val="191D63"/>
                </a:solidFill>
              </a:rPr>
              <a:t>Backup B2. The whole pipeline re-run without one tumor</a:t>
            </a:r>
          </a:p>
        </p:txBody>
      </p:sp>
      <p:graphicFrame>
        <p:nvGraphicFramePr>
          <p:cNvPr id="3" name="Table 2"/>
          <p:cNvGraphicFramePr>
            <a:graphicFrameLocks noGrp="1"/>
          </p:cNvGraphicFramePr>
          <p:nvPr/>
        </p:nvGraphicFramePr>
        <p:xfrm>
          <a:off x="1750000" y="1520000"/>
          <a:ext cx="10050000" cy="2080000"/>
        </p:xfrm>
        <a:graphic>
          <a:graphicData uri="http://schemas.openxmlformats.org/drawingml/2006/table">
            <a:tbl>
              <a:tblPr firstRow="0" bandRow="0">
                <a:tableStyleId>{5940675A-B579-460E-94D1-54222C63F5DA}</a:tableStyleId>
              </a:tblPr>
              <a:tblGrid>
                <a:gridCol w="1900000"/>
                <a:gridCol w="1200000"/>
                <a:gridCol w="2000000"/>
                <a:gridCol w="2350000"/>
                <a:gridCol w="1400000"/>
                <a:gridCol w="1200000"/>
              </a:tblGrid>
              <a:tr h="520000">
                <a:tc>
                  <a:txBody>
                    <a:bodyPr wrap="square"/>
                    <a:lstStyle/>
                    <a:p>
                      <a:r>
                        <a:rPr sz="1600" b="1">
                          <a:solidFill>
                            <a:srgbClr val="000000"/>
                          </a:solidFill>
                        </a:rPr>
                        <a:t/>
                      </a:r>
                    </a:p>
                  </a:txBody>
                  <a:tcPr marL="60000" marR="60000" marT="20000" marB="20000" anchor="ctr"/>
                </a:tc>
                <a:tc>
                  <a:txBody>
                    <a:bodyPr wrap="square"/>
                    <a:lstStyle/>
                    <a:p>
                      <a:r>
                        <a:rPr sz="1600" b="1">
                          <a:solidFill>
                            <a:srgbClr val="000000"/>
                          </a:solidFill>
                        </a:rPr>
                        <a:t>DE genes</a:t>
                      </a:r>
                    </a:p>
                  </a:txBody>
                  <a:tcPr marL="60000" marR="60000" marT="20000" marB="20000" anchor="ctr"/>
                </a:tc>
                <a:tc>
                  <a:txBody>
                    <a:bodyPr wrap="square"/>
                    <a:lstStyle/>
                    <a:p>
                      <a:r>
                        <a:rPr sz="1600" b="1">
                          <a:solidFill>
                            <a:srgbClr val="000000"/>
                          </a:solidFill>
                        </a:rPr>
                        <a:t>Ribosomal-protein set q</a:t>
                      </a:r>
                    </a:p>
                  </a:txBody>
                  <a:tcPr marL="60000" marR="60000" marT="20000" marB="20000" anchor="ctr"/>
                </a:tc>
                <a:tc>
                  <a:txBody>
                    <a:bodyPr wrap="square"/>
                    <a:lstStyle/>
                    <a:p>
                      <a:r>
                        <a:rPr sz="1600" b="1">
                          <a:solidFill>
                            <a:srgbClr val="000000"/>
                          </a:solidFill>
                        </a:rPr>
                        <a:t>Ciclopirox rank (weighted / not)</a:t>
                      </a:r>
                    </a:p>
                  </a:txBody>
                  <a:tcPr marL="60000" marR="60000" marT="20000" marB="20000" anchor="ctr"/>
                </a:tc>
                <a:tc>
                  <a:txBody>
                    <a:bodyPr wrap="square"/>
                    <a:lstStyle/>
                    <a:p>
                      <a:r>
                        <a:rPr sz="1600" b="1">
                          <a:solidFill>
                            <a:srgbClr val="000000"/>
                          </a:solidFill>
                        </a:rPr>
                        <a:t>AC-like change</a:t>
                      </a:r>
                    </a:p>
                  </a:txBody>
                  <a:tcPr marL="60000" marR="60000" marT="20000" marB="20000" anchor="ctr"/>
                </a:tc>
                <a:tc>
                  <a:txBody>
                    <a:bodyPr wrap="square"/>
                    <a:lstStyle/>
                    <a:p>
                      <a:r>
                        <a:rPr sz="1600" b="1">
                          <a:solidFill>
                            <a:srgbClr val="000000"/>
                          </a:solidFill>
                        </a:rPr>
                        <a:t>AC-like p</a:t>
                      </a:r>
                    </a:p>
                  </a:txBody>
                  <a:tcPr marL="60000" marR="60000" marT="20000" marB="20000" anchor="ctr"/>
                </a:tc>
              </a:tr>
              <a:tr h="520000">
                <a:tc>
                  <a:txBody>
                    <a:bodyPr wrap="square"/>
                    <a:lstStyle/>
                    <a:p>
                      <a:r>
                        <a:rPr sz="1600" b="0">
                          <a:solidFill>
                            <a:srgbClr val="000000"/>
                          </a:solidFill>
                        </a:rPr>
                        <a:t>All six</a:t>
                      </a:r>
                    </a:p>
                  </a:txBody>
                  <a:tcPr marL="60000" marR="60000" marT="20000" marB="20000" anchor="ctr"/>
                </a:tc>
                <a:tc>
                  <a:txBody>
                    <a:bodyPr wrap="square"/>
                    <a:lstStyle/>
                    <a:p>
                      <a:r>
                        <a:rPr sz="1600" b="0">
                          <a:solidFill>
                            <a:srgbClr val="000000"/>
                          </a:solidFill>
                        </a:rPr>
                        <a:t>35</a:t>
                      </a:r>
                    </a:p>
                  </a:txBody>
                  <a:tcPr marL="60000" marR="60000" marT="20000" marB="20000" anchor="ctr"/>
                </a:tc>
                <a:tc>
                  <a:txBody>
                    <a:bodyPr wrap="square"/>
                    <a:lstStyle/>
                    <a:p>
                      <a:r>
                        <a:rPr sz="1600" b="0">
                          <a:solidFill>
                            <a:srgbClr val="000000"/>
                          </a:solidFill>
                        </a:rPr>
                        <a:t>0.022</a:t>
                      </a:r>
                    </a:p>
                  </a:txBody>
                  <a:tcPr marL="60000" marR="60000" marT="20000" marB="20000" anchor="ctr"/>
                </a:tc>
                <a:tc>
                  <a:txBody>
                    <a:bodyPr wrap="square"/>
                    <a:lstStyle/>
                    <a:p>
                      <a:r>
                        <a:rPr sz="1600" b="0">
                          <a:solidFill>
                            <a:srgbClr val="000000"/>
                          </a:solidFill>
                        </a:rPr>
                        <a:t>1 / 2</a:t>
                      </a:r>
                    </a:p>
                  </a:txBody>
                  <a:tcPr marL="60000" marR="60000" marT="20000" marB="20000" anchor="ctr"/>
                </a:tc>
                <a:tc>
                  <a:txBody>
                    <a:bodyPr wrap="square"/>
                    <a:lstStyle/>
                    <a:p>
                      <a:r>
                        <a:rPr sz="1600" b="0">
                          <a:solidFill>
                            <a:srgbClr val="000000"/>
                          </a:solidFill>
                        </a:rPr>
                        <a:t>−0.53</a:t>
                      </a:r>
                    </a:p>
                  </a:txBody>
                  <a:tcPr marL="60000" marR="60000" marT="20000" marB="20000" anchor="ctr"/>
                </a:tc>
                <a:tc>
                  <a:txBody>
                    <a:bodyPr wrap="square"/>
                    <a:lstStyle/>
                    <a:p>
                      <a:r>
                        <a:rPr sz="1600" b="0">
                          <a:solidFill>
                            <a:srgbClr val="000000"/>
                          </a:solidFill>
                        </a:rPr>
                        <a:t>0.007</a:t>
                      </a:r>
                    </a:p>
                  </a:txBody>
                  <a:tcPr marL="60000" marR="60000" marT="20000" marB="20000" anchor="ctr"/>
                </a:tc>
              </a:tr>
              <a:tr h="520000">
                <a:tc>
                  <a:txBody>
                    <a:bodyPr wrap="square"/>
                    <a:lstStyle/>
                    <a:p>
                      <a:r>
                        <a:rPr sz="1600" b="0">
                          <a:solidFill>
                            <a:srgbClr val="000000"/>
                          </a:solidFill>
                        </a:rPr>
                        <a:t>Without IL68B</a:t>
                      </a:r>
                    </a:p>
                  </a:txBody>
                  <a:tcPr marL="60000" marR="60000" marT="20000" marB="20000" anchor="ctr"/>
                </a:tc>
                <a:tc>
                  <a:txBody>
                    <a:bodyPr wrap="square"/>
                    <a:lstStyle/>
                    <a:p>
                      <a:r>
                        <a:rPr sz="1600" b="0">
                          <a:solidFill>
                            <a:srgbClr val="000000"/>
                          </a:solidFill>
                        </a:rPr>
                        <a:t>43</a:t>
                      </a:r>
                    </a:p>
                  </a:txBody>
                  <a:tcPr marL="60000" marR="60000" marT="20000" marB="20000" anchor="ctr"/>
                </a:tc>
                <a:tc>
                  <a:txBody>
                    <a:bodyPr wrap="square"/>
                    <a:lstStyle/>
                    <a:p>
                      <a:r>
                        <a:rPr sz="1600" b="0">
                          <a:solidFill>
                            <a:srgbClr val="000000"/>
                          </a:solidFill>
                        </a:rPr>
                        <a:t>0.027</a:t>
                      </a:r>
                    </a:p>
                  </a:txBody>
                  <a:tcPr marL="60000" marR="60000" marT="20000" marB="20000" anchor="ctr"/>
                </a:tc>
                <a:tc>
                  <a:txBody>
                    <a:bodyPr wrap="square"/>
                    <a:lstStyle/>
                    <a:p>
                      <a:r>
                        <a:rPr sz="1600" b="0">
                          <a:solidFill>
                            <a:srgbClr val="000000"/>
                          </a:solidFill>
                        </a:rPr>
                        <a:t>1 / 2</a:t>
                      </a:r>
                    </a:p>
                  </a:txBody>
                  <a:tcPr marL="60000" marR="60000" marT="20000" marB="20000" anchor="ctr"/>
                </a:tc>
                <a:tc>
                  <a:txBody>
                    <a:bodyPr wrap="square"/>
                    <a:lstStyle/>
                    <a:p>
                      <a:r>
                        <a:rPr sz="1600" b="0">
                          <a:solidFill>
                            <a:srgbClr val="000000"/>
                          </a:solidFill>
                        </a:rPr>
                        <a:t>−0.57</a:t>
                      </a:r>
                    </a:p>
                  </a:txBody>
                  <a:tcPr marL="60000" marR="60000" marT="20000" marB="20000" anchor="ctr"/>
                </a:tc>
                <a:tc>
                  <a:txBody>
                    <a:bodyPr wrap="square"/>
                    <a:lstStyle/>
                    <a:p>
                      <a:r>
                        <a:rPr sz="1600" b="0">
                          <a:solidFill>
                            <a:srgbClr val="000000"/>
                          </a:solidFill>
                        </a:rPr>
                        <a:t>0.044</a:t>
                      </a:r>
                    </a:p>
                  </a:txBody>
                  <a:tcPr marL="60000" marR="60000" marT="20000" marB="20000" anchor="ctr"/>
                </a:tc>
              </a:tr>
              <a:tr h="520000">
                <a:tc>
                  <a:txBody>
                    <a:bodyPr wrap="square"/>
                    <a:lstStyle/>
                    <a:p>
                      <a:r>
                        <a:rPr sz="1600" b="0">
                          <a:solidFill>
                            <a:srgbClr val="000000"/>
                          </a:solidFill>
                        </a:rPr>
                        <a:t>Without IL66B</a:t>
                      </a:r>
                    </a:p>
                  </a:txBody>
                  <a:tcPr marL="60000" marR="60000" marT="20000" marB="20000" anchor="ctr"/>
                </a:tc>
                <a:tc>
                  <a:txBody>
                    <a:bodyPr wrap="square"/>
                    <a:lstStyle/>
                    <a:p>
                      <a:r>
                        <a:rPr sz="1600" b="0">
                          <a:solidFill>
                            <a:srgbClr val="000000"/>
                          </a:solidFill>
                        </a:rPr>
                        <a:t>140</a:t>
                      </a:r>
                    </a:p>
                  </a:txBody>
                  <a:tcPr marL="60000" marR="60000" marT="20000" marB="20000" anchor="ctr"/>
                </a:tc>
                <a:tc>
                  <a:txBody>
                    <a:bodyPr wrap="square"/>
                    <a:lstStyle/>
                    <a:p>
                      <a:r>
                        <a:rPr sz="1600" b="0">
                          <a:solidFill>
                            <a:srgbClr val="000000"/>
                          </a:solidFill>
                        </a:rPr>
                        <a:t>0.309</a:t>
                      </a:r>
                    </a:p>
                  </a:txBody>
                  <a:tcPr marL="60000" marR="60000" marT="20000" marB="20000" anchor="ctr"/>
                </a:tc>
                <a:tc>
                  <a:txBody>
                    <a:bodyPr wrap="square"/>
                    <a:lstStyle/>
                    <a:p>
                      <a:r>
                        <a:rPr sz="1600" b="0">
                          <a:solidFill>
                            <a:srgbClr val="000000"/>
                          </a:solidFill>
                        </a:rPr>
                        <a:t>3 / 16</a:t>
                      </a:r>
                    </a:p>
                  </a:txBody>
                  <a:tcPr marL="60000" marR="60000" marT="20000" marB="20000" anchor="ctr"/>
                </a:tc>
                <a:tc>
                  <a:txBody>
                    <a:bodyPr wrap="square"/>
                    <a:lstStyle/>
                    <a:p>
                      <a:r>
                        <a:rPr sz="1600" b="0">
                          <a:solidFill>
                            <a:srgbClr val="000000"/>
                          </a:solidFill>
                        </a:rPr>
                        <a:t>−0.50</a:t>
                      </a:r>
                    </a:p>
                  </a:txBody>
                  <a:tcPr marL="60000" marR="60000" marT="20000" marB="20000" anchor="ctr"/>
                </a:tc>
                <a:tc>
                  <a:txBody>
                    <a:bodyPr wrap="square"/>
                    <a:lstStyle/>
                    <a:p>
                      <a:r>
                        <a:rPr sz="1600" b="0">
                          <a:solidFill>
                            <a:srgbClr val="000000"/>
                          </a:solidFill>
                        </a:rPr>
                        <a:t>0.066</a:t>
                      </a:r>
                    </a:p>
                  </a:txBody>
                  <a:tcPr marL="60000" marR="60000" marT="20000" marB="20000" anchor="ctr"/>
                </a:tc>
              </a:tr>
            </a:tbl>
          </a:graphicData>
        </a:graphic>
      </p:graphicFrame>
      <p:sp>
        <p:nvSpPr>
          <p:cNvPr id="4" name="TextBox 3"/>
          <p:cNvSpPr txBox="1"/>
          <p:nvPr/>
        </p:nvSpPr>
        <p:spPr>
          <a:xfrm>
            <a:off x="1750000" y="3850000"/>
            <a:ext cx="10150000" cy="1200000"/>
          </a:xfrm>
          <a:prstGeom prst="rect">
            <a:avLst/>
          </a:prstGeom>
          <a:noFill/>
        </p:spPr>
        <p:txBody>
          <a:bodyPr wrap="square" lIns="0" rIns="0" tIns="0" bIns="0">
            <a:spAutoFit/>
          </a:bodyPr>
          <a:lstStyle/>
          <a:p>
            <a:pPr>
              <a:spcBef>
                <a:spcPts val="0"/>
              </a:spcBef>
              <a:spcAft>
                <a:spcPts val="0"/>
              </a:spcAft>
            </a:pPr>
            <a:r>
              <a:rPr sz="1500" b="0">
                <a:solidFill>
                  <a:srgbClr val="191D63"/>
                </a:solidFill>
              </a:rPr>
              <a:t>Every step re-run from counts: differential expression, GSEA (seed 1234), subtype scoring, drug ranking. IL68B was chosen because it carries the ribosomal-protein fall; IL66B because it is the library-QC outlier. Both choices were made after seeing the data.</a:t>
            </a:r>
          </a:p>
        </p:txBody>
      </p:sp>
      <p:sp>
        <p:nvSpPr>
          <p:cNvPr id="5" name="TextBox 4"/>
          <p:cNvSpPr txBox="1"/>
          <p:nvPr/>
        </p:nvSpPr>
        <p:spPr>
          <a:xfrm>
            <a:off x="1750000" y="6380000"/>
            <a:ext cx="10150000" cy="420000"/>
          </a:xfrm>
          <a:prstGeom prst="rect">
            <a:avLst/>
          </a:prstGeom>
          <a:noFill/>
        </p:spPr>
        <p:txBody>
          <a:bodyPr wrap="square" lIns="0" rIns="0" tIns="0" bIns="0">
            <a:spAutoFit/>
          </a:bodyPr>
          <a:lstStyle/>
          <a:p>
            <a:pPr>
              <a:spcBef>
                <a:spcPts val="0"/>
              </a:spcBef>
              <a:spcAft>
                <a:spcPts val="0"/>
              </a:spcAft>
            </a:pPr>
            <a:r>
              <a:rPr sz="1000" b="0">
                <a:solidFill>
                  <a:srgbClr val="7A7A7A"/>
                </a:solidFill>
              </a:rPr>
              <a:t>ANALYSIS/holdout_IL68B and holdout_IL66B, comparison.json; ciclopirox ranks from the exact-name ChEMBL rerun (ANALYSIS/drug_rematch). Subtype p here is the published TPM-based GSVA run.</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1750000" y="300000"/>
            <a:ext cx="10150000" cy="1000000"/>
          </a:xfrm>
        </p:spPr>
        <p:txBody>
          <a:bodyPr wrap="square" anchor="b"/>
          <a:lstStyle/>
          <a:p>
            <a:r>
              <a:rPr sz="3000" b="1">
                <a:solidFill>
                  <a:srgbClr val="191D63"/>
                </a:solidFill>
              </a:rPr>
              <a:t>Backup B3. CIBERSORT deconvolution of the Neftel states</a:t>
            </a:r>
          </a:p>
        </p:txBody>
      </p:sp>
      <p:pic>
        <p:nvPicPr>
          <p:cNvPr id="3" name="Picture 2" descr="fig_cibersort.png"/>
          <p:cNvPicPr>
            <a:picLocks noChangeAspect="1"/>
          </p:cNvPicPr>
          <p:nvPr/>
        </p:nvPicPr>
        <p:blipFill>
          <a:blip r:embed="rId2"/>
          <a:stretch>
            <a:fillRect/>
          </a:stretch>
        </p:blipFill>
        <p:spPr>
          <a:xfrm>
            <a:off x="1750000" y="1420000"/>
            <a:ext cx="6400000" cy="4044569"/>
          </a:xfrm>
          <a:prstGeom prst="rect">
            <a:avLst/>
          </a:prstGeom>
        </p:spPr>
      </p:pic>
      <p:sp>
        <p:nvSpPr>
          <p:cNvPr id="4" name="TextBox 3"/>
          <p:cNvSpPr txBox="1"/>
          <p:nvPr/>
        </p:nvSpPr>
        <p:spPr>
          <a:xfrm>
            <a:off x="8450000" y="1440000"/>
            <a:ext cx="3450000" cy="4810000"/>
          </a:xfrm>
          <a:prstGeom prst="rect">
            <a:avLst/>
          </a:prstGeom>
          <a:noFill/>
        </p:spPr>
        <p:txBody>
          <a:bodyPr wrap="square" lIns="0" rIns="0" tIns="0" bIns="0">
            <a:spAutoFit/>
          </a:bodyPr>
          <a:lstStyle/>
          <a:p>
            <a:pPr>
              <a:spcBef>
                <a:spcPts val="0"/>
              </a:spcBef>
              <a:spcAft>
                <a:spcPts val="800"/>
              </a:spcAft>
            </a:pPr>
            <a:r>
              <a:rPr sz="1400" b="0">
                <a:solidFill>
                  <a:srgbClr val="191D63"/>
                </a:solidFill>
              </a:rPr>
              <a:t>CIBERSORT v1.04¹⁰, signature built from Neftel⁷ single-cell profiles. P &lt; 0.05 in every library, but fit r 0.19–0.26 in the tumors and the culture: significant against random mixtures, poor as a description.</a:t>
            </a:r>
          </a:p>
          <a:p>
            <a:pPr>
              <a:spcBef>
                <a:spcPts val="0"/>
              </a:spcBef>
              <a:spcAft>
                <a:spcPts val="800"/>
              </a:spcAft>
            </a:pPr>
            <a:r>
              <a:rPr sz="1400" b="0">
                <a:solidFill>
                  <a:srgbClr val="191D63"/>
                </a:solidFill>
              </a:rPr>
              <a:t>The rat-brain controls, almost no human reads, get fractions too (fit r 0.10–0.17).</a:t>
            </a:r>
          </a:p>
          <a:p>
            <a:pPr>
              <a:spcBef>
                <a:spcPts val="0"/>
              </a:spcBef>
              <a:spcAft>
                <a:spcPts val="800"/>
              </a:spcAft>
            </a:pPr>
            <a:r>
              <a:rPr sz="1400" b="0">
                <a:solidFill>
                  <a:srgbClr val="191D63"/>
                </a:solidFill>
              </a:rPr>
              <a:t>AC-like 0.22 → 0.27, opposite to the GSVA score; MES-like 0.51 → 0.39.</a:t>
            </a:r>
          </a:p>
          <a:p>
            <a:pPr>
              <a:spcBef>
                <a:spcPts val="0"/>
              </a:spcBef>
              <a:spcAft>
                <a:spcPts val="800"/>
              </a:spcAft>
            </a:pPr>
            <a:r>
              <a:rPr sz="1400" b="0">
                <a:solidFill>
                  <a:srgbClr val="191D63"/>
                </a:solidFill>
              </a:rPr>
              <a:t>Across the five runs with tumor-state columns (three Neftel builds, two GLASS), no state differs at P &lt; 0.05; GLASS proliferating stem-like is higher in all three recurrences (P 0.06–0.08).</a:t>
            </a:r>
          </a:p>
        </p:txBody>
      </p:sp>
      <p:sp>
        <p:nvSpPr>
          <p:cNvPr id="5" name="TextBox 4"/>
          <p:cNvSpPr txBox="1"/>
          <p:nvPr/>
        </p:nvSpPr>
        <p:spPr>
          <a:xfrm>
            <a:off x="1750000" y="6380000"/>
            <a:ext cx="10150000" cy="420000"/>
          </a:xfrm>
          <a:prstGeom prst="rect">
            <a:avLst/>
          </a:prstGeom>
          <a:noFill/>
        </p:spPr>
        <p:txBody>
          <a:bodyPr wrap="square" lIns="0" rIns="0" tIns="0" bIns="0">
            <a:spAutoFit/>
          </a:bodyPr>
          <a:lstStyle/>
          <a:p>
            <a:pPr>
              <a:spcBef>
                <a:spcPts val="0"/>
              </a:spcBef>
              <a:spcAft>
                <a:spcPts val="0"/>
              </a:spcAft>
            </a:pPr>
            <a:r>
              <a:rPr sz="1000" b="0">
                <a:solidFill>
                  <a:srgbClr val="7A7A7A"/>
                </a:solidFill>
              </a:rPr>
              <a:t>7. Neftel C, et al. Cell 2019;178:835–849.   10. Newman AM, et al. Nat Methods 2015;12:453–457.   Relative mode, 1,000 permutations, no quantile normalisation; Ivy GAP, glioma atlas, LM22 and BayesPrism references have no tumor-state columns; ANALYSIS/cibersort.</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1750000" y="300000"/>
            <a:ext cx="10150000" cy="1000000"/>
          </a:xfrm>
        </p:spPr>
        <p:txBody>
          <a:bodyPr wrap="square" anchor="b"/>
          <a:lstStyle/>
          <a:p>
            <a:r>
              <a:rPr sz="3000" b="1">
                <a:solidFill>
                  <a:srgbClr val="191D63"/>
                </a:solidFill>
              </a:rPr>
              <a:t>Backup B4. What is already known about the top twenty</a:t>
            </a:r>
          </a:p>
        </p:txBody>
      </p:sp>
      <p:pic>
        <p:nvPicPr>
          <p:cNvPr id="3" name="Picture 2" descr="table_prior_art.png"/>
          <p:cNvPicPr>
            <a:picLocks noChangeAspect="1"/>
          </p:cNvPicPr>
          <p:nvPr/>
        </p:nvPicPr>
        <p:blipFill>
          <a:blip r:embed="rId2"/>
          <a:stretch>
            <a:fillRect/>
          </a:stretch>
        </p:blipFill>
        <p:spPr>
          <a:xfrm>
            <a:off x="4193499" y="1420000"/>
            <a:ext cx="5263001" cy="4830000"/>
          </a:xfrm>
          <a:prstGeom prst="rect">
            <a:avLst/>
          </a:prstGeom>
        </p:spPr>
      </p:pic>
      <p:sp>
        <p:nvSpPr>
          <p:cNvPr id="4" name="TextBox 3"/>
          <p:cNvSpPr txBox="1"/>
          <p:nvPr/>
        </p:nvSpPr>
        <p:spPr>
          <a:xfrm>
            <a:off x="1750000" y="6380000"/>
            <a:ext cx="10150000" cy="420000"/>
          </a:xfrm>
          <a:prstGeom prst="rect">
            <a:avLst/>
          </a:prstGeom>
          <a:noFill/>
        </p:spPr>
        <p:txBody>
          <a:bodyPr wrap="square" lIns="0" rIns="0" tIns="0" bIns="0">
            <a:spAutoFit/>
          </a:bodyPr>
          <a:lstStyle/>
          <a:p>
            <a:pPr>
              <a:spcBef>
                <a:spcPts val="0"/>
              </a:spcBef>
              <a:spcAft>
                <a:spcPts val="0"/>
              </a:spcAft>
            </a:pPr>
            <a:r>
              <a:rPr sz="1000" b="0">
                <a:solidFill>
                  <a:srgbClr val="7A7A7A"/>
                </a:solidFill>
              </a:rPr>
              <a:t>20. Su Z, et al. Cell Death Dis 2021;12:251.   Tier A: in vivo or clinical glioma evidence (ciclopirox²⁰); B: in vitro or contested; C: none, failed or not a therapy. PubMed per compound.</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1750000" y="300000"/>
            <a:ext cx="10150000" cy="1000000"/>
          </a:xfrm>
        </p:spPr>
        <p:txBody>
          <a:bodyPr wrap="square" anchor="b"/>
          <a:lstStyle/>
          <a:p>
            <a:r>
              <a:rPr sz="3000" b="1">
                <a:solidFill>
                  <a:srgbClr val="191D63"/>
                </a:solidFill>
              </a:rPr>
              <a:t>Backup B5. Sample-to-sample distances</a:t>
            </a:r>
          </a:p>
        </p:txBody>
      </p:sp>
      <p:pic>
        <p:nvPicPr>
          <p:cNvPr id="3" name="Picture 2" descr="fig_sample_dist.png"/>
          <p:cNvPicPr>
            <a:picLocks noChangeAspect="1"/>
          </p:cNvPicPr>
          <p:nvPr/>
        </p:nvPicPr>
        <p:blipFill>
          <a:blip r:embed="rId2"/>
          <a:stretch>
            <a:fillRect/>
          </a:stretch>
        </p:blipFill>
        <p:spPr>
          <a:xfrm>
            <a:off x="1750000" y="1420000"/>
            <a:ext cx="6300000" cy="3975656"/>
          </a:xfrm>
          <a:prstGeom prst="rect">
            <a:avLst/>
          </a:prstGeom>
        </p:spPr>
      </p:pic>
      <p:sp>
        <p:nvSpPr>
          <p:cNvPr id="4" name="TextBox 3"/>
          <p:cNvSpPr txBox="1"/>
          <p:nvPr/>
        </p:nvSpPr>
        <p:spPr>
          <a:xfrm>
            <a:off x="8350000" y="1480000"/>
            <a:ext cx="3550000" cy="4770000"/>
          </a:xfrm>
          <a:prstGeom prst="rect">
            <a:avLst/>
          </a:prstGeom>
          <a:noFill/>
        </p:spPr>
        <p:txBody>
          <a:bodyPr wrap="square" lIns="0" rIns="0" tIns="0" bIns="0">
            <a:spAutoFit/>
          </a:bodyPr>
          <a:lstStyle/>
          <a:p>
            <a:pPr>
              <a:spcBef>
                <a:spcPts val="0"/>
              </a:spcBef>
              <a:spcAft>
                <a:spcPts val="1200"/>
              </a:spcAft>
            </a:pPr>
            <a:r>
              <a:rPr sz="1600" b="0">
                <a:solidFill>
                  <a:srgbClr val="191D63"/>
                </a:solidFill>
              </a:rPr>
              <a:t>Euclidean distance on rlog expression, all genes, hierarchical clustering (the DESeq2 quality-control view).</a:t>
            </a:r>
          </a:p>
          <a:p>
            <a:pPr>
              <a:spcBef>
                <a:spcPts val="0"/>
              </a:spcBef>
              <a:spcAft>
                <a:spcPts val="1200"/>
              </a:spcAft>
            </a:pPr>
            <a:r>
              <a:rPr sz="1600" b="0">
                <a:solidFill>
                  <a:srgbClr val="191D63"/>
                </a:solidFill>
              </a:rPr>
              <a:t>The two NL recurrences pair; IL68B stands apart from everything; IL66B joins the other two primaries.</a:t>
            </a:r>
          </a:p>
          <a:p>
            <a:pPr>
              <a:spcBef>
                <a:spcPts val="0"/>
              </a:spcBef>
              <a:spcAft>
                <a:spcPts val="1200"/>
              </a:spcAft>
            </a:pPr>
            <a:r>
              <a:rPr sz="1600" b="0">
                <a:solidFill>
                  <a:srgbClr val="191D63"/>
                </a:solidFill>
              </a:rPr>
              <a:t>Unsupervised clustering does not recover the arms: whatever separates them is a few coordinated programs, not the whole transcriptome.</a:t>
            </a:r>
          </a:p>
        </p:txBody>
      </p:sp>
      <p:sp>
        <p:nvSpPr>
          <p:cNvPr id="5" name="TextBox 4"/>
          <p:cNvSpPr txBox="1"/>
          <p:nvPr/>
        </p:nvSpPr>
        <p:spPr>
          <a:xfrm>
            <a:off x="1750000" y="6380000"/>
            <a:ext cx="10150000" cy="420000"/>
          </a:xfrm>
          <a:prstGeom prst="rect">
            <a:avLst/>
          </a:prstGeom>
          <a:noFill/>
        </p:spPr>
        <p:txBody>
          <a:bodyPr wrap="square" lIns="0" rIns="0" tIns="0" bIns="0">
            <a:spAutoFit/>
          </a:bodyPr>
          <a:lstStyle/>
          <a:p>
            <a:pPr>
              <a:spcBef>
                <a:spcPts val="0"/>
              </a:spcBef>
              <a:spcAft>
                <a:spcPts val="0"/>
              </a:spcAft>
            </a:pPr>
            <a:r>
              <a:rPr sz="1000" b="0">
                <a:solidFill>
                  <a:srgbClr val="7A7A7A"/>
                </a:solidFill>
              </a:rPr>
              <a:t>Orthotopic U251N glioblastoma xenograft in the athymic rat, MRI-guided LITT; bulk RNA-seq of primary and recurrent tumors, n = 3 per arm; GEO GSE338105.</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1750000" y="300000"/>
            <a:ext cx="10150000" cy="1000000"/>
          </a:xfrm>
        </p:spPr>
        <p:txBody>
          <a:bodyPr wrap="square" anchor="b"/>
          <a:lstStyle/>
          <a:p>
            <a:r>
              <a:rPr sz="3000" b="1">
                <a:solidFill>
                  <a:srgbClr val="191D63"/>
                </a:solidFill>
              </a:rPr>
              <a:t>Backup B6. The strongest gene sets in each direction</a:t>
            </a:r>
          </a:p>
        </p:txBody>
      </p:sp>
      <p:pic>
        <p:nvPicPr>
          <p:cNvPr id="3" name="Picture 2" descr="fig_gsea_dotplot.png"/>
          <p:cNvPicPr>
            <a:picLocks noChangeAspect="1"/>
          </p:cNvPicPr>
          <p:nvPr/>
        </p:nvPicPr>
        <p:blipFill>
          <a:blip r:embed="rId2"/>
          <a:stretch>
            <a:fillRect/>
          </a:stretch>
        </p:blipFill>
        <p:spPr>
          <a:xfrm>
            <a:off x="1750000" y="1420000"/>
            <a:ext cx="10150000" cy="3987894"/>
          </a:xfrm>
          <a:prstGeom prst="rect">
            <a:avLst/>
          </a:prstGeom>
        </p:spPr>
      </p:pic>
      <p:sp>
        <p:nvSpPr>
          <p:cNvPr id="4" name="TextBox 3"/>
          <p:cNvSpPr txBox="1"/>
          <p:nvPr/>
        </p:nvSpPr>
        <p:spPr>
          <a:xfrm>
            <a:off x="1750000" y="5467894"/>
            <a:ext cx="10150000" cy="782106"/>
          </a:xfrm>
          <a:prstGeom prst="rect">
            <a:avLst/>
          </a:prstGeom>
          <a:noFill/>
        </p:spPr>
        <p:txBody>
          <a:bodyPr wrap="square" lIns="0" rIns="0" tIns="0" bIns="0">
            <a:spAutoFit/>
          </a:bodyPr>
          <a:lstStyle/>
          <a:p>
            <a:pPr>
              <a:spcBef>
                <a:spcPts val="0"/>
              </a:spcBef>
              <a:spcAft>
                <a:spcPts val="400"/>
              </a:spcAft>
            </a:pPr>
            <a:r>
              <a:rPr sz="1500" b="0">
                <a:solidFill>
                  <a:srgbClr val="191D63"/>
                </a:solidFill>
              </a:rPr>
              <a:t>Down in recurrence: the ribosomal-protein block (six sets at q &lt; 0.25). Up: mitotic and cell-cycle sets lead, none below q = 0.61.</a:t>
            </a:r>
          </a:p>
        </p:txBody>
      </p:sp>
      <p:sp>
        <p:nvSpPr>
          <p:cNvPr id="5" name="TextBox 4"/>
          <p:cNvSpPr txBox="1"/>
          <p:nvPr/>
        </p:nvSpPr>
        <p:spPr>
          <a:xfrm>
            <a:off x="1750000" y="6380000"/>
            <a:ext cx="10150000" cy="420000"/>
          </a:xfrm>
          <a:prstGeom prst="rect">
            <a:avLst/>
          </a:prstGeom>
          <a:noFill/>
        </p:spPr>
        <p:txBody>
          <a:bodyPr wrap="square" lIns="0" rIns="0" tIns="0" bIns="0">
            <a:spAutoFit/>
          </a:bodyPr>
          <a:lstStyle/>
          <a:p>
            <a:pPr>
              <a:spcBef>
                <a:spcPts val="0"/>
              </a:spcBef>
              <a:spcAft>
                <a:spcPts val="0"/>
              </a:spcAft>
            </a:pPr>
            <a:r>
              <a:rPr sz="1000" b="0">
                <a:solidFill>
                  <a:srgbClr val="7A7A7A"/>
                </a:solidFill>
              </a:rPr>
              <a:t>6. Subramanian A, et al. Proc Natl Acad Sci USA 2005;102:15545–15550.   Broad GSEA⁶, 8,869 sets; point size, set size; colour, FDR q.</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1750000" y="300000"/>
            <a:ext cx="10150000" cy="1000000"/>
          </a:xfrm>
        </p:spPr>
        <p:txBody>
          <a:bodyPr wrap="square" anchor="b"/>
          <a:lstStyle/>
          <a:p>
            <a:r>
              <a:rPr sz="3000" b="1">
                <a:solidFill>
                  <a:srgbClr val="191D63"/>
                </a:solidFill>
              </a:rPr>
              <a:t>Backup B7. The rat host tissue in recurrence (preliminary)</a:t>
            </a:r>
          </a:p>
        </p:txBody>
      </p:sp>
      <p:pic>
        <p:nvPicPr>
          <p:cNvPr id="3" name="Picture 2" descr="fig_host_volcano.png"/>
          <p:cNvPicPr>
            <a:picLocks noChangeAspect="1"/>
          </p:cNvPicPr>
          <p:nvPr/>
        </p:nvPicPr>
        <p:blipFill>
          <a:blip r:embed="rId2"/>
          <a:stretch>
            <a:fillRect/>
          </a:stretch>
        </p:blipFill>
        <p:spPr>
          <a:xfrm>
            <a:off x="1750000" y="1420000"/>
            <a:ext cx="6400000" cy="4746067"/>
          </a:xfrm>
          <a:prstGeom prst="rect">
            <a:avLst/>
          </a:prstGeom>
        </p:spPr>
      </p:pic>
      <p:sp>
        <p:nvSpPr>
          <p:cNvPr id="4" name="TextBox 3"/>
          <p:cNvSpPr txBox="1"/>
          <p:nvPr/>
        </p:nvSpPr>
        <p:spPr>
          <a:xfrm>
            <a:off x="8450000" y="1440000"/>
            <a:ext cx="3450000" cy="4810000"/>
          </a:xfrm>
          <a:prstGeom prst="rect">
            <a:avLst/>
          </a:prstGeom>
          <a:noFill/>
        </p:spPr>
        <p:txBody>
          <a:bodyPr wrap="square" lIns="0" rIns="0" tIns="0" bIns="0">
            <a:spAutoFit/>
          </a:bodyPr>
          <a:lstStyle/>
          <a:p>
            <a:pPr>
              <a:spcBef>
                <a:spcPts val="0"/>
              </a:spcBef>
              <a:spcAft>
                <a:spcPts val="800"/>
              </a:spcAft>
            </a:pPr>
            <a:r>
              <a:rPr sz="1400" b="0">
                <a:solidFill>
                  <a:srgbClr val="191D63"/>
                </a:solidFill>
              </a:rPr>
              <a:t>Rat reads only, 3 v 3, the tumor's rule (FDR &lt; 0.05 and two-fold): 33 genes, 19 down and 14 up.</a:t>
            </a:r>
          </a:p>
          <a:p>
            <a:pPr>
              <a:spcBef>
                <a:spcPts val="0"/>
              </a:spcBef>
              <a:spcAft>
                <a:spcPts val="800"/>
              </a:spcAft>
            </a:pPr>
            <a:r>
              <a:rPr sz="1400" b="0">
                <a:solidFill>
                  <a:srgbClr val="191D63"/>
                </a:solidFill>
              </a:rPr>
              <a:t>Holds when any tumor is left out: Mmp13, Ceacam4, Hbb down (Mmp13 about 41-fold), Ocstamp up. Not human reads: human MMP13 at most 7 reads per tumor.</a:t>
            </a:r>
          </a:p>
          <a:p>
            <a:pPr>
              <a:spcBef>
                <a:spcPts val="0"/>
              </a:spcBef>
              <a:spcAft>
                <a:spcPts val="800"/>
              </a:spcAft>
            </a:pPr>
            <a:r>
              <a:rPr sz="1400" b="0">
                <a:solidFill>
                  <a:srgbClr val="191D63"/>
                </a:solidFill>
              </a:rPr>
              <a:t>The rest is unstable: leaving out one tumor keeps 8–19 of the 38; no gene set passes FDR 0.25 (4,843 sets, lowest 0.33).</a:t>
            </a:r>
          </a:p>
          <a:p>
            <a:pPr>
              <a:spcBef>
                <a:spcPts val="0"/>
              </a:spcBef>
              <a:spcAft>
                <a:spcPts val="800"/>
              </a:spcAft>
            </a:pPr>
            <a:r>
              <a:rPr sz="1400" b="0">
                <a:solidFill>
                  <a:srgbClr val="191D63"/>
                </a:solidFill>
              </a:rPr>
              <a:t>The true grouping ranks 2 of the 10 possible 3 v 3 splits; the largest (rats 69, 70, 71 against the rest, 2,752 genes) follows immune infiltration, not treatment. The interferon/lymphocyte rise comes from rats 70 and 71.</a:t>
            </a:r>
          </a:p>
        </p:txBody>
      </p:sp>
      <p:sp>
        <p:nvSpPr>
          <p:cNvPr id="5" name="TextBox 4"/>
          <p:cNvSpPr txBox="1"/>
          <p:nvPr/>
        </p:nvSpPr>
        <p:spPr>
          <a:xfrm>
            <a:off x="1750000" y="6380000"/>
            <a:ext cx="10150000" cy="420000"/>
          </a:xfrm>
          <a:prstGeom prst="rect">
            <a:avLst/>
          </a:prstGeom>
          <a:noFill/>
        </p:spPr>
        <p:txBody>
          <a:bodyPr wrap="square" lIns="0" rIns="0" tIns="0" bIns="0">
            <a:spAutoFit/>
          </a:bodyPr>
          <a:lstStyle/>
          <a:p>
            <a:pPr>
              <a:spcBef>
                <a:spcPts val="0"/>
              </a:spcBef>
              <a:spcAft>
                <a:spcPts val="0"/>
              </a:spcAft>
            </a:pPr>
            <a:r>
              <a:rPr sz="1000" b="0">
                <a:solidFill>
                  <a:srgbClr val="7A7A7A"/>
                </a:solidFill>
              </a:rPr>
              <a:t>5. Love MI, et al. Genome Biol 2014;15:550.   Preliminary: different rats per arm; LITT, time and the ablation wound cannot be separated. Broad GSEA from the pipeline; leave-one-out and relabelling from a rerun that reproduces the pipeline's 38 genes. DESeq2⁵.</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1750000" y="300000"/>
            <a:ext cx="10150000" cy="1000000"/>
          </a:xfrm>
        </p:spPr>
        <p:txBody>
          <a:bodyPr wrap="square" anchor="b"/>
          <a:lstStyle/>
          <a:p>
            <a:r>
              <a:rPr sz="3000" b="1">
                <a:solidFill>
                  <a:srgbClr val="191D63"/>
                </a:solidFill>
              </a:rPr>
              <a:t>How much of the difference is simply less tumor? An exact split</a:t>
            </a:r>
          </a:p>
        </p:txBody>
      </p:sp>
      <p:pic>
        <p:nvPicPr>
          <p:cNvPr id="3" name="Picture 2" descr="fig2a_shapley_de_genes.png"/>
          <p:cNvPicPr>
            <a:picLocks noChangeAspect="1"/>
          </p:cNvPicPr>
          <p:nvPr/>
        </p:nvPicPr>
        <p:blipFill>
          <a:blip r:embed="rId2"/>
          <a:stretch>
            <a:fillRect/>
          </a:stretch>
        </p:blipFill>
        <p:spPr>
          <a:xfrm>
            <a:off x="4398073" y="1420000"/>
            <a:ext cx="4853853" cy="2830000"/>
          </a:xfrm>
          <a:prstGeom prst="rect">
            <a:avLst/>
          </a:prstGeom>
        </p:spPr>
      </p:pic>
      <p:sp>
        <p:nvSpPr>
          <p:cNvPr id="4" name="TextBox 3"/>
          <p:cNvSpPr txBox="1"/>
          <p:nvPr/>
        </p:nvSpPr>
        <p:spPr>
          <a:xfrm>
            <a:off x="1750000" y="4330000"/>
            <a:ext cx="10150000" cy="1920000"/>
          </a:xfrm>
          <a:prstGeom prst="rect">
            <a:avLst/>
          </a:prstGeom>
          <a:noFill/>
        </p:spPr>
        <p:txBody>
          <a:bodyPr wrap="square" lIns="0" rIns="0" tIns="0" bIns="0">
            <a:spAutoFit/>
          </a:bodyPr>
          <a:lstStyle/>
          <a:p>
            <a:pPr>
              <a:spcBef>
                <a:spcPts val="0"/>
              </a:spcBef>
              <a:spcAft>
                <a:spcPts val="800"/>
              </a:spcAft>
            </a:pPr>
            <a:r>
              <a:rPr sz="1500" b="0">
                <a:solidFill>
                  <a:srgbClr val="191D63"/>
                </a:solidFill>
              </a:rPr>
              <a:t>A human graft in a rat host: every read is assigned by species, so the bulk profile a patient sample would give can be rebuilt and each gene's fold change split exactly into composition, tumor-cell and host-cell terms.²¹</a:t>
            </a:r>
          </a:p>
          <a:p>
            <a:pPr>
              <a:spcBef>
                <a:spcPts val="0"/>
              </a:spcBef>
              <a:spcAft>
                <a:spcPts val="800"/>
              </a:spcAft>
            </a:pPr>
            <a:r>
              <a:rPr sz="1500" b="0">
                <a:solidFill>
                  <a:srgbClr val="191D63"/>
                </a:solidFill>
              </a:rPr>
              <a:t>Composition is the largest single term and still under half: 0.47 of the total fold change (0.45–0.47 across four sensitivities, 0.37 without one recurrence).</a:t>
            </a:r>
          </a:p>
          <a:p>
            <a:pPr>
              <a:spcBef>
                <a:spcPts val="0"/>
              </a:spcBef>
              <a:spcAft>
                <a:spcPts val="800"/>
              </a:spcAft>
            </a:pPr>
            <a:r>
              <a:rPr sz="1500" b="0">
                <a:solidFill>
                  <a:srgbClr val="4C70B7"/>
                </a:solidFill>
              </a:rPr>
              <a:t>Of the 133 genes a species-blind analysis calls differential, 13 % are composition-dominant: the genes it picks out are the ones where cells actually changed.</a:t>
            </a:r>
          </a:p>
        </p:txBody>
      </p:sp>
      <p:sp>
        <p:nvSpPr>
          <p:cNvPr id="5" name="TextBox 4"/>
          <p:cNvSpPr txBox="1"/>
          <p:nvPr/>
        </p:nvSpPr>
        <p:spPr>
          <a:xfrm>
            <a:off x="1750000" y="6380000"/>
            <a:ext cx="10150000" cy="420000"/>
          </a:xfrm>
          <a:prstGeom prst="rect">
            <a:avLst/>
          </a:prstGeom>
          <a:noFill/>
        </p:spPr>
        <p:txBody>
          <a:bodyPr wrap="square" lIns="0" rIns="0" tIns="0" bIns="0">
            <a:spAutoFit/>
          </a:bodyPr>
          <a:lstStyle/>
          <a:p>
            <a:pPr>
              <a:spcBef>
                <a:spcPts val="0"/>
              </a:spcBef>
              <a:spcAft>
                <a:spcPts val="0"/>
              </a:spcAft>
            </a:pPr>
            <a:r>
              <a:rPr sz="1000" b="0">
                <a:solidFill>
                  <a:srgbClr val="7A7A7A"/>
                </a:solidFill>
              </a:rPr>
              <a:t>21. Shen-Orr SS, et al. Nat Methods 2010;7:287–289.   Per-sample mixing identity, then Shapley attribution over the three factors; the terms sum to the fold change to 1e-15. Ensembl Compara one-to-one orthologs; n = 3 per arm. Orthotopic U251N glioblastoma xenograft in the athymic rat, MRI-guided LITT; bulk RNA-seq of primary and recurrent tumors, n = 3 per arm; GEO GSE338105.</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1750000" y="300000"/>
            <a:ext cx="10150000" cy="1000000"/>
          </a:xfrm>
        </p:spPr>
        <p:txBody>
          <a:bodyPr wrap="square" anchor="b"/>
          <a:lstStyle/>
          <a:p>
            <a:r>
              <a:rPr sz="3000" b="1">
                <a:solidFill>
                  <a:srgbClr val="191D63"/>
                </a:solidFill>
              </a:rPr>
              <a:t>Where the mesenchymal shift at recurrence comes from</a:t>
            </a:r>
          </a:p>
        </p:txBody>
      </p:sp>
      <p:pic>
        <p:nvPicPr>
          <p:cNvPr id="3" name="Picture 2" descr="fig2d_mes_human_vs_virtual.png"/>
          <p:cNvPicPr>
            <a:picLocks noChangeAspect="1"/>
          </p:cNvPicPr>
          <p:nvPr/>
        </p:nvPicPr>
        <p:blipFill>
          <a:blip r:embed="rId2"/>
          <a:stretch>
            <a:fillRect/>
          </a:stretch>
        </p:blipFill>
        <p:spPr>
          <a:xfrm>
            <a:off x="3615936" y="1420000"/>
            <a:ext cx="6418128" cy="2830000"/>
          </a:xfrm>
          <a:prstGeom prst="rect">
            <a:avLst/>
          </a:prstGeom>
        </p:spPr>
      </p:pic>
      <p:sp>
        <p:nvSpPr>
          <p:cNvPr id="4" name="TextBox 3"/>
          <p:cNvSpPr txBox="1"/>
          <p:nvPr/>
        </p:nvSpPr>
        <p:spPr>
          <a:xfrm>
            <a:off x="1750000" y="4330000"/>
            <a:ext cx="10150000" cy="1920000"/>
          </a:xfrm>
          <a:prstGeom prst="rect">
            <a:avLst/>
          </a:prstGeom>
          <a:noFill/>
        </p:spPr>
        <p:txBody>
          <a:bodyPr wrap="square" lIns="0" rIns="0" tIns="0" bIns="0">
            <a:spAutoFit/>
          </a:bodyPr>
          <a:lstStyle/>
          <a:p>
            <a:pPr>
              <a:spcBef>
                <a:spcPts val="0"/>
              </a:spcBef>
              <a:spcAft>
                <a:spcPts val="800"/>
              </a:spcAft>
            </a:pPr>
            <a:r>
              <a:rPr sz="1500" b="0">
                <a:solidFill>
                  <a:srgbClr val="191D63"/>
                </a:solidFill>
              </a:rPr>
              <a:t>In the tumor cells alone the mesenchymal score FALLS at recurrence⁷ — below every one of 1,000 draws of a dilution null for the Neftel program and 99.3 % of them for Wang.</a:t>
            </a:r>
          </a:p>
          <a:p>
            <a:pPr>
              <a:spcBef>
                <a:spcPts val="0"/>
              </a:spcBef>
              <a:spcAft>
                <a:spcPts val="800"/>
              </a:spcAft>
            </a:pPr>
            <a:r>
              <a:rPr sz="1500" b="0">
                <a:solidFill>
                  <a:srgbClr val="191D63"/>
                </a:solidFill>
              </a:rPr>
              <a:t>Adding the host reads moves the samples toward the bulk reading; that difference ranks 5 of 20 labellings, so a composition-generated shift is not shown at six animals.</a:t>
            </a:r>
          </a:p>
          <a:p>
            <a:pPr>
              <a:spcBef>
                <a:spcPts val="0"/>
              </a:spcBef>
              <a:spcAft>
                <a:spcPts val="800"/>
              </a:spcAft>
            </a:pPr>
            <a:r>
              <a:rPr sz="1500" b="0">
                <a:solidFill>
                  <a:srgbClr val="4C70B7"/>
                </a:solidFill>
              </a:rPr>
              <a:t>The rat-only mesenchymal score tracks myeloid content (Spearman 0.66 and 0.60 with both the deconvolved macrophage fraction and Ptprc/Cd68/Aif1): here the bulk mesenchymal signal is host tissue.²²</a:t>
            </a:r>
          </a:p>
        </p:txBody>
      </p:sp>
      <p:sp>
        <p:nvSpPr>
          <p:cNvPr id="5" name="TextBox 4"/>
          <p:cNvSpPr txBox="1"/>
          <p:nvPr/>
        </p:nvSpPr>
        <p:spPr>
          <a:xfrm>
            <a:off x="1750000" y="6380000"/>
            <a:ext cx="10150000" cy="420000"/>
          </a:xfrm>
          <a:prstGeom prst="rect">
            <a:avLst/>
          </a:prstGeom>
          <a:noFill/>
        </p:spPr>
        <p:txBody>
          <a:bodyPr wrap="square" lIns="0" rIns="0" tIns="0" bIns="0">
            <a:spAutoFit/>
          </a:bodyPr>
          <a:lstStyle/>
          <a:p>
            <a:pPr>
              <a:spcBef>
                <a:spcPts val="0"/>
              </a:spcBef>
              <a:spcAft>
                <a:spcPts val="0"/>
              </a:spcAft>
            </a:pPr>
            <a:r>
              <a:rPr sz="1000" b="0">
                <a:solidFill>
                  <a:srgbClr val="7A7A7A"/>
                </a:solidFill>
              </a:rPr>
              <a:t>7. Neftel C, et al. Cell 2019;178:835–849.   9. Hänzelmann S, et al. BMC Bioinformatics 2013;14:7.   22. Spitzer A, et al. Nat Genet 2025;57:1168–1178.   GSVA on TMM log-CPM; dilution null = the primary's human counts thinned to the recurrence's depth plus the measured assignment floor, 1,000 draws. Orthotopic U251N glioblastoma xenograft in the athymic rat, MRI-guided LITT; bulk RNA-seq of primary and recurrent tumors, n = 3 per arm; GEO GSE338105.</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1750000" y="300000"/>
            <a:ext cx="10150000" cy="1000000"/>
          </a:xfrm>
        </p:spPr>
        <p:txBody>
          <a:bodyPr wrap="square" anchor="b"/>
          <a:lstStyle/>
          <a:p>
            <a:r>
              <a:rPr sz="3000" b="1">
                <a:solidFill>
                  <a:srgbClr val="191D63"/>
                </a:solidFill>
              </a:rPr>
              <a:t>Tumor in the opposite hemisphere — and what it means in the OR</a:t>
            </a:r>
          </a:p>
        </p:txBody>
      </p:sp>
      <p:pic>
        <p:nvPicPr>
          <p:cNvPr id="3" name="Picture 2" descr="fig_c1_N2_over_core_bins.png"/>
          <p:cNvPicPr>
            <a:picLocks noChangeAspect="1"/>
          </p:cNvPicPr>
          <p:nvPr/>
        </p:nvPicPr>
        <p:blipFill>
          <a:blip r:embed="rId2"/>
          <a:stretch>
            <a:fillRect/>
          </a:stretch>
        </p:blipFill>
        <p:spPr>
          <a:xfrm>
            <a:off x="2348611" y="1420000"/>
            <a:ext cx="8952777" cy="2930000"/>
          </a:xfrm>
          <a:prstGeom prst="rect">
            <a:avLst/>
          </a:prstGeom>
        </p:spPr>
      </p:pic>
      <p:sp>
        <p:nvSpPr>
          <p:cNvPr id="4" name="TextBox 3"/>
          <p:cNvSpPr txBox="1"/>
          <p:nvPr/>
        </p:nvSpPr>
        <p:spPr>
          <a:xfrm>
            <a:off x="1750000" y="4430000"/>
            <a:ext cx="10150000" cy="1820000"/>
          </a:xfrm>
          <a:prstGeom prst="rect">
            <a:avLst/>
          </a:prstGeom>
          <a:noFill/>
        </p:spPr>
        <p:txBody>
          <a:bodyPr wrap="square" lIns="0" rIns="0" tIns="0" bIns="0">
            <a:spAutoFit/>
          </a:bodyPr>
          <a:lstStyle/>
          <a:p>
            <a:pPr>
              <a:spcBef>
                <a:spcPts val="0"/>
              </a:spcBef>
              <a:spcAft>
                <a:spcPts val="800"/>
              </a:spcAft>
            </a:pPr>
            <a:r>
              <a:rPr sz="1500" b="0">
                <a:solidFill>
                  <a:srgbClr val="191D63"/>
                </a:solidFill>
              </a:rPr>
              <a:t>Rat 69's opposite hemisphere: 4.9 % of reads human, the donor genotype at 56 of 59 identity probes, Y-chromosome dose 0.88, and the line's copy-number profile (r = 0.72, z = 8.4). Two platforms, three measurements that do not share a failure mode.</a:t>
            </a:r>
          </a:p>
          <a:p>
            <a:pPr>
              <a:spcBef>
                <a:spcPts val="0"/>
              </a:spcBef>
              <a:spcAft>
                <a:spcPts val="800"/>
              </a:spcAft>
            </a:pPr>
            <a:r>
              <a:rPr sz="1500" b="0">
                <a:solidFill>
                  <a:srgbClr val="191D63"/>
                </a:solidFill>
              </a:rPr>
              <a:t>It is not the core diluted: two of three pre-registered statistics reject a depth-matched dilution null (P &lt; 0.001). In the second contralateral hemisphere, from another animal, human reads are 0.5 %.</a:t>
            </a:r>
          </a:p>
          <a:p>
            <a:pPr>
              <a:spcBef>
                <a:spcPts val="0"/>
              </a:spcBef>
              <a:spcAft>
                <a:spcPts val="800"/>
              </a:spcAft>
            </a:pPr>
            <a:r>
              <a:rPr sz="1500" b="0">
                <a:solidFill>
                  <a:srgbClr val="4C70B7"/>
                </a:solidFill>
              </a:rPr>
              <a:t>We cannot separate cells that crossed in life from core tissue carried across on the blade. Either way, one pass of an instrument left tumor that sequencing detects and histology would not.²³</a:t>
            </a:r>
          </a:p>
        </p:txBody>
      </p:sp>
      <p:sp>
        <p:nvSpPr>
          <p:cNvPr id="5" name="TextBox 4"/>
          <p:cNvSpPr txBox="1"/>
          <p:nvPr/>
        </p:nvSpPr>
        <p:spPr>
          <a:xfrm>
            <a:off x="1750000" y="6380000"/>
            <a:ext cx="10150000" cy="420000"/>
          </a:xfrm>
          <a:prstGeom prst="rect">
            <a:avLst/>
          </a:prstGeom>
          <a:noFill/>
        </p:spPr>
        <p:txBody>
          <a:bodyPr wrap="square" lIns="0" rIns="0" tIns="0" bIns="0">
            <a:spAutoFit/>
          </a:bodyPr>
          <a:lstStyle/>
          <a:p>
            <a:pPr>
              <a:spcBef>
                <a:spcPts val="0"/>
              </a:spcBef>
              <a:spcAft>
                <a:spcPts val="0"/>
              </a:spcAft>
            </a:pPr>
            <a:r>
              <a:rPr sz="1000" b="0">
                <a:solidFill>
                  <a:srgbClr val="7A7A7A"/>
                </a:solidFill>
              </a:rPr>
              <a:t>23. Orjefelt E, et al. J Small Anim Pract 2026;67:528–533.   24. Steinmetz MP, et al. J Neurooncol 2001;55:167–171.   25. Bekar A, et al. World Neurosurg 2010;73:719–721.   Contralateral piece cut from the same frozen coronal slice as the tumor; copy number on human-specific probes with rat cross-hybridising probes removed, scaled to the parental culture.</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1750000" y="300000"/>
            <a:ext cx="10150000" cy="1000000"/>
          </a:xfrm>
        </p:spPr>
        <p:txBody>
          <a:bodyPr wrap="square" anchor="b"/>
          <a:lstStyle/>
          <a:p>
            <a:r>
              <a:rPr sz="3000" b="1">
                <a:solidFill>
                  <a:srgbClr val="191D63"/>
                </a:solidFill>
              </a:rPr>
              <a:t>Methylation: nothing survives correction, and what differs is tumor content</a:t>
            </a:r>
          </a:p>
        </p:txBody>
      </p:sp>
      <p:pic>
        <p:nvPicPr>
          <p:cNvPr id="3" name="Picture 2" descr="fig4b_dmp_counts.png"/>
          <p:cNvPicPr>
            <a:picLocks noChangeAspect="1"/>
          </p:cNvPicPr>
          <p:nvPr/>
        </p:nvPicPr>
        <p:blipFill>
          <a:blip r:embed="rId2"/>
          <a:stretch>
            <a:fillRect/>
          </a:stretch>
        </p:blipFill>
        <p:spPr>
          <a:xfrm>
            <a:off x="3745000" y="1420000"/>
            <a:ext cx="6159999" cy="3079999"/>
          </a:xfrm>
          <a:prstGeom prst="rect">
            <a:avLst/>
          </a:prstGeom>
        </p:spPr>
      </p:pic>
      <p:sp>
        <p:nvSpPr>
          <p:cNvPr id="4" name="TextBox 3"/>
          <p:cNvSpPr txBox="1"/>
          <p:nvPr/>
        </p:nvSpPr>
        <p:spPr>
          <a:xfrm>
            <a:off x="1750000" y="4579999"/>
            <a:ext cx="10150000" cy="1670001"/>
          </a:xfrm>
          <a:prstGeom prst="rect">
            <a:avLst/>
          </a:prstGeom>
          <a:noFill/>
        </p:spPr>
        <p:txBody>
          <a:bodyPr wrap="square" lIns="0" rIns="0" tIns="0" bIns="0">
            <a:spAutoFit/>
          </a:bodyPr>
          <a:lstStyle/>
          <a:p>
            <a:pPr>
              <a:spcBef>
                <a:spcPts val="0"/>
              </a:spcBef>
              <a:spcAft>
                <a:spcPts val="800"/>
              </a:spcAft>
            </a:pPr>
            <a:r>
              <a:rPr sz="1500" b="0">
                <a:solidFill>
                  <a:srgbClr val="191D63"/>
                </a:solidFill>
              </a:rPr>
              <a:t>No probe reaches FDR &lt; 0.05 in any design, on 866,238 probes at three against three.</a:t>
            </a:r>
          </a:p>
          <a:p>
            <a:pPr>
              <a:spcBef>
                <a:spcPts val="0"/>
              </a:spcBef>
              <a:spcAft>
                <a:spcPts val="800"/>
              </a:spcAft>
            </a:pPr>
            <a:r>
              <a:rPr sz="1500" b="0">
                <a:solidFill>
                  <a:srgbClr val="191D63"/>
                </a:solidFill>
              </a:rPr>
              <a:t>The arm difference is tumor content: the true split ranks 1 of 10 splits without a fraction covariate and 4 of 10 with it — in two independent pipelines and under all 14 published cross-species exclusion lists.</a:t>
            </a:r>
          </a:p>
          <a:p>
            <a:pPr>
              <a:spcBef>
                <a:spcPts val="0"/>
              </a:spcBef>
              <a:spcAft>
                <a:spcPts val="800"/>
              </a:spcAft>
            </a:pPr>
            <a:r>
              <a:rPr sz="1500" b="0">
                <a:solidFill>
                  <a:srgbClr val="4C70B7"/>
                </a:solidFill>
              </a:rPr>
              <a:t>MGMT-STP27²⁶ reads methylated on all eight arrays (0.995–0.998); the shift that would change a call is 0.45–0.48 beta, against observed shifts of −0.03 and +0.06. Status does not move.</a:t>
            </a:r>
          </a:p>
        </p:txBody>
      </p:sp>
      <p:sp>
        <p:nvSpPr>
          <p:cNvPr id="5" name="TextBox 4"/>
          <p:cNvSpPr txBox="1"/>
          <p:nvPr/>
        </p:nvSpPr>
        <p:spPr>
          <a:xfrm>
            <a:off x="1750000" y="6380000"/>
            <a:ext cx="10150000" cy="420000"/>
          </a:xfrm>
          <a:prstGeom prst="rect">
            <a:avLst/>
          </a:prstGeom>
          <a:noFill/>
        </p:spPr>
        <p:txBody>
          <a:bodyPr wrap="square" lIns="0" rIns="0" tIns="0" bIns="0">
            <a:spAutoFit/>
          </a:bodyPr>
          <a:lstStyle/>
          <a:p>
            <a:pPr>
              <a:spcBef>
                <a:spcPts val="0"/>
              </a:spcBef>
              <a:spcAft>
                <a:spcPts val="0"/>
              </a:spcAft>
            </a:pPr>
            <a:r>
              <a:rPr sz="1000" b="0">
                <a:solidFill>
                  <a:srgbClr val="7A7A7A"/>
                </a:solidFill>
              </a:rPr>
              <a:t>26. Bady P, Delorenzi M, Hegi ME. J Mol Diagn 2016;18:350–361.   Probes at p &lt; 0.001 for all ten balanced splits, per pipeline and design; the true split is orange. Bespoke pipeline and nf-core/methylarray, with and without the tumour-fraction covariate. Orthotopic U251N glioblastoma xenograft in the athymic rat, MRI-guided LITT; bulk RNA-seq of primary and recurrent tumors, n = 3 per arm; GEO GSE338105.</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1750000" y="300000"/>
            <a:ext cx="10150000" cy="1000000"/>
          </a:xfrm>
        </p:spPr>
        <p:txBody>
          <a:bodyPr wrap="square" anchor="b"/>
          <a:lstStyle/>
          <a:p>
            <a:r>
              <a:rPr sz="3000" b="1">
                <a:solidFill>
                  <a:srgbClr val="191D63"/>
                </a:solidFill>
              </a:rPr>
              <a:t>The experiment six animals size</a:t>
            </a:r>
          </a:p>
        </p:txBody>
      </p:sp>
      <p:pic>
        <p:nvPicPr>
          <p:cNvPr id="3" name="Picture 2" descr="fig6_rats_needed.png"/>
          <p:cNvPicPr>
            <a:picLocks noChangeAspect="1"/>
          </p:cNvPicPr>
          <p:nvPr/>
        </p:nvPicPr>
        <p:blipFill>
          <a:blip r:embed="rId2"/>
          <a:stretch>
            <a:fillRect/>
          </a:stretch>
        </p:blipFill>
        <p:spPr>
          <a:xfrm>
            <a:off x="1750000" y="1420000"/>
            <a:ext cx="4402025" cy="4830000"/>
          </a:xfrm>
          <a:prstGeom prst="rect">
            <a:avLst/>
          </a:prstGeom>
        </p:spPr>
      </p:pic>
      <p:sp>
        <p:nvSpPr>
          <p:cNvPr id="4" name="TextBox 3"/>
          <p:cNvSpPr txBox="1"/>
          <p:nvPr/>
        </p:nvSpPr>
        <p:spPr>
          <a:xfrm>
            <a:off x="6452025" y="1460000"/>
            <a:ext cx="5447975" cy="4790000"/>
          </a:xfrm>
          <a:prstGeom prst="rect">
            <a:avLst/>
          </a:prstGeom>
          <a:noFill/>
        </p:spPr>
        <p:txBody>
          <a:bodyPr wrap="square" lIns="0" rIns="0" tIns="0" bIns="0">
            <a:spAutoFit/>
          </a:bodyPr>
          <a:lstStyle/>
          <a:p>
            <a:pPr>
              <a:spcBef>
                <a:spcPts val="0"/>
              </a:spcBef>
              <a:spcAft>
                <a:spcPts val="1400"/>
              </a:spcAft>
            </a:pPr>
            <a:r>
              <a:rPr sz="1500" b="0">
                <a:solidFill>
                  <a:srgbClr val="191D63"/>
                </a:solidFill>
              </a:rPr>
              <a:t>Targets were written and hashed before any pilot number entered a calculation, and a pilot effect never sizes the study: it is marked on the curve, and the study is sized on the pre-stated effect at a pessimistic variance.²⁸</a:t>
            </a:r>
          </a:p>
          <a:p>
            <a:pPr>
              <a:spcBef>
                <a:spcPts val="0"/>
              </a:spcBef>
              <a:spcAft>
                <a:spcPts val="1400"/>
              </a:spcAft>
            </a:pPr>
            <a:r>
              <a:rPr sz="1500" b="0">
                <a:solidFill>
                  <a:srgbClr val="191D63"/>
                </a:solidFill>
              </a:rPr>
              <a:t>The binding constraint is the per-animal binary endpoint: 44 rats per arm to move invasion frequency 0.20 to 0.50, 27 for a 15-point difference in tumor content, 12 for the host response, and 29 control pieces to bound transfer at dissection at 10 %.</a:t>
            </a:r>
          </a:p>
          <a:p>
            <a:pPr>
              <a:spcBef>
                <a:spcPts val="0"/>
              </a:spcBef>
              <a:spcAft>
                <a:spcPts val="1400"/>
              </a:spcAft>
            </a:pPr>
            <a:r>
              <a:rPr sz="1500" b="0">
                <a:solidFill>
                  <a:srgbClr val="4C70B7"/>
                </a:solidFill>
              </a:rPr>
              <a:t>The clone-level test — are the cells that grew back the ones that had already left? — needs 9 to 16 barcoded animals, because the unit of inference becomes the clone rather than the animal.²⁷</a:t>
            </a:r>
          </a:p>
        </p:txBody>
      </p:sp>
      <p:sp>
        <p:nvSpPr>
          <p:cNvPr id="5" name="TextBox 4"/>
          <p:cNvSpPr txBox="1"/>
          <p:nvPr/>
        </p:nvSpPr>
        <p:spPr>
          <a:xfrm>
            <a:off x="1750000" y="6380000"/>
            <a:ext cx="10150000" cy="420000"/>
          </a:xfrm>
          <a:prstGeom prst="rect">
            <a:avLst/>
          </a:prstGeom>
          <a:noFill/>
        </p:spPr>
        <p:txBody>
          <a:bodyPr wrap="square" lIns="0" rIns="0" tIns="0" bIns="0">
            <a:spAutoFit/>
          </a:bodyPr>
          <a:lstStyle/>
          <a:p>
            <a:pPr>
              <a:spcBef>
                <a:spcPts val="0"/>
              </a:spcBef>
              <a:spcAft>
                <a:spcPts val="0"/>
              </a:spcAft>
            </a:pPr>
            <a:r>
              <a:rPr sz="1000" b="0">
                <a:solidFill>
                  <a:srgbClr val="7A7A7A"/>
                </a:solidFill>
              </a:rPr>
              <a:t>27. Barthel FP, et al. Nature 2019;576:112–120.   28. Browne RH. Stat Med 1995;14:1933–1940.   Power, interval half-width or Wilson lower bound against animals; dashed lines, the pre-stated targets; filled marks, the conservative sizing; open marks, the pilot point. Panels e and f are pending.</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1750000" y="300000"/>
            <a:ext cx="10150000" cy="1000000"/>
          </a:xfrm>
        </p:spPr>
        <p:txBody>
          <a:bodyPr wrap="square" anchor="b"/>
          <a:lstStyle/>
          <a:p>
            <a:r>
              <a:rPr sz="3000" b="1">
                <a:solidFill>
                  <a:srgbClr val="191D63"/>
                </a:solidFill>
              </a:rPr>
              <a:t>Backup B8. What each library is made of</a:t>
            </a:r>
          </a:p>
        </p:txBody>
      </p:sp>
      <p:pic>
        <p:nvPicPr>
          <p:cNvPr id="3" name="Picture 2" descr="fig1a_read_composition.png"/>
          <p:cNvPicPr>
            <a:picLocks noChangeAspect="1"/>
          </p:cNvPicPr>
          <p:nvPr/>
        </p:nvPicPr>
        <p:blipFill>
          <a:blip r:embed="rId2"/>
          <a:stretch>
            <a:fillRect/>
          </a:stretch>
        </p:blipFill>
        <p:spPr>
          <a:xfrm>
            <a:off x="1750000" y="1420000"/>
            <a:ext cx="6400000" cy="4549253"/>
          </a:xfrm>
          <a:prstGeom prst="rect">
            <a:avLst/>
          </a:prstGeom>
        </p:spPr>
      </p:pic>
      <p:sp>
        <p:nvSpPr>
          <p:cNvPr id="4" name="TextBox 3"/>
          <p:cNvSpPr txBox="1"/>
          <p:nvPr/>
        </p:nvSpPr>
        <p:spPr>
          <a:xfrm>
            <a:off x="8450000" y="1460000"/>
            <a:ext cx="3450000" cy="4790000"/>
          </a:xfrm>
          <a:prstGeom prst="rect">
            <a:avLst/>
          </a:prstGeom>
          <a:noFill/>
        </p:spPr>
        <p:txBody>
          <a:bodyPr wrap="square" lIns="0" rIns="0" tIns="0" bIns="0">
            <a:spAutoFit/>
          </a:bodyPr>
          <a:lstStyle/>
          <a:p>
            <a:pPr>
              <a:spcBef>
                <a:spcPts val="0"/>
              </a:spcBef>
              <a:spcAft>
                <a:spcPts val="1000"/>
              </a:spcAft>
            </a:pPr>
            <a:r>
              <a:rPr sz="1600" b="0">
                <a:solidFill>
                  <a:srgbClr val="191D63"/>
                </a:solidFill>
              </a:rPr>
              <a:t>Every read pair assigned by species before anything is counted: 87–94 % go to one species.</a:t>
            </a:r>
          </a:p>
          <a:p>
            <a:pPr>
              <a:spcBef>
                <a:spcPts val="0"/>
              </a:spcBef>
              <a:spcAft>
                <a:spcPts val="1000"/>
              </a:spcAft>
            </a:pPr>
            <a:r>
              <a:rPr sz="1600" b="0">
                <a:solidFill>
                  <a:srgbClr val="191D63"/>
                </a:solidFill>
              </a:rPr>
              <a:t>The three floor libraries: IL64B, an implanted hemisphere with no tumor in the piece (0.3 % human), and the two opposite hemispheres (0.5 % and 4.9 %).</a:t>
            </a:r>
          </a:p>
          <a:p>
            <a:pPr>
              <a:spcBef>
                <a:spcPts val="0"/>
              </a:spcBef>
              <a:spcAft>
                <a:spcPts val="1000"/>
              </a:spcAft>
            </a:pPr>
            <a:r>
              <a:rPr sz="1600" b="0">
                <a:solidFill>
                  <a:srgbClr val="191D63"/>
                </a:solidFill>
              </a:rPr>
              <a:t>Human Y-linked transcripts per million human counts place the human stream as the male donor line: 177–209 in the six tumors, 256 in the culture, 2.9 in the tumor-free library.</a:t>
            </a:r>
          </a:p>
        </p:txBody>
      </p:sp>
      <p:sp>
        <p:nvSpPr>
          <p:cNvPr id="5" name="TextBox 4"/>
          <p:cNvSpPr txBox="1"/>
          <p:nvPr/>
        </p:nvSpPr>
        <p:spPr>
          <a:xfrm>
            <a:off x="1750000" y="6380000"/>
            <a:ext cx="10150000" cy="420000"/>
          </a:xfrm>
          <a:prstGeom prst="rect">
            <a:avLst/>
          </a:prstGeom>
          <a:noFill/>
        </p:spPr>
        <p:txBody>
          <a:bodyPr wrap="square" lIns="0" rIns="0" tIns="0" bIns="0">
            <a:spAutoFit/>
          </a:bodyPr>
          <a:lstStyle/>
          <a:p>
            <a:pPr>
              <a:spcBef>
                <a:spcPts val="0"/>
              </a:spcBef>
              <a:spcAft>
                <a:spcPts val="0"/>
              </a:spcAft>
            </a:pPr>
            <a:r>
              <a:rPr sz="1000" b="0">
                <a:solidFill>
                  <a:srgbClr val="7A7A7A"/>
                </a:solidFill>
              </a:rPr>
              <a:t>Reads sorted with xengsort (k = 25) against GRCh38 and mRatBN7.2; shares of all classified read pairs.</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1750000" y="300000"/>
            <a:ext cx="10150000" cy="1000000"/>
          </a:xfrm>
        </p:spPr>
        <p:txBody>
          <a:bodyPr wrap="square" anchor="b"/>
          <a:lstStyle/>
          <a:p>
            <a:r>
              <a:rPr sz="3000" b="1">
                <a:solidFill>
                  <a:srgbClr val="191D63"/>
                </a:solidFill>
              </a:rPr>
              <a:t>Backup B9. What the host tissue in each lesion is</a:t>
            </a:r>
          </a:p>
        </p:txBody>
      </p:sp>
      <p:pic>
        <p:nvPicPr>
          <p:cNvPr id="3" name="Picture 2" descr="fig1d_lesion_accounting.png"/>
          <p:cNvPicPr>
            <a:picLocks noChangeAspect="1"/>
          </p:cNvPicPr>
          <p:nvPr/>
        </p:nvPicPr>
        <p:blipFill>
          <a:blip r:embed="rId2"/>
          <a:stretch>
            <a:fillRect/>
          </a:stretch>
        </p:blipFill>
        <p:spPr>
          <a:xfrm>
            <a:off x="1750000" y="1420000"/>
            <a:ext cx="6400000" cy="3279939"/>
          </a:xfrm>
          <a:prstGeom prst="rect">
            <a:avLst/>
          </a:prstGeom>
        </p:spPr>
      </p:pic>
      <p:sp>
        <p:nvSpPr>
          <p:cNvPr id="4" name="TextBox 3"/>
          <p:cNvSpPr txBox="1"/>
          <p:nvPr/>
        </p:nvSpPr>
        <p:spPr>
          <a:xfrm>
            <a:off x="8450000" y="1460000"/>
            <a:ext cx="3450000" cy="4790000"/>
          </a:xfrm>
          <a:prstGeom prst="rect">
            <a:avLst/>
          </a:prstGeom>
          <a:noFill/>
        </p:spPr>
        <p:txBody>
          <a:bodyPr wrap="square" lIns="0" rIns="0" tIns="0" bIns="0">
            <a:spAutoFit/>
          </a:bodyPr>
          <a:lstStyle/>
          <a:p>
            <a:pPr>
              <a:spcBef>
                <a:spcPts val="0"/>
              </a:spcBef>
              <a:spcAft>
                <a:spcPts val="1000"/>
              </a:spcAft>
            </a:pPr>
            <a:r>
              <a:rPr sz="1600" b="0">
                <a:solidFill>
                  <a:srgbClr val="191D63"/>
                </a:solidFill>
              </a:rPr>
              <a:t>Each library as tumor share plus host cell types, scaled so the bars are shares of the whole library.</a:t>
            </a:r>
          </a:p>
          <a:p>
            <a:pPr>
              <a:spcBef>
                <a:spcPts val="0"/>
              </a:spcBef>
              <a:spcAft>
                <a:spcPts val="1000"/>
              </a:spcAft>
            </a:pPr>
            <a:r>
              <a:rPr sz="1600" b="0">
                <a:solidFill>
                  <a:srgbClr val="191D63"/>
                </a:solidFill>
              </a:rPr>
              <a:t>Three published deconvolution methods agree on rank for all six cell types; every low-tumor library scores above every tumor on neurons, and every tumor above the floor libraries on myeloid cells.</a:t>
            </a:r>
          </a:p>
          <a:p>
            <a:pPr>
              <a:spcBef>
                <a:spcPts val="0"/>
              </a:spcBef>
              <a:spcAft>
                <a:spcPts val="1000"/>
              </a:spcAft>
            </a:pPr>
            <a:r>
              <a:rPr sz="1600" b="0">
                <a:solidFill>
                  <a:srgbClr val="191D63"/>
                </a:solidFill>
              </a:rPr>
              <a:t>LM22 was rejected by the pre-registered athymic control: it assigned more than 5 % T cells to a host that has none.</a:t>
            </a:r>
          </a:p>
          <a:p>
            <a:pPr>
              <a:spcBef>
                <a:spcPts val="0"/>
              </a:spcBef>
              <a:spcAft>
                <a:spcPts val="1000"/>
              </a:spcAft>
            </a:pPr>
            <a:r>
              <a:rPr sz="1600" b="0">
                <a:solidFill>
                  <a:srgbClr val="191D63"/>
                </a:solidFill>
              </a:rPr>
              <a:t>Neither pre-stated index separates the arms (normal-parenchyma rank 7 of 20, reactive rank 9 of 20).</a:t>
            </a:r>
          </a:p>
        </p:txBody>
      </p:sp>
      <p:sp>
        <p:nvSpPr>
          <p:cNvPr id="5" name="TextBox 4"/>
          <p:cNvSpPr txBox="1"/>
          <p:nvPr/>
        </p:nvSpPr>
        <p:spPr>
          <a:xfrm>
            <a:off x="1750000" y="6380000"/>
            <a:ext cx="10150000" cy="420000"/>
          </a:xfrm>
          <a:prstGeom prst="rect">
            <a:avLst/>
          </a:prstGeom>
          <a:noFill/>
        </p:spPr>
        <p:txBody>
          <a:bodyPr wrap="square" lIns="0" rIns="0" tIns="0" bIns="0">
            <a:spAutoFit/>
          </a:bodyPr>
          <a:lstStyle/>
          <a:p>
            <a:pPr>
              <a:spcBef>
                <a:spcPts val="0"/>
              </a:spcBef>
              <a:spcAft>
                <a:spcPts val="0"/>
              </a:spcAft>
            </a:pPr>
            <a:r>
              <a:rPr sz="1000" b="0">
                <a:solidFill>
                  <a:srgbClr val="7A7A7A"/>
                </a:solidFill>
              </a:rPr>
              <a:t>BRETIGEA, NeuroExpresso marker-gene profiles and CIBERSORT with a brain signature, on the rat read stream; mouse markers mapped one-to-one to rat. Reactive index reduced to its microglial term: no reactive-astrocyte, DAM or fibrotic-scar list was retrievable verbatim.</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1750000" y="300000"/>
            <a:ext cx="10150000" cy="1000000"/>
          </a:xfrm>
        </p:spPr>
        <p:txBody>
          <a:bodyPr wrap="square" anchor="b"/>
          <a:lstStyle/>
          <a:p>
            <a:r>
              <a:rPr sz="3000" b="1">
                <a:solidFill>
                  <a:srgbClr val="191D63"/>
                </a:solidFill>
              </a:rPr>
              <a:t>Backup B10. Tumor content on two platforms</a:t>
            </a:r>
          </a:p>
        </p:txBody>
      </p:sp>
      <p:pic>
        <p:nvPicPr>
          <p:cNvPr id="3" name="Picture 2" descr="fig1b_rna_vs_dna.png"/>
          <p:cNvPicPr>
            <a:picLocks noChangeAspect="1"/>
          </p:cNvPicPr>
          <p:nvPr/>
        </p:nvPicPr>
        <p:blipFill>
          <a:blip r:embed="rId2"/>
          <a:stretch>
            <a:fillRect/>
          </a:stretch>
        </p:blipFill>
        <p:spPr>
          <a:xfrm>
            <a:off x="1750000" y="1420000"/>
            <a:ext cx="6400000" cy="2688000"/>
          </a:xfrm>
          <a:prstGeom prst="rect">
            <a:avLst/>
          </a:prstGeom>
        </p:spPr>
      </p:pic>
      <p:sp>
        <p:nvSpPr>
          <p:cNvPr id="4" name="TextBox 3"/>
          <p:cNvSpPr txBox="1"/>
          <p:nvPr/>
        </p:nvSpPr>
        <p:spPr>
          <a:xfrm>
            <a:off x="8450000" y="1460000"/>
            <a:ext cx="3450000" cy="4790000"/>
          </a:xfrm>
          <a:prstGeom prst="rect">
            <a:avLst/>
          </a:prstGeom>
          <a:noFill/>
        </p:spPr>
        <p:txBody>
          <a:bodyPr wrap="square" lIns="0" rIns="0" tIns="0" bIns="0">
            <a:spAutoFit/>
          </a:bodyPr>
          <a:lstStyle/>
          <a:p>
            <a:pPr>
              <a:spcBef>
                <a:spcPts val="0"/>
              </a:spcBef>
              <a:spcAft>
                <a:spcPts val="1000"/>
              </a:spcAft>
            </a:pPr>
            <a:r>
              <a:rPr sz="1600" b="0">
                <a:solidFill>
                  <a:srgbClr val="191D63"/>
                </a:solidFill>
              </a:rPr>
              <a:t>DNA fraction against RNA human share for every estimator; the registered one is the bespoke two-mode estimate and it is uncalibrated, so no cell percentage is quoted from either platform.</a:t>
            </a:r>
          </a:p>
          <a:p>
            <a:pPr>
              <a:spcBef>
                <a:spcPts val="0"/>
              </a:spcBef>
              <a:spcAft>
                <a:spcPts val="1000"/>
              </a:spcAft>
            </a:pPr>
            <a:r>
              <a:rPr sz="1600" b="0">
                <a:solidFill>
                  <a:srgbClr val="191D63"/>
                </a:solidFill>
              </a:rPr>
              <a:t>The order agrees: Spearman 0.89 over the six tumors and 0.93 over the seven in-vivo arrays.</a:t>
            </a:r>
          </a:p>
          <a:p>
            <a:pPr>
              <a:spcBef>
                <a:spcPts val="0"/>
              </a:spcBef>
              <a:spcAft>
                <a:spcPts val="1000"/>
              </a:spcAft>
            </a:pPr>
            <a:r>
              <a:rPr sz="1600" b="0">
                <a:solidFill>
                  <a:srgbClr val="191D63"/>
                </a:solidFill>
              </a:rPr>
              <a:t>The contralateral sample's DNA-to-RNA ratio (about 20 % against 5 %) is unexplained and reported as such.</a:t>
            </a:r>
          </a:p>
        </p:txBody>
      </p:sp>
      <p:sp>
        <p:nvSpPr>
          <p:cNvPr id="5" name="TextBox 4"/>
          <p:cNvSpPr txBox="1"/>
          <p:nvPr/>
        </p:nvSpPr>
        <p:spPr>
          <a:xfrm>
            <a:off x="1750000" y="6380000"/>
            <a:ext cx="10150000" cy="420000"/>
          </a:xfrm>
          <a:prstGeom prst="rect">
            <a:avLst/>
          </a:prstGeom>
          <a:noFill/>
        </p:spPr>
        <p:txBody>
          <a:bodyPr wrap="square" lIns="0" rIns="0" tIns="0" bIns="0">
            <a:spAutoFit/>
          </a:bodyPr>
          <a:lstStyle/>
          <a:p>
            <a:pPr>
              <a:spcBef>
                <a:spcPts val="0"/>
              </a:spcBef>
              <a:spcAft>
                <a:spcPts val="0"/>
              </a:spcAft>
            </a:pPr>
            <a:r>
              <a:rPr sz="1000" b="0">
                <a:solidFill>
                  <a:srgbClr val="7A7A7A"/>
                </a:solidFill>
              </a:rPr>
              <a:t>Bars: each estimator's own interval. Dashed: equality, for reference only. Cell share needs the line's DNA index, which is not measured here.</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1750000" y="300000"/>
            <a:ext cx="10150000" cy="1000000"/>
          </a:xfrm>
        </p:spPr>
        <p:txBody>
          <a:bodyPr wrap="square" anchor="b"/>
          <a:lstStyle/>
          <a:p>
            <a:r>
              <a:rPr sz="3000" b="1">
                <a:solidFill>
                  <a:srgbClr val="191D63"/>
                </a:solidFill>
              </a:rPr>
              <a:t>Backup B11. Recurrent lesions hold less tumor: all twenty labellings</a:t>
            </a:r>
          </a:p>
        </p:txBody>
      </p:sp>
      <p:pic>
        <p:nvPicPr>
          <p:cNvPr id="3" name="Picture 2" descr="fig1c_share_labellings.png"/>
          <p:cNvPicPr>
            <a:picLocks noChangeAspect="1"/>
          </p:cNvPicPr>
          <p:nvPr/>
        </p:nvPicPr>
        <p:blipFill>
          <a:blip r:embed="rId2"/>
          <a:stretch>
            <a:fillRect/>
          </a:stretch>
        </p:blipFill>
        <p:spPr>
          <a:xfrm>
            <a:off x="1750000" y="1420000"/>
            <a:ext cx="6400000" cy="3200000"/>
          </a:xfrm>
          <a:prstGeom prst="rect">
            <a:avLst/>
          </a:prstGeom>
        </p:spPr>
      </p:pic>
      <p:sp>
        <p:nvSpPr>
          <p:cNvPr id="4" name="TextBox 3"/>
          <p:cNvSpPr txBox="1"/>
          <p:nvPr/>
        </p:nvSpPr>
        <p:spPr>
          <a:xfrm>
            <a:off x="8450000" y="1460000"/>
            <a:ext cx="3450000" cy="4790000"/>
          </a:xfrm>
          <a:prstGeom prst="rect">
            <a:avLst/>
          </a:prstGeom>
          <a:noFill/>
        </p:spPr>
        <p:txBody>
          <a:bodyPr wrap="square" lIns="0" rIns="0" tIns="0" bIns="0">
            <a:spAutoFit/>
          </a:bodyPr>
          <a:lstStyle/>
          <a:p>
            <a:pPr>
              <a:spcBef>
                <a:spcPts val="0"/>
              </a:spcBef>
              <a:spcAft>
                <a:spcPts val="1000"/>
              </a:spcAft>
            </a:pPr>
            <a:r>
              <a:rPr sz="1600" b="0">
                <a:solidFill>
                  <a:srgbClr val="191D63"/>
                </a:solidFill>
              </a:rPr>
              <a:t>DNA: recurrent minus primary -0.196 (exact 90 % -0.340 to -0.059), rank 1 of 20, p = 0.05 — the smallest the design allows.</a:t>
            </a:r>
          </a:p>
          <a:p>
            <a:pPr>
              <a:spcBef>
                <a:spcPts val="0"/>
              </a:spcBef>
              <a:spcAft>
                <a:spcPts val="1000"/>
              </a:spcAft>
            </a:pPr>
            <a:r>
              <a:rPr sz="1600" b="0">
                <a:solidFill>
                  <a:srgbClr val="191D63"/>
                </a:solidFill>
              </a:rPr>
              <a:t>RNA: -0.157, rank 2 of 20 (p = 0.10). This quantity was seen before pre-registration, so it is a replication, not a discovery.</a:t>
            </a:r>
          </a:p>
          <a:p>
            <a:pPr>
              <a:spcBef>
                <a:spcPts val="0"/>
              </a:spcBef>
              <a:spcAft>
                <a:spcPts val="1000"/>
              </a:spcAft>
            </a:pPr>
            <a:r>
              <a:rPr sz="1600" b="0">
                <a:solidFill>
                  <a:srgbClr val="191D63"/>
                </a:solidFill>
              </a:rPr>
              <a:t>Holm across the two platforms: 0.10 and 0.10.</a:t>
            </a:r>
          </a:p>
        </p:txBody>
      </p:sp>
      <p:sp>
        <p:nvSpPr>
          <p:cNvPr id="5" name="TextBox 4"/>
          <p:cNvSpPr txBox="1"/>
          <p:nvPr/>
        </p:nvSpPr>
        <p:spPr>
          <a:xfrm>
            <a:off x="1750000" y="6380000"/>
            <a:ext cx="10150000" cy="420000"/>
          </a:xfrm>
          <a:prstGeom prst="rect">
            <a:avLst/>
          </a:prstGeom>
          <a:noFill/>
        </p:spPr>
        <p:txBody>
          <a:bodyPr wrap="square" lIns="0" rIns="0" tIns="0" bIns="0">
            <a:spAutoFit/>
          </a:bodyPr>
          <a:lstStyle/>
          <a:p>
            <a:pPr>
              <a:spcBef>
                <a:spcPts val="0"/>
              </a:spcBef>
              <a:spcAft>
                <a:spcPts val="0"/>
              </a:spcAft>
            </a:pPr>
            <a:r>
              <a:rPr sz="1000" b="0">
                <a:solidFill>
                  <a:srgbClr val="7A7A7A"/>
                </a:solidFill>
              </a:rPr>
              <a:t>Twenty balanced three-against-three labellings of the six tumors; the true labelling is filled. Every DNA fraction is uncalibrated.</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1750000" y="300000"/>
            <a:ext cx="10150000" cy="1000000"/>
          </a:xfrm>
        </p:spPr>
        <p:txBody>
          <a:bodyPr wrap="square" anchor="b"/>
          <a:lstStyle/>
          <a:p>
            <a:r>
              <a:rPr sz="3000" b="1">
                <a:solidFill>
                  <a:srgbClr val="191D63"/>
                </a:solidFill>
              </a:rPr>
              <a:t>Backup B12. Composition share and DE count across all ten splits</a:t>
            </a:r>
          </a:p>
        </p:txBody>
      </p:sp>
      <p:pic>
        <p:nvPicPr>
          <p:cNvPr id="3" name="Picture 2" descr="fig2b_splits.png"/>
          <p:cNvPicPr>
            <a:picLocks noChangeAspect="1"/>
          </p:cNvPicPr>
          <p:nvPr/>
        </p:nvPicPr>
        <p:blipFill>
          <a:blip r:embed="rId2"/>
          <a:stretch>
            <a:fillRect/>
          </a:stretch>
        </p:blipFill>
        <p:spPr>
          <a:xfrm>
            <a:off x="1750000" y="1420000"/>
            <a:ext cx="6400000" cy="2732348"/>
          </a:xfrm>
          <a:prstGeom prst="rect">
            <a:avLst/>
          </a:prstGeom>
        </p:spPr>
      </p:pic>
      <p:sp>
        <p:nvSpPr>
          <p:cNvPr id="4" name="TextBox 3"/>
          <p:cNvSpPr txBox="1"/>
          <p:nvPr/>
        </p:nvSpPr>
        <p:spPr>
          <a:xfrm>
            <a:off x="8450000" y="1460000"/>
            <a:ext cx="3450000" cy="4790000"/>
          </a:xfrm>
          <a:prstGeom prst="rect">
            <a:avLst/>
          </a:prstGeom>
          <a:noFill/>
        </p:spPr>
        <p:txBody>
          <a:bodyPr wrap="square" lIns="0" rIns="0" tIns="0" bIns="0">
            <a:spAutoFit/>
          </a:bodyPr>
          <a:lstStyle/>
          <a:p>
            <a:pPr>
              <a:spcBef>
                <a:spcPts val="0"/>
              </a:spcBef>
              <a:spcAft>
                <a:spcPts val="1000"/>
              </a:spcAft>
            </a:pPr>
            <a:r>
              <a:rPr sz="1600" b="0">
                <a:solidFill>
                  <a:srgbClr val="191D63"/>
                </a:solidFill>
              </a:rPr>
              <a:t>The composition share rises with the split's difference in tumor content (Spearman 0.85), and the true split is the highest of the ten — what a real composition term must do.</a:t>
            </a:r>
          </a:p>
          <a:p>
            <a:pPr>
              <a:spcBef>
                <a:spcPts val="0"/>
              </a:spcBef>
              <a:spcAft>
                <a:spcPts val="1000"/>
              </a:spcAft>
            </a:pPr>
            <a:r>
              <a:rPr sz="1600" b="0">
                <a:solidFill>
                  <a:srgbClr val="191D63"/>
                </a:solidFill>
              </a:rPr>
              <a:t>Differentially expressed genes across the ten splits range from 0 to 303; the true split gives 133.</a:t>
            </a:r>
          </a:p>
          <a:p>
            <a:pPr>
              <a:spcBef>
                <a:spcPts val="0"/>
              </a:spcBef>
              <a:spcAft>
                <a:spcPts val="1000"/>
              </a:spcAft>
            </a:pPr>
            <a:r>
              <a:rPr sz="1600" b="0">
                <a:solidFill>
                  <a:srgbClr val="191D63"/>
                </a:solidFill>
              </a:rPr>
              <a:t>The true split's composition share sits inside the 80 % band predicted from the other nine.</a:t>
            </a:r>
          </a:p>
        </p:txBody>
      </p:sp>
      <p:sp>
        <p:nvSpPr>
          <p:cNvPr id="5" name="TextBox 4"/>
          <p:cNvSpPr txBox="1"/>
          <p:nvPr/>
        </p:nvSpPr>
        <p:spPr>
          <a:xfrm>
            <a:off x="1750000" y="6380000"/>
            <a:ext cx="10150000" cy="420000"/>
          </a:xfrm>
          <a:prstGeom prst="rect">
            <a:avLst/>
          </a:prstGeom>
          <a:noFill/>
        </p:spPr>
        <p:txBody>
          <a:bodyPr wrap="square" lIns="0" rIns="0" tIns="0" bIns="0">
            <a:spAutoFit/>
          </a:bodyPr>
          <a:lstStyle/>
          <a:p>
            <a:pPr>
              <a:spcBef>
                <a:spcPts val="0"/>
              </a:spcBef>
              <a:spcAft>
                <a:spcPts val="0"/>
              </a:spcAft>
            </a:pPr>
            <a:r>
              <a:rPr sz="1000" b="0">
                <a:solidFill>
                  <a:srgbClr val="7A7A7A"/>
                </a:solidFill>
              </a:rPr>
              <a:t>nf-core/differentialabundance (DESeq2) on the species-blind matrix, the same parameters for all ten splits.</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1750000" y="300000"/>
            <a:ext cx="10150000" cy="1000000"/>
          </a:xfrm>
        </p:spPr>
        <p:txBody>
          <a:bodyPr wrap="square" anchor="b"/>
          <a:lstStyle/>
          <a:p>
            <a:r>
              <a:rPr sz="3000" b="1">
                <a:solidFill>
                  <a:srgbClr val="191D63"/>
                </a:solidFill>
              </a:rPr>
              <a:t>Backup B13. The three published categories, in four views</a:t>
            </a:r>
          </a:p>
        </p:txBody>
      </p:sp>
      <p:pic>
        <p:nvPicPr>
          <p:cNvPr id="3" name="Picture 2" descr="fig2c_categories_by_view.png"/>
          <p:cNvPicPr>
            <a:picLocks noChangeAspect="1"/>
          </p:cNvPicPr>
          <p:nvPr/>
        </p:nvPicPr>
        <p:blipFill>
          <a:blip r:embed="rId2"/>
          <a:stretch>
            <a:fillRect/>
          </a:stretch>
        </p:blipFill>
        <p:spPr>
          <a:xfrm>
            <a:off x="1750000" y="1420000"/>
            <a:ext cx="6400000" cy="3348709"/>
          </a:xfrm>
          <a:prstGeom prst="rect">
            <a:avLst/>
          </a:prstGeom>
        </p:spPr>
      </p:pic>
      <p:sp>
        <p:nvSpPr>
          <p:cNvPr id="4" name="TextBox 3"/>
          <p:cNvSpPr txBox="1"/>
          <p:nvPr/>
        </p:nvSpPr>
        <p:spPr>
          <a:xfrm>
            <a:off x="8450000" y="1460000"/>
            <a:ext cx="3450000" cy="4790000"/>
          </a:xfrm>
          <a:prstGeom prst="rect">
            <a:avLst/>
          </a:prstGeom>
          <a:noFill/>
        </p:spPr>
        <p:txBody>
          <a:bodyPr wrap="square" lIns="0" rIns="0" tIns="0" bIns="0">
            <a:spAutoFit/>
          </a:bodyPr>
          <a:lstStyle/>
          <a:p>
            <a:pPr>
              <a:spcBef>
                <a:spcPts val="0"/>
              </a:spcBef>
              <a:spcAft>
                <a:spcPts val="1000"/>
              </a:spcAft>
            </a:pPr>
            <a:r>
              <a:rPr sz="1600" b="0">
                <a:solidFill>
                  <a:srgbClr val="191D63"/>
                </a:solidFill>
              </a:rPr>
              <a:t>Cell motility and inflammatory response are Holm-significant among the genes up in the species-blind (bulk) view.</a:t>
            </a:r>
          </a:p>
          <a:p>
            <a:pPr>
              <a:spcBef>
                <a:spcPts val="0"/>
              </a:spcBef>
              <a:spcAft>
                <a:spcPts val="1000"/>
              </a:spcAft>
            </a:pPr>
            <a:r>
              <a:rPr sz="1600" b="0">
                <a:solidFill>
                  <a:srgbClr val="191D63"/>
                </a:solidFill>
              </a:rPr>
              <a:t>Neither appears in the tumor-cell stream; cell cycle appears in no view.</a:t>
            </a:r>
          </a:p>
          <a:p>
            <a:pPr>
              <a:spcBef>
                <a:spcPts val="0"/>
              </a:spcBef>
              <a:spcAft>
                <a:spcPts val="1000"/>
              </a:spcAft>
            </a:pPr>
            <a:r>
              <a:rPr sz="1600" b="0">
                <a:solidFill>
                  <a:srgbClr val="191D63"/>
                </a:solidFill>
              </a:rPr>
              <a:t>The composition-only view is empty by construction: with a 15-point difference in content the composition term cannot reach one log2 unit, which was the pre-registered cut.</a:t>
            </a:r>
          </a:p>
        </p:txBody>
      </p:sp>
      <p:sp>
        <p:nvSpPr>
          <p:cNvPr id="5" name="TextBox 4"/>
          <p:cNvSpPr txBox="1"/>
          <p:nvPr/>
        </p:nvSpPr>
        <p:spPr>
          <a:xfrm>
            <a:off x="1750000" y="6380000"/>
            <a:ext cx="10150000" cy="420000"/>
          </a:xfrm>
          <a:prstGeom prst="rect">
            <a:avLst/>
          </a:prstGeom>
          <a:noFill/>
        </p:spPr>
        <p:txBody>
          <a:bodyPr wrap="square" lIns="0" rIns="0" tIns="0" bIns="0">
            <a:spAutoFit/>
          </a:bodyPr>
          <a:lstStyle/>
          <a:p>
            <a:pPr>
              <a:spcBef>
                <a:spcPts val="0"/>
              </a:spcBef>
              <a:spcAft>
                <a:spcPts val="0"/>
              </a:spcAft>
            </a:pPr>
            <a:r>
              <a:rPr sz="1000" b="0">
                <a:solidFill>
                  <a:srgbClr val="7A7A7A"/>
                </a:solidFill>
              </a:rPr>
              <a:t>g:Profiler on three fixed GO biological-process terms, Holm across three categories by four views. The three categories are the ones reported for this model.</a:t>
            </a:r>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1750000" y="300000"/>
            <a:ext cx="10150000" cy="1000000"/>
          </a:xfrm>
        </p:spPr>
        <p:txBody>
          <a:bodyPr wrap="square" anchor="b"/>
          <a:lstStyle/>
          <a:p>
            <a:r>
              <a:rPr sz="3000" b="1">
                <a:solidFill>
                  <a:srgbClr val="191D63"/>
                </a:solidFill>
              </a:rPr>
              <a:t>Backup B14. Copy-number amplitude against a measured dilution model</a:t>
            </a:r>
          </a:p>
        </p:txBody>
      </p:sp>
      <p:pic>
        <p:nvPicPr>
          <p:cNvPr id="3" name="Picture 2" descr="fig4a_amplitude_dilution.png"/>
          <p:cNvPicPr>
            <a:picLocks noChangeAspect="1"/>
          </p:cNvPicPr>
          <p:nvPr/>
        </p:nvPicPr>
        <p:blipFill>
          <a:blip r:embed="rId2"/>
          <a:stretch>
            <a:fillRect/>
          </a:stretch>
        </p:blipFill>
        <p:spPr>
          <a:xfrm>
            <a:off x="1750000" y="1420000"/>
            <a:ext cx="6147272" cy="4830000"/>
          </a:xfrm>
          <a:prstGeom prst="rect">
            <a:avLst/>
          </a:prstGeom>
        </p:spPr>
      </p:pic>
      <p:sp>
        <p:nvSpPr>
          <p:cNvPr id="4" name="TextBox 3"/>
          <p:cNvSpPr txBox="1"/>
          <p:nvPr/>
        </p:nvSpPr>
        <p:spPr>
          <a:xfrm>
            <a:off x="8197272" y="1460000"/>
            <a:ext cx="3702728" cy="4790000"/>
          </a:xfrm>
          <a:prstGeom prst="rect">
            <a:avLst/>
          </a:prstGeom>
          <a:noFill/>
        </p:spPr>
        <p:txBody>
          <a:bodyPr wrap="square" lIns="0" rIns="0" tIns="0" bIns="0">
            <a:spAutoFit/>
          </a:bodyPr>
          <a:lstStyle/>
          <a:p>
            <a:pPr>
              <a:spcBef>
                <a:spcPts val="0"/>
              </a:spcBef>
              <a:spcAft>
                <a:spcPts val="1000"/>
              </a:spcAft>
            </a:pPr>
            <a:r>
              <a:rPr sz="1600" b="0">
                <a:solidFill>
                  <a:srgbClr val="191D63"/>
                </a:solidFill>
              </a:rPr>
              <a:t>Diluting the parental culture in silico with rat DNA barely lowers its copy-number amplitude, so dilution alone does not put the primaries below the curve.</a:t>
            </a:r>
          </a:p>
          <a:p>
            <a:pPr>
              <a:spcBef>
                <a:spcPts val="0"/>
              </a:spcBef>
              <a:spcAft>
                <a:spcPts val="1000"/>
              </a:spcAft>
            </a:pPr>
            <a:r>
              <a:rPr sz="1600" b="0">
                <a:solidFill>
                  <a:srgbClr val="191D63"/>
                </a:solidFill>
              </a:rPr>
              <a:t>The primaries sit below it and the recurrences on or above it; recurrent minus primary 0.115 (exact 90 % 0.067 to 0.166), rank 1 of 20.</a:t>
            </a:r>
          </a:p>
          <a:p>
            <a:pPr>
              <a:spcBef>
                <a:spcPts val="0"/>
              </a:spcBef>
              <a:spcAft>
                <a:spcPts val="1000"/>
              </a:spcAft>
            </a:pPr>
            <a:r>
              <a:rPr sz="1600" b="0">
                <a:solidFill>
                  <a:srgbClr val="4C70B7"/>
                </a:solidFill>
              </a:rPr>
              <a:t>The null behind this panel is unvalidated, because the titration that would validate it failed (B23). We report the difference as unexplained by dilution, and claim nothing from it.</a:t>
            </a:r>
          </a:p>
        </p:txBody>
      </p:sp>
      <p:sp>
        <p:nvSpPr>
          <p:cNvPr id="5" name="TextBox 4"/>
          <p:cNvSpPr txBox="1"/>
          <p:nvPr/>
        </p:nvSpPr>
        <p:spPr>
          <a:xfrm>
            <a:off x="1750000" y="6380000"/>
            <a:ext cx="10150000" cy="420000"/>
          </a:xfrm>
          <a:prstGeom prst="rect">
            <a:avLst/>
          </a:prstGeom>
          <a:noFill/>
        </p:spPr>
        <p:txBody>
          <a:bodyPr wrap="square" lIns="0" rIns="0" tIns="0" bIns="0">
            <a:spAutoFit/>
          </a:bodyPr>
          <a:lstStyle/>
          <a:p>
            <a:pPr>
              <a:spcBef>
                <a:spcPts val="0"/>
              </a:spcBef>
              <a:spcAft>
                <a:spcPts val="0"/>
              </a:spcAft>
            </a:pPr>
            <a:r>
              <a:rPr sz="1000" b="0">
                <a:solidFill>
                  <a:srgbClr val="7A7A7A"/>
                </a:solidFill>
              </a:rPr>
              <a:t>Amplitude = slope of an array's copy-number bins on the parental culture's. Line and band: the culture diluted in silico with ten rat reference arrays, median and range, through the identical pipeline.</a:t>
            </a:r>
          </a:p>
        </p:txBody>
      </p:sp>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1750000" y="300000"/>
            <a:ext cx="10150000" cy="1000000"/>
          </a:xfrm>
        </p:spPr>
        <p:txBody>
          <a:bodyPr wrap="square" anchor="b"/>
          <a:lstStyle/>
          <a:p>
            <a:r>
              <a:rPr sz="3000" b="1">
                <a:solidFill>
                  <a:srgbClr val="191D63"/>
                </a:solidFill>
              </a:rPr>
              <a:t>Backup B15. MGMT status does not move</a:t>
            </a:r>
          </a:p>
        </p:txBody>
      </p:sp>
      <p:pic>
        <p:nvPicPr>
          <p:cNvPr id="3" name="Picture 2" descr="fig4c_mgmt_stp27.png"/>
          <p:cNvPicPr>
            <a:picLocks noChangeAspect="1"/>
          </p:cNvPicPr>
          <p:nvPr/>
        </p:nvPicPr>
        <p:blipFill>
          <a:blip r:embed="rId2"/>
          <a:stretch>
            <a:fillRect/>
          </a:stretch>
        </p:blipFill>
        <p:spPr>
          <a:xfrm>
            <a:off x="1750000" y="1420000"/>
            <a:ext cx="4830000" cy="4830000"/>
          </a:xfrm>
          <a:prstGeom prst="rect">
            <a:avLst/>
          </a:prstGeom>
        </p:spPr>
      </p:pic>
      <p:sp>
        <p:nvSpPr>
          <p:cNvPr id="4" name="TextBox 3"/>
          <p:cNvSpPr txBox="1"/>
          <p:nvPr/>
        </p:nvSpPr>
        <p:spPr>
          <a:xfrm>
            <a:off x="6880000" y="1460000"/>
            <a:ext cx="5020000" cy="4790000"/>
          </a:xfrm>
          <a:prstGeom prst="rect">
            <a:avLst/>
          </a:prstGeom>
          <a:noFill/>
        </p:spPr>
        <p:txBody>
          <a:bodyPr wrap="square" lIns="0" rIns="0" tIns="0" bIns="0">
            <a:spAutoFit/>
          </a:bodyPr>
          <a:lstStyle/>
          <a:p>
            <a:pPr>
              <a:spcBef>
                <a:spcPts val="0"/>
              </a:spcBef>
              <a:spcAft>
                <a:spcPts val="1000"/>
              </a:spcAft>
            </a:pPr>
            <a:r>
              <a:rPr sz="1600" b="0">
                <a:solidFill>
                  <a:srgbClr val="191D63"/>
                </a:solidFill>
              </a:rPr>
              <a:t>MGMT-STP27 calls every array methylated (0.995–0.998).</a:t>
            </a:r>
          </a:p>
          <a:p>
            <a:pPr>
              <a:spcBef>
                <a:spcPts val="0"/>
              </a:spcBef>
              <a:spcAft>
                <a:spcPts val="1000"/>
              </a:spcAft>
            </a:pPr>
            <a:r>
              <a:rPr sz="1600" b="0">
                <a:solidFill>
                  <a:srgbClr val="191D63"/>
                </a:solidFill>
              </a:rPr>
              <a:t>The equal shift at both model CpGs that would flip a recurrence is 0.45–0.48 beta; the observed recurrent-minus-primary shifts are −0.032 and +0.057.</a:t>
            </a:r>
          </a:p>
          <a:p>
            <a:pPr>
              <a:spcBef>
                <a:spcPts val="0"/>
              </a:spcBef>
              <a:spcAft>
                <a:spcPts val="1000"/>
              </a:spcAft>
            </a:pPr>
            <a:r>
              <a:rPr sz="1600" b="0">
                <a:solidFill>
                  <a:srgbClr val="191D63"/>
                </a:solidFill>
              </a:rPr>
              <a:t>The rat-free promoter mean differs by -0.014 (outside an unvalidated dilution null).</a:t>
            </a:r>
          </a:p>
          <a:p>
            <a:pPr>
              <a:spcBef>
                <a:spcPts val="0"/>
              </a:spcBef>
              <a:spcAft>
                <a:spcPts val="1000"/>
              </a:spcAft>
            </a:pPr>
            <a:r>
              <a:rPr sz="1600" b="0">
                <a:solidFill>
                  <a:srgbClr val="191D63"/>
                </a:solidFill>
              </a:rPr>
              <a:t>MGMT is not expressed in any library, and no animal received an alkylating agent: this is a stability readout.</a:t>
            </a:r>
          </a:p>
        </p:txBody>
      </p:sp>
      <p:sp>
        <p:nvSpPr>
          <p:cNvPr id="5" name="TextBox 4"/>
          <p:cNvSpPr txBox="1"/>
          <p:nvPr/>
        </p:nvSpPr>
        <p:spPr>
          <a:xfrm>
            <a:off x="1750000" y="6380000"/>
            <a:ext cx="10150000" cy="420000"/>
          </a:xfrm>
          <a:prstGeom prst="rect">
            <a:avLst/>
          </a:prstGeom>
          <a:noFill/>
        </p:spPr>
        <p:txBody>
          <a:bodyPr wrap="square" lIns="0" rIns="0" tIns="0" bIns="0">
            <a:spAutoFit/>
          </a:bodyPr>
          <a:lstStyle/>
          <a:p>
            <a:pPr>
              <a:spcBef>
                <a:spcPts val="0"/>
              </a:spcBef>
              <a:spcAft>
                <a:spcPts val="0"/>
              </a:spcAft>
            </a:pPr>
            <a:r>
              <a:rPr sz="1000" b="0">
                <a:solidFill>
                  <a:srgbClr val="7A7A7A"/>
                </a:solidFill>
              </a:rPr>
              <a:t>mgmtstp27; the dashed line is the model's decision boundary and each arrow the shift that would change that recurrence's call.</a:t>
            </a:r>
          </a:p>
        </p:txBody>
      </p:sp>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1750000" y="300000"/>
            <a:ext cx="10150000" cy="1000000"/>
          </a:xfrm>
        </p:spPr>
        <p:txBody>
          <a:bodyPr wrap="square" anchor="b"/>
          <a:lstStyle/>
          <a:p>
            <a:r>
              <a:rPr sz="3000" b="1">
                <a:solidFill>
                  <a:srgbClr val="191D63"/>
                </a:solidFill>
              </a:rPr>
              <a:t>Backup B16. The one tumor-cell signal that survives adjustment</a:t>
            </a:r>
          </a:p>
        </p:txBody>
      </p:sp>
      <p:pic>
        <p:nvPicPr>
          <p:cNvPr id="3" name="Picture 2" descr="fig5a_dig_arms.png"/>
          <p:cNvPicPr>
            <a:picLocks noChangeAspect="1"/>
          </p:cNvPicPr>
          <p:nvPr/>
        </p:nvPicPr>
        <p:blipFill>
          <a:blip r:embed="rId2"/>
          <a:stretch>
            <a:fillRect/>
          </a:stretch>
        </p:blipFill>
        <p:spPr>
          <a:xfrm>
            <a:off x="1750000" y="1420000"/>
            <a:ext cx="6400000" cy="2732348"/>
          </a:xfrm>
          <a:prstGeom prst="rect">
            <a:avLst/>
          </a:prstGeom>
        </p:spPr>
      </p:pic>
      <p:sp>
        <p:nvSpPr>
          <p:cNvPr id="4" name="TextBox 3"/>
          <p:cNvSpPr txBox="1"/>
          <p:nvPr/>
        </p:nvSpPr>
        <p:spPr>
          <a:xfrm>
            <a:off x="8450000" y="1460000"/>
            <a:ext cx="3450000" cy="4790000"/>
          </a:xfrm>
          <a:prstGeom prst="rect">
            <a:avLst/>
          </a:prstGeom>
          <a:noFill/>
        </p:spPr>
        <p:txBody>
          <a:bodyPr wrap="square" lIns="0" rIns="0" tIns="0" bIns="0">
            <a:spAutoFit/>
          </a:bodyPr>
          <a:lstStyle/>
          <a:p>
            <a:pPr>
              <a:spcBef>
                <a:spcPts val="0"/>
              </a:spcBef>
              <a:spcAft>
                <a:spcPts val="1000"/>
              </a:spcAft>
            </a:pPr>
            <a:r>
              <a:rPr sz="1600" b="0">
                <a:solidFill>
                  <a:srgbClr val="191D63"/>
                </a:solidFill>
              </a:rPr>
              <a:t>A published distal-invasion program scores higher in the recurrences after adjusting for tumor content: the arm coefficient ranks 1 of 20 (p = 0.05), as does the unadjusted difference.</a:t>
            </a:r>
          </a:p>
          <a:p>
            <a:pPr>
              <a:spcBef>
                <a:spcPts val="0"/>
              </a:spcBef>
              <a:spcAft>
                <a:spcPts val="1000"/>
              </a:spcAft>
            </a:pPr>
            <a:r>
              <a:rPr sz="1600" b="0">
                <a:solidFill>
                  <a:srgbClr val="191D63"/>
                </a:solidFill>
              </a:rPr>
              <a:t>Two scoring packages agree. The pre-registration expected this to fail, on the basis of the human longitudinal cohort.</a:t>
            </a:r>
          </a:p>
          <a:p>
            <a:pPr>
              <a:spcBef>
                <a:spcPts val="0"/>
              </a:spcBef>
              <a:spcAft>
                <a:spcPts val="1000"/>
              </a:spcAft>
            </a:pPr>
            <a:r>
              <a:rPr sz="1600" b="0">
                <a:solidFill>
                  <a:srgbClr val="4C70B7"/>
                </a:solidFill>
              </a:rPr>
              <a:t>The floor is the floor: one labelling of twenty, in a model where the recurrent arm is also the later-harvested arm. It is a hypothesis for the scaled experiment, not a finding.</a:t>
            </a:r>
          </a:p>
        </p:txBody>
      </p:sp>
      <p:sp>
        <p:nvSpPr>
          <p:cNvPr id="5" name="TextBox 4"/>
          <p:cNvSpPr txBox="1"/>
          <p:nvPr/>
        </p:nvSpPr>
        <p:spPr>
          <a:xfrm>
            <a:off x="1750000" y="6380000"/>
            <a:ext cx="10150000" cy="420000"/>
          </a:xfrm>
          <a:prstGeom prst="rect">
            <a:avLst/>
          </a:prstGeom>
          <a:noFill/>
        </p:spPr>
        <p:txBody>
          <a:bodyPr wrap="square" lIns="0" rIns="0" tIns="0" bIns="0">
            <a:spAutoFit/>
          </a:bodyPr>
          <a:lstStyle/>
          <a:p>
            <a:pPr>
              <a:spcBef>
                <a:spcPts val="0"/>
              </a:spcBef>
              <a:spcAft>
                <a:spcPts val="0"/>
              </a:spcAft>
            </a:pPr>
            <a:r>
              <a:rPr sz="1000" b="0">
                <a:solidFill>
                  <a:srgbClr val="7A7A7A"/>
                </a:solidFill>
              </a:rPr>
              <a:t>Chanoch-Myers 2026 distal-invasion gene sets, frozen by hash; singscore on floor-corrected human log-CPM; model score ~ arm + tumour share, refitted for each of the twenty labellings.</a:t>
            </a:r>
          </a:p>
        </p:txBody>
      </p:sp>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1750000" y="300000"/>
            <a:ext cx="10150000" cy="1000000"/>
          </a:xfrm>
        </p:spPr>
        <p:txBody>
          <a:bodyPr wrap="square" anchor="b"/>
          <a:lstStyle/>
          <a:p>
            <a:r>
              <a:rPr sz="3000" b="1">
                <a:solidFill>
                  <a:srgbClr val="191D63"/>
                </a:solidFill>
              </a:rPr>
              <a:t>Backup B17. The gate that stopped the contralateral invasion test</a:t>
            </a:r>
          </a:p>
        </p:txBody>
      </p:sp>
      <p:pic>
        <p:nvPicPr>
          <p:cNvPr id="3" name="Picture 2" descr="fig5e_dig_floor_gate.png"/>
          <p:cNvPicPr>
            <a:picLocks noChangeAspect="1"/>
          </p:cNvPicPr>
          <p:nvPr/>
        </p:nvPicPr>
        <p:blipFill>
          <a:blip r:embed="rId2"/>
          <a:stretch>
            <a:fillRect/>
          </a:stretch>
        </p:blipFill>
        <p:spPr>
          <a:xfrm>
            <a:off x="1750000" y="1420000"/>
            <a:ext cx="6400000" cy="4572520"/>
          </a:xfrm>
          <a:prstGeom prst="rect">
            <a:avLst/>
          </a:prstGeom>
        </p:spPr>
      </p:pic>
      <p:sp>
        <p:nvSpPr>
          <p:cNvPr id="4" name="TextBox 3"/>
          <p:cNvSpPr txBox="1"/>
          <p:nvPr/>
        </p:nvSpPr>
        <p:spPr>
          <a:xfrm>
            <a:off x="8450000" y="1460000"/>
            <a:ext cx="3450000" cy="4790000"/>
          </a:xfrm>
          <a:prstGeom prst="rect">
            <a:avLst/>
          </a:prstGeom>
          <a:noFill/>
        </p:spPr>
        <p:txBody>
          <a:bodyPr wrap="square" lIns="0" rIns="0" tIns="0" bIns="0">
            <a:spAutoFit/>
          </a:bodyPr>
          <a:lstStyle/>
          <a:p>
            <a:pPr>
              <a:spcBef>
                <a:spcPts val="0"/>
              </a:spcBef>
              <a:spcAft>
                <a:spcPts val="1000"/>
              </a:spcAft>
            </a:pPr>
            <a:r>
              <a:rPr sz="1600" b="0">
                <a:solidFill>
                  <a:srgbClr val="191D63"/>
                </a:solidFill>
              </a:rPr>
              <a:t>The pre-registered case test asked whether rat 69's contralateral human cells sit further along the invasion axis than its own core.</a:t>
            </a:r>
          </a:p>
          <a:p>
            <a:pPr>
              <a:spcBef>
                <a:spcPts val="0"/>
              </a:spcBef>
              <a:spcAft>
                <a:spcPts val="1000"/>
              </a:spcAft>
            </a:pPr>
            <a:r>
              <a:rPr sz="1600" b="0">
                <a:solidFill>
                  <a:srgbClr val="191D63"/>
                </a:solidFill>
              </a:rPr>
              <a:t>Its gate failed first: the assignment floor itself scores as high as the contralateral sample (0.0195 is the arm coefficient; the floor libraries sit at the top of this panel), so the contrast would measure mis-assignment.</a:t>
            </a:r>
          </a:p>
          <a:p>
            <a:pPr>
              <a:spcBef>
                <a:spcPts val="0"/>
              </a:spcBef>
              <a:spcAft>
                <a:spcPts val="1000"/>
              </a:spcAft>
            </a:pPr>
            <a:r>
              <a:rPr sz="1600" b="0">
                <a:solidFill>
                  <a:srgbClr val="191D63"/>
                </a:solidFill>
              </a:rPr>
              <a:t>The test was abandoned and is reported as abandoned. The p-value the job printed is not a result.</a:t>
            </a:r>
          </a:p>
        </p:txBody>
      </p:sp>
      <p:sp>
        <p:nvSpPr>
          <p:cNvPr id="5" name="TextBox 4"/>
          <p:cNvSpPr txBox="1"/>
          <p:nvPr/>
        </p:nvSpPr>
        <p:spPr>
          <a:xfrm>
            <a:off x="1750000" y="6380000"/>
            <a:ext cx="10150000" cy="420000"/>
          </a:xfrm>
          <a:prstGeom prst="rect">
            <a:avLst/>
          </a:prstGeom>
          <a:noFill/>
        </p:spPr>
        <p:txBody>
          <a:bodyPr wrap="square" lIns="0" rIns="0" tIns="0" bIns="0">
            <a:spAutoFit/>
          </a:bodyPr>
          <a:lstStyle/>
          <a:p>
            <a:pPr>
              <a:spcBef>
                <a:spcPts val="0"/>
              </a:spcBef>
              <a:spcAft>
                <a:spcPts val="0"/>
              </a:spcAft>
            </a:pPr>
            <a:r>
              <a:rPr sz="1000" b="0">
                <a:solidFill>
                  <a:srgbClr val="7A7A7A"/>
                </a:solidFill>
              </a:rPr>
              <a:t>Same score as the arm test, on every human-bearing profile plus the two floor libraries. Pre-registered gate: the floor libraries must score below the contralateral sample.</a:t>
            </a:r>
          </a:p>
        </p:txBody>
      </p:sp>
    </p:spTree>
  </p:cSld>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1750000" y="300000"/>
            <a:ext cx="10150000" cy="1000000"/>
          </a:xfrm>
        </p:spPr>
        <p:txBody>
          <a:bodyPr wrap="square" anchor="b"/>
          <a:lstStyle/>
          <a:p>
            <a:r>
              <a:rPr sz="3000" b="1">
                <a:solidFill>
                  <a:srgbClr val="191D63"/>
                </a:solidFill>
              </a:rPr>
              <a:t>Backup B18. What a shared subclonal change would have to be for us to see it</a:t>
            </a:r>
          </a:p>
        </p:txBody>
      </p:sp>
      <p:pic>
        <p:nvPicPr>
          <p:cNvPr id="3" name="Picture 2" descr="fig5d_s1_detection.png"/>
          <p:cNvPicPr>
            <a:picLocks noChangeAspect="1"/>
          </p:cNvPicPr>
          <p:nvPr/>
        </p:nvPicPr>
        <p:blipFill>
          <a:blip r:embed="rId2"/>
          <a:stretch>
            <a:fillRect/>
          </a:stretch>
        </p:blipFill>
        <p:spPr>
          <a:xfrm>
            <a:off x="1750000" y="1420000"/>
            <a:ext cx="6400000" cy="4571428"/>
          </a:xfrm>
          <a:prstGeom prst="rect">
            <a:avLst/>
          </a:prstGeom>
        </p:spPr>
      </p:pic>
      <p:sp>
        <p:nvSpPr>
          <p:cNvPr id="4" name="TextBox 3"/>
          <p:cNvSpPr txBox="1"/>
          <p:nvPr/>
        </p:nvSpPr>
        <p:spPr>
          <a:xfrm>
            <a:off x="8450000" y="1460000"/>
            <a:ext cx="3450000" cy="4790000"/>
          </a:xfrm>
          <a:prstGeom prst="rect">
            <a:avLst/>
          </a:prstGeom>
          <a:noFill/>
        </p:spPr>
        <p:txBody>
          <a:bodyPr wrap="square" lIns="0" rIns="0" tIns="0" bIns="0">
            <a:spAutoFit/>
          </a:bodyPr>
          <a:lstStyle/>
          <a:p>
            <a:pPr>
              <a:spcBef>
                <a:spcPts val="0"/>
              </a:spcBef>
              <a:spcAft>
                <a:spcPts val="1000"/>
              </a:spcAft>
            </a:pPr>
            <a:r>
              <a:rPr sz="1600" b="0">
                <a:solidFill>
                  <a:srgbClr val="191D63"/>
                </a:solidFill>
              </a:rPr>
              <a:t>Recurrences do not share derived arm-level copy-number changes that the primaries lack (statistic 0.081, rank 5 of 20) — the pre-stated expected null.</a:t>
            </a:r>
          </a:p>
          <a:p>
            <a:pPr>
              <a:spcBef>
                <a:spcPts val="0"/>
              </a:spcBef>
              <a:spcAft>
                <a:spcPts val="1000"/>
              </a:spcAft>
            </a:pPr>
            <a:r>
              <a:rPr sz="1600" b="0">
                <a:solidFill>
                  <a:srgbClr val="191D63"/>
                </a:solidFill>
              </a:rPr>
              <a:t>The bound that makes that negative useful: a single-copy loss carried by fewer than 0.55 of recurrent cells (from two copies) or 0.8 (from three) would not have been flagged on 80 % of arms.</a:t>
            </a:r>
          </a:p>
          <a:p>
            <a:pPr>
              <a:spcBef>
                <a:spcPts val="0"/>
              </a:spcBef>
              <a:spcAft>
                <a:spcPts val="1000"/>
              </a:spcAft>
            </a:pPr>
            <a:r>
              <a:rPr sz="1600" b="0">
                <a:solidFill>
                  <a:srgbClr val="191D63"/>
                </a:solidFill>
              </a:rPr>
              <a:t>Gains are not detectable at any share by this rule, and that is stated rather than hidden.</a:t>
            </a:r>
          </a:p>
        </p:txBody>
      </p:sp>
      <p:sp>
        <p:nvSpPr>
          <p:cNvPr id="5" name="TextBox 4"/>
          <p:cNvSpPr txBox="1"/>
          <p:nvPr/>
        </p:nvSpPr>
        <p:spPr>
          <a:xfrm>
            <a:off x="1750000" y="6380000"/>
            <a:ext cx="10150000" cy="420000"/>
          </a:xfrm>
          <a:prstGeom prst="rect">
            <a:avLst/>
          </a:prstGeom>
          <a:noFill/>
        </p:spPr>
        <p:txBody>
          <a:bodyPr wrap="square" lIns="0" rIns="0" tIns="0" bIns="0">
            <a:spAutoFit/>
          </a:bodyPr>
          <a:lstStyle/>
          <a:p>
            <a:pPr>
              <a:spcBef>
                <a:spcPts val="0"/>
              </a:spcBef>
              <a:spcAft>
                <a:spcPts val="0"/>
              </a:spcAft>
            </a:pPr>
            <a:r>
              <a:rPr sz="1000" b="0">
                <a:solidFill>
                  <a:srgbClr val="7A7A7A"/>
                </a:solidFill>
              </a:rPr>
              <a:t>The registered rule applied unchanged to simulated shared changes added to the observed recurrent bins.</a:t>
            </a:r>
          </a:p>
        </p:txBody>
      </p:sp>
    </p:spTree>
  </p:cSld>
  <p:clrMapOvr>
    <a:masterClrMapping/>
  </p:clrMapOvr>
</p:sld>
</file>

<file path=ppt/slides/slide3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1750000" y="300000"/>
            <a:ext cx="10150000" cy="1000000"/>
          </a:xfrm>
        </p:spPr>
        <p:txBody>
          <a:bodyPr wrap="square" anchor="b"/>
          <a:lstStyle/>
          <a:p>
            <a:r>
              <a:rPr sz="3000" b="1">
                <a:solidFill>
                  <a:srgbClr val="191D63"/>
                </a:solidFill>
              </a:rPr>
              <a:t>Backup B19. Fluctuating CpGs: uninformative, and why</a:t>
            </a:r>
          </a:p>
        </p:txBody>
      </p:sp>
      <p:pic>
        <p:nvPicPr>
          <p:cNvPr id="3" name="Picture 2" descr="fig5c_fcpg_w.png"/>
          <p:cNvPicPr>
            <a:picLocks noChangeAspect="1"/>
          </p:cNvPicPr>
          <p:nvPr/>
        </p:nvPicPr>
        <p:blipFill>
          <a:blip r:embed="rId2"/>
          <a:stretch>
            <a:fillRect/>
          </a:stretch>
        </p:blipFill>
        <p:spPr>
          <a:xfrm>
            <a:off x="1750000" y="1420000"/>
            <a:ext cx="6147272" cy="4830000"/>
          </a:xfrm>
          <a:prstGeom prst="rect">
            <a:avLst/>
          </a:prstGeom>
        </p:spPr>
      </p:pic>
      <p:sp>
        <p:nvSpPr>
          <p:cNvPr id="4" name="TextBox 3"/>
          <p:cNvSpPr txBox="1"/>
          <p:nvPr/>
        </p:nvSpPr>
        <p:spPr>
          <a:xfrm>
            <a:off x="8197272" y="1460000"/>
            <a:ext cx="3702728" cy="4790000"/>
          </a:xfrm>
          <a:prstGeom prst="rect">
            <a:avLst/>
          </a:prstGeom>
          <a:noFill/>
        </p:spPr>
        <p:txBody>
          <a:bodyPr wrap="square" lIns="0" rIns="0" tIns="0" bIns="0">
            <a:spAutoFit/>
          </a:bodyPr>
          <a:lstStyle/>
          <a:p>
            <a:pPr>
              <a:spcBef>
                <a:spcPts val="0"/>
              </a:spcBef>
              <a:spcAft>
                <a:spcPts val="1000"/>
              </a:spcAft>
            </a:pPr>
            <a:r>
              <a:rPr sz="1600" b="0">
                <a:solidFill>
                  <a:srgbClr val="191D63"/>
                </a:solidFill>
              </a:rPr>
              <a:t>The homogeneity readout was pre-registered with two gates. The second failed: the parental culture is already multimodal at the published fluctuating-CpG sets (dip test p &lt; 0.005 for every list).</a:t>
            </a:r>
          </a:p>
          <a:p>
            <a:pPr>
              <a:spcBef>
                <a:spcPts val="0"/>
              </a:spcBef>
              <a:spcAft>
                <a:spcPts val="1000"/>
              </a:spcAft>
            </a:pPr>
            <a:r>
              <a:rPr sz="1600" b="0">
                <a:solidFill>
                  <a:srgbClr val="191D63"/>
                </a:solidFill>
              </a:rPr>
              <a:t>The statistic is about zero (-0.0002) and ranks 14 of 20.</a:t>
            </a:r>
          </a:p>
          <a:p>
            <a:pPr>
              <a:spcBef>
                <a:spcPts val="0"/>
              </a:spcBef>
              <a:spcAft>
                <a:spcPts val="1000"/>
              </a:spcAft>
            </a:pPr>
            <a:r>
              <a:rPr sz="1600" b="0">
                <a:solidFill>
                  <a:srgbClr val="191D63"/>
                </a:solidFill>
              </a:rPr>
              <a:t>So the homogeneity triad cannot be assembled, and no homogeneity claim is made anywhere in this work.</a:t>
            </a:r>
          </a:p>
        </p:txBody>
      </p:sp>
      <p:sp>
        <p:nvSpPr>
          <p:cNvPr id="5" name="TextBox 4"/>
          <p:cNvSpPr txBox="1"/>
          <p:nvPr/>
        </p:nvSpPr>
        <p:spPr>
          <a:xfrm>
            <a:off x="1750000" y="6380000"/>
            <a:ext cx="10150000" cy="420000"/>
          </a:xfrm>
          <a:prstGeom prst="rect">
            <a:avLst/>
          </a:prstGeom>
          <a:noFill/>
        </p:spPr>
        <p:txBody>
          <a:bodyPr wrap="square" lIns="0" rIns="0" tIns="0" bIns="0">
            <a:spAutoFit/>
          </a:bodyPr>
          <a:lstStyle/>
          <a:p>
            <a:pPr>
              <a:spcBef>
                <a:spcPts val="0"/>
              </a:spcBef>
              <a:spcAft>
                <a:spcPts val="0"/>
              </a:spcAft>
            </a:pPr>
            <a:r>
              <a:rPr sz="1000" b="0">
                <a:solidFill>
                  <a:srgbClr val="7A7A7A"/>
                </a:solidFill>
              </a:rPr>
              <a:t>Gabbutt 2022 and 2025 fluctuating-CpG lists, frozen by hash; ten matched control CpGs per site; the band is the dilution model.</a:t>
            </a:r>
          </a:p>
        </p:txBody>
      </p:sp>
    </p:spTree>
  </p:cSld>
  <p:clrMapOvr>
    <a:masterClrMapping/>
  </p:clrMapOvr>
</p:sld>
</file>

<file path=ppt/slides/slide3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1750000" y="300000"/>
            <a:ext cx="10150000" cy="1000000"/>
          </a:xfrm>
        </p:spPr>
        <p:txBody>
          <a:bodyPr wrap="square" anchor="b"/>
          <a:lstStyle/>
          <a:p>
            <a:r>
              <a:rPr sz="3000" b="1">
                <a:solidFill>
                  <a:srgbClr val="191D63"/>
                </a:solidFill>
              </a:rPr>
              <a:t>Backup B20. Array against RNA: expression dosage</a:t>
            </a:r>
          </a:p>
        </p:txBody>
      </p:sp>
      <p:pic>
        <p:nvPicPr>
          <p:cNvPr id="3" name="Picture 2" descr="fig_xval_dosage.png"/>
          <p:cNvPicPr>
            <a:picLocks noChangeAspect="1"/>
          </p:cNvPicPr>
          <p:nvPr/>
        </p:nvPicPr>
        <p:blipFill>
          <a:blip r:embed="rId2"/>
          <a:stretch>
            <a:fillRect/>
          </a:stretch>
        </p:blipFill>
        <p:spPr>
          <a:xfrm>
            <a:off x="1750000" y="1420000"/>
            <a:ext cx="6400000" cy="2133333"/>
          </a:xfrm>
          <a:prstGeom prst="rect">
            <a:avLst/>
          </a:prstGeom>
        </p:spPr>
      </p:pic>
      <p:sp>
        <p:nvSpPr>
          <p:cNvPr id="4" name="TextBox 3"/>
          <p:cNvSpPr txBox="1"/>
          <p:nvPr/>
        </p:nvSpPr>
        <p:spPr>
          <a:xfrm>
            <a:off x="8450000" y="1460000"/>
            <a:ext cx="3450000" cy="4790000"/>
          </a:xfrm>
          <a:prstGeom prst="rect">
            <a:avLst/>
          </a:prstGeom>
          <a:noFill/>
        </p:spPr>
        <p:txBody>
          <a:bodyPr wrap="square" lIns="0" rIns="0" tIns="0" bIns="0">
            <a:spAutoFit/>
          </a:bodyPr>
          <a:lstStyle/>
          <a:p>
            <a:pPr>
              <a:spcBef>
                <a:spcPts val="0"/>
              </a:spcBef>
              <a:spcAft>
                <a:spcPts val="1000"/>
              </a:spcAft>
            </a:pPr>
            <a:r>
              <a:rPr sz="1600" b="0">
                <a:solidFill>
                  <a:srgbClr val="191D63"/>
                </a:solidFill>
              </a:rPr>
              <a:t>Two assays on the same eight samples check each other. Where the RNA is tumor-rich, expression follows copy number: slope 0.54 (p = 7e-06), and the CDKN2A/B deletion every array calls is silent in every library, as it must be.</a:t>
            </a:r>
          </a:p>
          <a:p>
            <a:pPr>
              <a:spcBef>
                <a:spcPts val="0"/>
              </a:spcBef>
              <a:spcAft>
                <a:spcPts val="1000"/>
              </a:spcAft>
            </a:pPr>
            <a:r>
              <a:rPr sz="1600" b="0">
                <a:solidFill>
                  <a:srgbClr val="191D63"/>
                </a:solidFill>
              </a:rPr>
              <a:t>In the contralateral sample, arm-level expression does not follow its copy number anywhere in the genome (slope 0.17, p = 0.45), against 0.97 for its own core.</a:t>
            </a:r>
          </a:p>
          <a:p>
            <a:pPr>
              <a:spcBef>
                <a:spcPts val="0"/>
              </a:spcBef>
              <a:spcAft>
                <a:spcPts val="1000"/>
              </a:spcAft>
            </a:pPr>
            <a:r>
              <a:rPr sz="1600" b="0">
                <a:solidFill>
                  <a:srgbClr val="4C70B7"/>
                </a:solidFill>
              </a:rPr>
              <a:t>So the deeper losses seen there stay array-only and unresolved: the assay has no demonstrated dosage sensitivity in that sample, and we say so rather than reading them as subclones.</a:t>
            </a:r>
          </a:p>
        </p:txBody>
      </p:sp>
      <p:sp>
        <p:nvSpPr>
          <p:cNvPr id="5" name="TextBox 4"/>
          <p:cNvSpPr txBox="1"/>
          <p:nvPr/>
        </p:nvSpPr>
        <p:spPr>
          <a:xfrm>
            <a:off x="1750000" y="6380000"/>
            <a:ext cx="10150000" cy="420000"/>
          </a:xfrm>
          <a:prstGeom prst="rect">
            <a:avLst/>
          </a:prstGeom>
          <a:noFill/>
        </p:spPr>
        <p:txBody>
          <a:bodyPr wrap="square" lIns="0" rIns="0" tIns="0" bIns="0">
            <a:spAutoFit/>
          </a:bodyPr>
          <a:lstStyle/>
          <a:p>
            <a:pPr>
              <a:spcBef>
                <a:spcPts val="0"/>
              </a:spcBef>
              <a:spcAft>
                <a:spcPts val="0"/>
              </a:spcAft>
            </a:pPr>
            <a:r>
              <a:rPr sz="1000" b="0">
                <a:solidFill>
                  <a:srgbClr val="7A7A7A"/>
                </a:solidFill>
              </a:rPr>
              <a:t>Arm-level copy number against arm-median expression shift, nulls matched on expression decile.</a:t>
            </a:r>
          </a:p>
        </p:txBody>
      </p:sp>
    </p:spTree>
  </p:cSld>
  <p:clrMapOvr>
    <a:masterClrMapping/>
  </p:clrMapOvr>
</p:sld>
</file>

<file path=ppt/slides/slide4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1750000" y="300000"/>
            <a:ext cx="10150000" cy="1000000"/>
          </a:xfrm>
        </p:spPr>
        <p:txBody>
          <a:bodyPr wrap="square" anchor="b"/>
          <a:lstStyle/>
          <a:p>
            <a:r>
              <a:rPr sz="3000" b="1">
                <a:solidFill>
                  <a:srgbClr val="191D63"/>
                </a:solidFill>
              </a:rPr>
              <a:t>Backup B21. Array against RNA: genotype</a:t>
            </a:r>
          </a:p>
        </p:txBody>
      </p:sp>
      <p:pic>
        <p:nvPicPr>
          <p:cNvPr id="3" name="Picture 2" descr="fig_xval_genotype.png"/>
          <p:cNvPicPr>
            <a:picLocks noChangeAspect="1"/>
          </p:cNvPicPr>
          <p:nvPr/>
        </p:nvPicPr>
        <p:blipFill>
          <a:blip r:embed="rId2"/>
          <a:stretch>
            <a:fillRect/>
          </a:stretch>
        </p:blipFill>
        <p:spPr>
          <a:xfrm>
            <a:off x="1750000" y="1420000"/>
            <a:ext cx="6400000" cy="3066666"/>
          </a:xfrm>
          <a:prstGeom prst="rect">
            <a:avLst/>
          </a:prstGeom>
        </p:spPr>
      </p:pic>
      <p:sp>
        <p:nvSpPr>
          <p:cNvPr id="4" name="TextBox 3"/>
          <p:cNvSpPr txBox="1"/>
          <p:nvPr/>
        </p:nvSpPr>
        <p:spPr>
          <a:xfrm>
            <a:off x="8450000" y="1460000"/>
            <a:ext cx="3450000" cy="4790000"/>
          </a:xfrm>
          <a:prstGeom prst="rect">
            <a:avLst/>
          </a:prstGeom>
          <a:noFill/>
        </p:spPr>
        <p:txBody>
          <a:bodyPr wrap="square" lIns="0" rIns="0" tIns="0" bIns="0">
            <a:spAutoFit/>
          </a:bodyPr>
          <a:lstStyle/>
          <a:p>
            <a:pPr>
              <a:spcBef>
                <a:spcPts val="0"/>
              </a:spcBef>
              <a:spcAft>
                <a:spcPts val="1000"/>
              </a:spcAft>
            </a:pPr>
            <a:r>
              <a:rPr sz="1600" b="0">
                <a:solidFill>
                  <a:srgbClr val="191D63"/>
                </a:solidFill>
              </a:rPr>
              <a:t>At expressed CpG-SNP positions the RNA genotype agrees with the array's implied genotype in 527 of 543 pairs (97.1 %).</a:t>
            </a:r>
          </a:p>
          <a:p>
            <a:pPr>
              <a:spcBef>
                <a:spcPts val="0"/>
              </a:spcBef>
              <a:spcAft>
                <a:spcPts val="1000"/>
              </a:spcAft>
            </a:pPr>
            <a:r>
              <a:rPr sz="1600" b="0">
                <a:solidFill>
                  <a:srgbClr val="191D63"/>
                </a:solidFill>
              </a:rPr>
              <a:t>The sixteen disagreements sit at five common germline sites carried by every sample: line-wide, not subclonal.</a:t>
            </a:r>
          </a:p>
          <a:p>
            <a:pPr>
              <a:spcBef>
                <a:spcPts val="0"/>
              </a:spcBef>
              <a:spcAft>
                <a:spcPts val="1000"/>
              </a:spcAft>
            </a:pPr>
            <a:r>
              <a:rPr sz="1600" b="0">
                <a:solidFill>
                  <a:srgbClr val="191D63"/>
                </a:solidFill>
              </a:rPr>
              <a:t>The libraries agree with each other at 99.86 % over 4,230 paired sites.</a:t>
            </a:r>
          </a:p>
          <a:p>
            <a:pPr>
              <a:spcBef>
                <a:spcPts val="0"/>
              </a:spcBef>
              <a:spcAft>
                <a:spcPts val="1000"/>
              </a:spcAft>
            </a:pPr>
            <a:r>
              <a:rPr sz="1600" b="0">
                <a:solidFill>
                  <a:srgbClr val="191D63"/>
                </a:solidFill>
              </a:rPr>
              <a:t>The array's identity probes lie outside expressed sequence, so the full-genotype arm of this test could not run.</a:t>
            </a:r>
          </a:p>
        </p:txBody>
      </p:sp>
      <p:sp>
        <p:nvSpPr>
          <p:cNvPr id="5" name="TextBox 4"/>
          <p:cNvSpPr txBox="1"/>
          <p:nvPr/>
        </p:nvSpPr>
        <p:spPr>
          <a:xfrm>
            <a:off x="1750000" y="6380000"/>
            <a:ext cx="10150000" cy="420000"/>
          </a:xfrm>
          <a:prstGeom prst="rect">
            <a:avLst/>
          </a:prstGeom>
          <a:noFill/>
        </p:spPr>
        <p:txBody>
          <a:bodyPr wrap="square" lIns="0" rIns="0" tIns="0" bIns="0">
            <a:spAutoFit/>
          </a:bodyPr>
          <a:lstStyle/>
          <a:p>
            <a:pPr>
              <a:spcBef>
                <a:spcPts val="0"/>
              </a:spcBef>
              <a:spcAft>
                <a:spcPts val="0"/>
              </a:spcAft>
            </a:pPr>
            <a:r>
              <a:rPr sz="1000" b="0">
                <a:solidFill>
                  <a:srgbClr val="7A7A7A"/>
                </a:solidFill>
              </a:rPr>
              <a:t>bcftools pile-up at the array's probe positions; genotype cut-offs fixed in the pre-registration.</a:t>
            </a:r>
          </a:p>
        </p:txBody>
      </p:sp>
    </p:spTree>
  </p:cSld>
  <p:clrMapOvr>
    <a:masterClrMapping/>
  </p:clrMapOvr>
</p:sld>
</file>

<file path=ppt/slides/slide4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1750000" y="300000"/>
            <a:ext cx="10150000" cy="1000000"/>
          </a:xfrm>
        </p:spPr>
        <p:txBody>
          <a:bodyPr wrap="square" anchor="b"/>
          <a:lstStyle/>
          <a:p>
            <a:r>
              <a:rPr sz="3000" b="1">
                <a:solidFill>
                  <a:srgbClr val="191D63"/>
                </a:solidFill>
              </a:rPr>
              <a:t>Backup B22. Array against RNA: promoter methylation</a:t>
            </a:r>
          </a:p>
        </p:txBody>
      </p:sp>
      <p:pic>
        <p:nvPicPr>
          <p:cNvPr id="3" name="Picture 2" descr="fig_xval_meth.png"/>
          <p:cNvPicPr>
            <a:picLocks noChangeAspect="1"/>
          </p:cNvPicPr>
          <p:nvPr/>
        </p:nvPicPr>
        <p:blipFill>
          <a:blip r:embed="rId2"/>
          <a:stretch>
            <a:fillRect/>
          </a:stretch>
        </p:blipFill>
        <p:spPr>
          <a:xfrm>
            <a:off x="1750000" y="1420000"/>
            <a:ext cx="6400000" cy="3066666"/>
          </a:xfrm>
          <a:prstGeom prst="rect">
            <a:avLst/>
          </a:prstGeom>
        </p:spPr>
      </p:pic>
      <p:sp>
        <p:nvSpPr>
          <p:cNvPr id="4" name="TextBox 3"/>
          <p:cNvSpPr txBox="1"/>
          <p:nvPr/>
        </p:nvSpPr>
        <p:spPr>
          <a:xfrm>
            <a:off x="8450000" y="1460000"/>
            <a:ext cx="3450000" cy="4790000"/>
          </a:xfrm>
          <a:prstGeom prst="rect">
            <a:avLst/>
          </a:prstGeom>
          <a:noFill/>
        </p:spPr>
        <p:txBody>
          <a:bodyPr wrap="square" lIns="0" rIns="0" tIns="0" bIns="0">
            <a:spAutoFit/>
          </a:bodyPr>
          <a:lstStyle/>
          <a:p>
            <a:pPr>
              <a:spcBef>
                <a:spcPts val="0"/>
              </a:spcBef>
              <a:spcAft>
                <a:spcPts val="1000"/>
              </a:spcAft>
            </a:pPr>
            <a:r>
              <a:rPr sz="1600" b="0">
                <a:solidFill>
                  <a:srgbClr val="191D63"/>
                </a:solidFill>
              </a:rPr>
              <a:t>Within every sample, promoter methylation and expression anticorrelate (Spearman −0.31 to −0.36; no shuffle of 10,000 reached it), the direction the cell-line compendia show.</a:t>
            </a:r>
          </a:p>
          <a:p>
            <a:pPr>
              <a:spcBef>
                <a:spcPts val="0"/>
              </a:spcBef>
              <a:spcAft>
                <a:spcPts val="1000"/>
              </a:spcAft>
            </a:pPr>
            <a:r>
              <a:rPr sz="1600" b="0">
                <a:solidFill>
                  <a:srgbClr val="191D63"/>
                </a:solidFill>
              </a:rPr>
              <a:t>Across the recurrence contrast the two do not move together (Spearman −0.003; the true split ranks 8 of 10).</a:t>
            </a:r>
          </a:p>
          <a:p>
            <a:pPr>
              <a:spcBef>
                <a:spcPts val="0"/>
              </a:spcBef>
              <a:spcAft>
                <a:spcPts val="1000"/>
              </a:spcAft>
            </a:pPr>
            <a:r>
              <a:rPr sz="1600" b="0">
                <a:solidFill>
                  <a:srgbClr val="191D63"/>
                </a:solidFill>
              </a:rPr>
              <a:t>The ribosomal-protein block that dominates the tumor-cell list has no copy-number or promoter support.</a:t>
            </a:r>
          </a:p>
        </p:txBody>
      </p:sp>
      <p:sp>
        <p:nvSpPr>
          <p:cNvPr id="5" name="TextBox 4"/>
          <p:cNvSpPr txBox="1"/>
          <p:nvPr/>
        </p:nvSpPr>
        <p:spPr>
          <a:xfrm>
            <a:off x="1750000" y="6380000"/>
            <a:ext cx="10150000" cy="420000"/>
          </a:xfrm>
          <a:prstGeom prst="rect">
            <a:avLst/>
          </a:prstGeom>
          <a:noFill/>
        </p:spPr>
        <p:txBody>
          <a:bodyPr wrap="square" lIns="0" rIns="0" tIns="0" bIns="0">
            <a:spAutoFit/>
          </a:bodyPr>
          <a:lstStyle/>
          <a:p>
            <a:pPr>
              <a:spcBef>
                <a:spcPts val="0"/>
              </a:spcBef>
              <a:spcAft>
                <a:spcPts val="0"/>
              </a:spcAft>
            </a:pPr>
            <a:r>
              <a:rPr sz="1000" b="0">
                <a:solidFill>
                  <a:srgbClr val="7A7A7A"/>
                </a:solidFill>
              </a:rPr>
              <a:t>Promoter beta against log-CPM per sample; the delta-delta test compares fraction-adjusted promoter change with graft-adjusted expression change.</a:t>
            </a:r>
          </a:p>
        </p:txBody>
      </p:sp>
    </p:spTree>
  </p:cSld>
  <p:clrMapOvr>
    <a:masterClrMapping/>
  </p:clrMapOvr>
</p:sld>
</file>

<file path=ppt/slides/slide4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1750000" y="300000"/>
            <a:ext cx="10150000" cy="1000000"/>
          </a:xfrm>
        </p:spPr>
        <p:txBody>
          <a:bodyPr wrap="square" anchor="b"/>
          <a:lstStyle/>
          <a:p>
            <a:r>
              <a:rPr sz="3000" b="1">
                <a:solidFill>
                  <a:srgbClr val="191D63"/>
                </a:solidFill>
              </a:rPr>
              <a:t>Backup B23. The calibration that failed, and why it matters</a:t>
            </a:r>
          </a:p>
        </p:txBody>
      </p:sp>
      <p:pic>
        <p:nvPicPr>
          <p:cNvPr id="3" name="Picture 2" descr="fig_curve_mouse_validation.png"/>
          <p:cNvPicPr>
            <a:picLocks noChangeAspect="1"/>
          </p:cNvPicPr>
          <p:nvPr/>
        </p:nvPicPr>
        <p:blipFill>
          <a:blip r:embed="rId2"/>
          <a:stretch>
            <a:fillRect/>
          </a:stretch>
        </p:blipFill>
        <p:spPr>
          <a:xfrm>
            <a:off x="1750000" y="1420000"/>
            <a:ext cx="6400000" cy="4000000"/>
          </a:xfrm>
          <a:prstGeom prst="rect">
            <a:avLst/>
          </a:prstGeom>
        </p:spPr>
      </p:pic>
      <p:sp>
        <p:nvSpPr>
          <p:cNvPr id="4" name="TextBox 3"/>
          <p:cNvSpPr txBox="1"/>
          <p:nvPr/>
        </p:nvSpPr>
        <p:spPr>
          <a:xfrm>
            <a:off x="8450000" y="1460000"/>
            <a:ext cx="3450000" cy="4790000"/>
          </a:xfrm>
          <a:prstGeom prst="rect">
            <a:avLst/>
          </a:prstGeom>
          <a:noFill/>
        </p:spPr>
        <p:txBody>
          <a:bodyPr wrap="square" lIns="0" rIns="0" tIns="0" bIns="0">
            <a:spAutoFit/>
          </a:bodyPr>
          <a:lstStyle/>
          <a:p>
            <a:pPr>
              <a:spcBef>
                <a:spcPts val="0"/>
              </a:spcBef>
              <a:spcAft>
                <a:spcPts val="1000"/>
              </a:spcAft>
            </a:pPr>
            <a:r>
              <a:rPr sz="1600" b="0">
                <a:solidFill>
                  <a:srgbClr val="191D63"/>
                </a:solidFill>
              </a:rPr>
              <a:t>Mixing two pure arrays in silico does not reproduce real DNA mixtures: mean absolute error 0.242 against a pre-set bar of 0.05 (maximum 0.531 against 0.10), every real mixture reading high.</a:t>
            </a:r>
          </a:p>
          <a:p>
            <a:pPr>
              <a:spcBef>
                <a:spcPts val="0"/>
              </a:spcBef>
              <a:spcAft>
                <a:spcPts val="1000"/>
              </a:spcAft>
            </a:pPr>
            <a:r>
              <a:rPr sz="1600" b="0">
                <a:solidFill>
                  <a:srgbClr val="191D63"/>
                </a:solidFill>
              </a:rPr>
              <a:t>A correction fitted on those real mixtures still misses its held-out bar (0.057, maximum 0.283).</a:t>
            </a:r>
          </a:p>
          <a:p>
            <a:pPr>
              <a:spcBef>
                <a:spcPts val="0"/>
              </a:spcBef>
              <a:spcAft>
                <a:spcPts val="1000"/>
              </a:spcAft>
            </a:pPr>
            <a:r>
              <a:rPr sz="1600" b="0">
                <a:solidFill>
                  <a:srgbClr val="4C70B7"/>
                </a:solidFill>
              </a:rPr>
              <a:t>So every tumour-fraction value here is uncalibrated and every dilution null is labelled unvalidated. No published human:rat titration on a human methylation array exists — the scaled design runs one.</a:t>
            </a:r>
          </a:p>
          <a:p>
            <a:pPr>
              <a:spcBef>
                <a:spcPts val="0"/>
              </a:spcBef>
              <a:spcAft>
                <a:spcPts val="1000"/>
              </a:spcAft>
            </a:pPr>
            <a:r>
              <a:rPr sz="1600" b="0">
                <a:solidFill>
                  <a:srgbClr val="191D63"/>
                </a:solidFill>
              </a:rPr>
              <a:t>We also found a defect in the public human:mouse series: in one batch every red-channel file is a copy of the green.</a:t>
            </a:r>
          </a:p>
        </p:txBody>
      </p:sp>
      <p:sp>
        <p:nvSpPr>
          <p:cNvPr id="5" name="TextBox 4"/>
          <p:cNvSpPr txBox="1"/>
          <p:nvPr/>
        </p:nvSpPr>
        <p:spPr>
          <a:xfrm>
            <a:off x="1750000" y="6380000"/>
            <a:ext cx="10150000" cy="420000"/>
          </a:xfrm>
          <a:prstGeom prst="rect">
            <a:avLst/>
          </a:prstGeom>
          <a:noFill/>
        </p:spPr>
        <p:txBody>
          <a:bodyPr wrap="square" lIns="0" rIns="0" tIns="0" bIns="0">
            <a:spAutoFit/>
          </a:bodyPr>
          <a:lstStyle/>
          <a:p>
            <a:pPr>
              <a:spcBef>
                <a:spcPts val="0"/>
              </a:spcBef>
              <a:spcAft>
                <a:spcPts val="0"/>
              </a:spcAft>
            </a:pPr>
            <a:r>
              <a:rPr sz="1000" b="0">
                <a:solidFill>
                  <a:srgbClr val="7A7A7A"/>
                </a:solidFill>
              </a:rPr>
              <a:t>GSE310817 (human:mouse titrations, EPIC v1) as the validation set; GSE299969 (EPIC v2) as the independent check.</a:t>
            </a:r>
          </a:p>
        </p:txBody>
      </p:sp>
    </p:spTree>
  </p:cSld>
  <p:clrMapOvr>
    <a:masterClrMapping/>
  </p:clrMapOvr>
</p:sld>
</file>

<file path=ppt/slides/slide4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1750000" y="300000"/>
            <a:ext cx="10150000" cy="1000000"/>
          </a:xfrm>
        </p:spPr>
        <p:txBody>
          <a:bodyPr wrap="square" anchor="b"/>
          <a:lstStyle/>
          <a:p>
            <a:r>
              <a:rPr sz="3000" b="1">
                <a:solidFill>
                  <a:srgbClr val="191D63"/>
                </a:solidFill>
              </a:rPr>
              <a:t>Backup B24. The contralateral sample against a dilution null</a:t>
            </a:r>
          </a:p>
        </p:txBody>
      </p:sp>
      <p:pic>
        <p:nvPicPr>
          <p:cNvPr id="3" name="Picture 2" descr="fig_a_nullA.png"/>
          <p:cNvPicPr>
            <a:picLocks noChangeAspect="1"/>
          </p:cNvPicPr>
          <p:nvPr/>
        </p:nvPicPr>
        <p:blipFill>
          <a:blip r:embed="rId2"/>
          <a:stretch>
            <a:fillRect/>
          </a:stretch>
        </p:blipFill>
        <p:spPr>
          <a:xfrm>
            <a:off x="1750000" y="1420000"/>
            <a:ext cx="6400000" cy="3437037"/>
          </a:xfrm>
          <a:prstGeom prst="rect">
            <a:avLst/>
          </a:prstGeom>
        </p:spPr>
      </p:pic>
      <p:sp>
        <p:nvSpPr>
          <p:cNvPr id="4" name="TextBox 3"/>
          <p:cNvSpPr txBox="1"/>
          <p:nvPr/>
        </p:nvSpPr>
        <p:spPr>
          <a:xfrm>
            <a:off x="8450000" y="1460000"/>
            <a:ext cx="3450000" cy="4790000"/>
          </a:xfrm>
          <a:prstGeom prst="rect">
            <a:avLst/>
          </a:prstGeom>
          <a:noFill/>
        </p:spPr>
        <p:txBody>
          <a:bodyPr wrap="square" lIns="0" rIns="0" tIns="0" bIns="0">
            <a:spAutoFit/>
          </a:bodyPr>
          <a:lstStyle/>
          <a:p>
            <a:pPr>
              <a:spcBef>
                <a:spcPts val="0"/>
              </a:spcBef>
              <a:spcAft>
                <a:spcPts val="1000"/>
              </a:spcAft>
            </a:pPr>
            <a:r>
              <a:rPr sz="1600" b="0">
                <a:solidFill>
                  <a:srgbClr val="191D63"/>
                </a:solidFill>
              </a:rPr>
              <a:t>The null: the animal's own core subsampled to the contralateral sample's tumor depth, plus the measured assignment floor, 1,000 draws at a fixed seed.</a:t>
            </a:r>
          </a:p>
          <a:p>
            <a:pPr>
              <a:spcBef>
                <a:spcPts val="0"/>
              </a:spcBef>
              <a:spcAft>
                <a:spcPts val="1000"/>
              </a:spcAft>
            </a:pPr>
            <a:r>
              <a:rPr sz="1600" b="0">
                <a:solidFill>
                  <a:srgbClr val="191D63"/>
                </a:solidFill>
              </a:rPr>
              <a:t>Whole-profile distance 0.153 against a null 99.5th percentile of 0.028, and larger than another animal's core gives.</a:t>
            </a:r>
          </a:p>
          <a:p>
            <a:pPr>
              <a:spcBef>
                <a:spcPts val="0"/>
              </a:spcBef>
              <a:spcAft>
                <a:spcPts val="1000"/>
              </a:spcAft>
            </a:pPr>
            <a:r>
              <a:rPr sz="1600" b="0">
                <a:solidFill>
                  <a:srgbClr val="191D63"/>
                </a:solidFill>
              </a:rPr>
              <a:t>Malignant-state composition differs by 0.102 against a null maximum of 0.069.</a:t>
            </a:r>
          </a:p>
          <a:p>
            <a:pPr>
              <a:spcBef>
                <a:spcPts val="0"/>
              </a:spcBef>
              <a:spcAft>
                <a:spcPts val="1000"/>
              </a:spcAft>
            </a:pPr>
            <a:r>
              <a:rPr sz="1600" b="0">
                <a:solidFill>
                  <a:srgbClr val="191D63"/>
                </a:solidFill>
              </a:rPr>
              <a:t>The third statistic, the only one with a direction named in advance, does not reject (P = 0.56) and moves the other way.</a:t>
            </a:r>
          </a:p>
        </p:txBody>
      </p:sp>
      <p:sp>
        <p:nvSpPr>
          <p:cNvPr id="5" name="TextBox 4"/>
          <p:cNvSpPr txBox="1"/>
          <p:nvPr/>
        </p:nvSpPr>
        <p:spPr>
          <a:xfrm>
            <a:off x="1750000" y="6380000"/>
            <a:ext cx="10150000" cy="420000"/>
          </a:xfrm>
          <a:prstGeom prst="rect">
            <a:avLst/>
          </a:prstGeom>
          <a:noFill/>
        </p:spPr>
        <p:txBody>
          <a:bodyPr wrap="square" lIns="0" rIns="0" tIns="0" bIns="0">
            <a:spAutoFit/>
          </a:bodyPr>
          <a:lstStyle/>
          <a:p>
            <a:pPr>
              <a:spcBef>
                <a:spcPts val="0"/>
              </a:spcBef>
              <a:spcAft>
                <a:spcPts val="0"/>
              </a:spcAft>
            </a:pPr>
            <a:r>
              <a:rPr sz="1000" b="0">
                <a:solidFill>
                  <a:srgbClr val="7A7A7A"/>
                </a:solidFill>
              </a:rPr>
              <a:t>Dashed and dotted lines: the same construction from two other animals' cores. One animal.</a:t>
            </a:r>
          </a:p>
        </p:txBody>
      </p:sp>
    </p:spTree>
  </p:cSld>
  <p:clrMapOvr>
    <a:masterClrMapping/>
  </p:clrMapOvr>
</p:sld>
</file>

<file path=ppt/slides/slide4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1750000" y="300000"/>
            <a:ext cx="10150000" cy="1000000"/>
          </a:xfrm>
        </p:spPr>
        <p:txBody>
          <a:bodyPr wrap="square" anchor="b"/>
          <a:lstStyle/>
          <a:p>
            <a:r>
              <a:rPr sz="3000" b="1">
                <a:solidFill>
                  <a:srgbClr val="191D63"/>
                </a:solidFill>
              </a:rPr>
              <a:t>Backup B25. Does the contralateral population look like the recurrences?</a:t>
            </a:r>
          </a:p>
        </p:txBody>
      </p:sp>
      <p:pic>
        <p:nvPicPr>
          <p:cNvPr id="3" name="Picture 2" descr="fig_b_similarity.png"/>
          <p:cNvPicPr>
            <a:picLocks noChangeAspect="1"/>
          </p:cNvPicPr>
          <p:nvPr/>
        </p:nvPicPr>
        <p:blipFill>
          <a:blip r:embed="rId2"/>
          <a:stretch>
            <a:fillRect/>
          </a:stretch>
        </p:blipFill>
        <p:spPr>
          <a:xfrm>
            <a:off x="1750000" y="1420000"/>
            <a:ext cx="6400000" cy="2251851"/>
          </a:xfrm>
          <a:prstGeom prst="rect">
            <a:avLst/>
          </a:prstGeom>
        </p:spPr>
      </p:pic>
      <p:sp>
        <p:nvSpPr>
          <p:cNvPr id="4" name="TextBox 3"/>
          <p:cNvSpPr txBox="1"/>
          <p:nvPr/>
        </p:nvSpPr>
        <p:spPr>
          <a:xfrm>
            <a:off x="8450000" y="1460000"/>
            <a:ext cx="3450000" cy="4790000"/>
          </a:xfrm>
          <a:prstGeom prst="rect">
            <a:avLst/>
          </a:prstGeom>
          <a:noFill/>
        </p:spPr>
        <p:txBody>
          <a:bodyPr wrap="square" lIns="0" rIns="0" tIns="0" bIns="0">
            <a:spAutoFit/>
          </a:bodyPr>
          <a:lstStyle/>
          <a:p>
            <a:pPr>
              <a:spcBef>
                <a:spcPts val="0"/>
              </a:spcBef>
              <a:spcAft>
                <a:spcPts val="1000"/>
              </a:spcAft>
            </a:pPr>
            <a:r>
              <a:rPr sz="1600" b="0">
                <a:solidFill>
                  <a:srgbClr val="191D63"/>
                </a:solidFill>
              </a:rPr>
              <a:t>No, on either pre-registered statistic, and it fails in the direction the literature predicts.</a:t>
            </a:r>
          </a:p>
          <a:p>
            <a:pPr>
              <a:spcBef>
                <a:spcPts val="0"/>
              </a:spcBef>
              <a:spcAft>
                <a:spcPts val="1000"/>
              </a:spcAft>
            </a:pPr>
            <a:r>
              <a:rPr sz="1600" b="0">
                <a:solidFill>
                  <a:srgbClr val="191D63"/>
                </a:solidFill>
              </a:rPr>
              <a:t>Recurrent-minus-primary similarity difference −0.028: the sample sits nearer the primaries.</a:t>
            </a:r>
          </a:p>
          <a:p>
            <a:pPr>
              <a:spcBef>
                <a:spcPts val="0"/>
              </a:spcBef>
              <a:spcAft>
                <a:spcPts val="1000"/>
              </a:spcAft>
            </a:pPr>
            <a:r>
              <a:rPr sz="1600" b="0">
                <a:solidFill>
                  <a:srgbClr val="191D63"/>
                </a:solidFill>
              </a:rPr>
              <a:t>The true arm labelling ranks fifteenth of twenty (P = 0.75).</a:t>
            </a:r>
          </a:p>
          <a:p>
            <a:pPr>
              <a:spcBef>
                <a:spcPts val="0"/>
              </a:spcBef>
              <a:spcAft>
                <a:spcPts val="1000"/>
              </a:spcAft>
            </a:pPr>
            <a:r>
              <a:rPr sz="1600" b="0">
                <a:solidFill>
                  <a:srgbClr val="191D63"/>
                </a:solidFill>
              </a:rPr>
              <a:t>A variant-sharing test looked strongly positive (P = 9e-10) until the variants a tumor-free library also carries were removed; then 0.830 against 0.828 (P = 0.93). Host reads in the graft stream manufacture that signal.</a:t>
            </a:r>
          </a:p>
        </p:txBody>
      </p:sp>
      <p:sp>
        <p:nvSpPr>
          <p:cNvPr id="5" name="TextBox 4"/>
          <p:cNvSpPr txBox="1"/>
          <p:nvPr/>
        </p:nvSpPr>
        <p:spPr>
          <a:xfrm>
            <a:off x="1750000" y="6380000"/>
            <a:ext cx="10150000" cy="420000"/>
          </a:xfrm>
          <a:prstGeom prst="rect">
            <a:avLst/>
          </a:prstGeom>
          <a:noFill/>
        </p:spPr>
        <p:txBody>
          <a:bodyPr wrap="square" lIns="0" rIns="0" tIns="0" bIns="0">
            <a:spAutoFit/>
          </a:bodyPr>
          <a:lstStyle/>
          <a:p>
            <a:pPr>
              <a:spcBef>
                <a:spcPts val="0"/>
              </a:spcBef>
              <a:spcAft>
                <a:spcPts val="0"/>
              </a:spcAft>
            </a:pPr>
            <a:r>
              <a:rPr sz="1000" b="0">
                <a:solidFill>
                  <a:srgbClr val="7A7A7A"/>
                </a:solidFill>
              </a:rPr>
              <a:t>All libraries subsampled to one depth before the comparison; twenty balanced labellings.</a:t>
            </a:r>
          </a:p>
        </p:txBody>
      </p:sp>
    </p:spTree>
  </p:cSld>
  <p:clrMapOvr>
    <a:masterClrMapping/>
  </p:clrMapOvr>
</p:sld>
</file>

<file path=ppt/slides/slide4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1750000" y="300000"/>
            <a:ext cx="10150000" cy="1000000"/>
          </a:xfrm>
        </p:spPr>
        <p:txBody>
          <a:bodyPr wrap="square" anchor="b"/>
          <a:lstStyle/>
          <a:p>
            <a:r>
              <a:rPr sz="3000" b="1">
                <a:solidFill>
                  <a:srgbClr val="191D63"/>
                </a:solidFill>
              </a:rPr>
              <a:t>Backup B26. The four arms named before the analysis</a:t>
            </a:r>
          </a:p>
        </p:txBody>
      </p:sp>
      <p:pic>
        <p:nvPicPr>
          <p:cNvPr id="3" name="Picture 2" descr="fig_c1_events.png"/>
          <p:cNvPicPr>
            <a:picLocks noChangeAspect="1"/>
          </p:cNvPicPr>
          <p:nvPr/>
        </p:nvPicPr>
        <p:blipFill>
          <a:blip r:embed="rId2"/>
          <a:stretch>
            <a:fillRect/>
          </a:stretch>
        </p:blipFill>
        <p:spPr>
          <a:xfrm>
            <a:off x="1750000" y="1420000"/>
            <a:ext cx="6400000" cy="3200000"/>
          </a:xfrm>
          <a:prstGeom prst="rect">
            <a:avLst/>
          </a:prstGeom>
        </p:spPr>
      </p:pic>
      <p:sp>
        <p:nvSpPr>
          <p:cNvPr id="4" name="TextBox 3"/>
          <p:cNvSpPr txBox="1"/>
          <p:nvPr/>
        </p:nvSpPr>
        <p:spPr>
          <a:xfrm>
            <a:off x="8450000" y="1460000"/>
            <a:ext cx="3450000" cy="4790000"/>
          </a:xfrm>
          <a:prstGeom prst="rect">
            <a:avLst/>
          </a:prstGeom>
          <a:noFill/>
        </p:spPr>
        <p:txBody>
          <a:bodyPr wrap="square" lIns="0" rIns="0" tIns="0" bIns="0">
            <a:spAutoFit/>
          </a:bodyPr>
          <a:lstStyle/>
          <a:p>
            <a:pPr>
              <a:spcBef>
                <a:spcPts val="0"/>
              </a:spcBef>
              <a:spcAft>
                <a:spcPts val="1000"/>
              </a:spcAft>
            </a:pPr>
            <a:r>
              <a:rPr sz="1600" b="0">
                <a:solidFill>
                  <a:srgbClr val="191D63"/>
                </a:solidFill>
              </a:rPr>
              <a:t>None is a contralateral-only copy-number event: the animal's own core carries all four at three to six times the noise bound measured on thirteen copy-neutral control arrays, and so does the parental culture.</a:t>
            </a:r>
          </a:p>
          <a:p>
            <a:pPr>
              <a:spcBef>
                <a:spcPts val="0"/>
              </a:spcBef>
              <a:spcAft>
                <a:spcPts val="1000"/>
              </a:spcAft>
            </a:pPr>
            <a:r>
              <a:rPr sz="1600" b="0">
                <a:solidFill>
                  <a:srgbClr val="191D63"/>
                </a:solidFill>
              </a:rPr>
              <a:t>Along the genome the contralateral profile is the core's profile with the same breakpoints and deeper losses.</a:t>
            </a:r>
          </a:p>
          <a:p>
            <a:pPr>
              <a:spcBef>
                <a:spcPts val="0"/>
              </a:spcBef>
              <a:spcAft>
                <a:spcPts val="1000"/>
              </a:spcAft>
            </a:pPr>
            <a:r>
              <a:rPr sz="1600" b="0">
                <a:solidFill>
                  <a:srgbClr val="191D63"/>
                </a:solidFill>
              </a:rPr>
              <a:t>Whether those deeper losses are subclonal composition or low-signal distortion, this array cannot resolve (B20).</a:t>
            </a:r>
          </a:p>
        </p:txBody>
      </p:sp>
      <p:sp>
        <p:nvSpPr>
          <p:cNvPr id="5" name="TextBox 4"/>
          <p:cNvSpPr txBox="1"/>
          <p:nvPr/>
        </p:nvSpPr>
        <p:spPr>
          <a:xfrm>
            <a:off x="1750000" y="6380000"/>
            <a:ext cx="10150000" cy="420000"/>
          </a:xfrm>
          <a:prstGeom prst="rect">
            <a:avLst/>
          </a:prstGeom>
          <a:noFill/>
        </p:spPr>
        <p:txBody>
          <a:bodyPr wrap="square" lIns="0" rIns="0" tIns="0" bIns="0">
            <a:spAutoFit/>
          </a:bodyPr>
          <a:lstStyle/>
          <a:p>
            <a:pPr>
              <a:spcBef>
                <a:spcPts val="0"/>
              </a:spcBef>
              <a:spcAft>
                <a:spcPts val="0"/>
              </a:spcAft>
            </a:pPr>
            <a:r>
              <a:rPr sz="1000" b="0">
                <a:solidFill>
                  <a:srgbClr val="7A7A7A"/>
                </a:solidFill>
              </a:rPr>
              <a:t>Colour: amplitude-scaled log2 ratio; a dot marks a value beyond the noise bound.</a:t>
            </a:r>
          </a:p>
        </p:txBody>
      </p:sp>
    </p:spTree>
  </p:cSld>
  <p:clrMapOvr>
    <a:masterClrMapping/>
  </p:clrMapOvr>
</p:sld>
</file>

<file path=ppt/slides/slide4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1750000" y="300000"/>
            <a:ext cx="10150000" cy="1000000"/>
          </a:xfrm>
        </p:spPr>
        <p:txBody>
          <a:bodyPr wrap="square" anchor="b"/>
          <a:lstStyle/>
          <a:p>
            <a:r>
              <a:rPr sz="3000" b="1">
                <a:solidFill>
                  <a:srgbClr val="191D63"/>
                </a:solidFill>
              </a:rPr>
              <a:t>Backup B27. Malignant-state composition of the human reads</a:t>
            </a:r>
          </a:p>
        </p:txBody>
      </p:sp>
      <p:pic>
        <p:nvPicPr>
          <p:cNvPr id="3" name="Picture 2" descr="fig_c_states.png"/>
          <p:cNvPicPr>
            <a:picLocks noChangeAspect="1"/>
          </p:cNvPicPr>
          <p:nvPr/>
        </p:nvPicPr>
        <p:blipFill>
          <a:blip r:embed="rId2"/>
          <a:stretch>
            <a:fillRect/>
          </a:stretch>
        </p:blipFill>
        <p:spPr>
          <a:xfrm>
            <a:off x="1750000" y="1420000"/>
            <a:ext cx="6400000" cy="3284210"/>
          </a:xfrm>
          <a:prstGeom prst="rect">
            <a:avLst/>
          </a:prstGeom>
        </p:spPr>
      </p:pic>
      <p:sp>
        <p:nvSpPr>
          <p:cNvPr id="4" name="TextBox 3"/>
          <p:cNvSpPr txBox="1"/>
          <p:nvPr/>
        </p:nvSpPr>
        <p:spPr>
          <a:xfrm>
            <a:off x="8450000" y="1460000"/>
            <a:ext cx="3450000" cy="4790000"/>
          </a:xfrm>
          <a:prstGeom prst="rect">
            <a:avLst/>
          </a:prstGeom>
          <a:noFill/>
        </p:spPr>
        <p:txBody>
          <a:bodyPr wrap="square" lIns="0" rIns="0" tIns="0" bIns="0">
            <a:spAutoFit/>
          </a:bodyPr>
          <a:lstStyle/>
          <a:p>
            <a:pPr>
              <a:spcBef>
                <a:spcPts val="0"/>
              </a:spcBef>
              <a:spcAft>
                <a:spcPts val="1000"/>
              </a:spcAft>
            </a:pPr>
            <a:r>
              <a:rPr sz="1600" b="0">
                <a:solidFill>
                  <a:srgbClr val="191D63"/>
                </a:solidFill>
              </a:rPr>
              <a:t>Deconvolution of the human stream into three malignant states, renormalised over the malignant columns.</a:t>
            </a:r>
          </a:p>
          <a:p>
            <a:pPr>
              <a:spcBef>
                <a:spcPts val="0"/>
              </a:spcBef>
              <a:spcAft>
                <a:spcPts val="1000"/>
              </a:spcAft>
            </a:pPr>
            <a:r>
              <a:rPr sz="1600" b="0">
                <a:solidFill>
                  <a:srgbClr val="191D63"/>
                </a:solidFill>
              </a:rPr>
              <a:t>The contralateral sample has fewer differentiated-like cells than its own core (0.037 against 0.139).</a:t>
            </a:r>
          </a:p>
          <a:p>
            <a:pPr>
              <a:spcBef>
                <a:spcPts val="0"/>
              </a:spcBef>
              <a:spcAft>
                <a:spcPts val="1000"/>
              </a:spcAft>
            </a:pPr>
            <a:r>
              <a:rPr sz="1600" b="0">
                <a:solidFill>
                  <a:srgbClr val="4C70B7"/>
                </a:solidFill>
              </a:rPr>
              <a:t>We weight this lightly and say why: another animal's tumor differs from the same core by the same distance, and the method fails a negative control, assigning 36 % of a pure human culture to microenvironment cell types that a human-only read stream from a rat host cannot contain.</a:t>
            </a:r>
          </a:p>
        </p:txBody>
      </p:sp>
      <p:sp>
        <p:nvSpPr>
          <p:cNvPr id="5" name="TextBox 4"/>
          <p:cNvSpPr txBox="1"/>
          <p:nvPr/>
        </p:nvSpPr>
        <p:spPr>
          <a:xfrm>
            <a:off x="1750000" y="6380000"/>
            <a:ext cx="10150000" cy="420000"/>
          </a:xfrm>
          <a:prstGeom prst="rect">
            <a:avLst/>
          </a:prstGeom>
          <a:noFill/>
        </p:spPr>
        <p:txBody>
          <a:bodyPr wrap="square" lIns="0" rIns="0" tIns="0" bIns="0">
            <a:spAutoFit/>
          </a:bodyPr>
          <a:lstStyle/>
          <a:p>
            <a:pPr>
              <a:spcBef>
                <a:spcPts val="0"/>
              </a:spcBef>
              <a:spcAft>
                <a:spcPts val="0"/>
              </a:spcAft>
            </a:pPr>
            <a:r>
              <a:rPr sz="1000" b="0">
                <a:solidFill>
                  <a:srgbClr val="7A7A7A"/>
                </a:solidFill>
              </a:rPr>
              <a:t>CIBERSORT with a published single-cell reference; fit correlation printed above each bar.</a:t>
            </a:r>
          </a:p>
        </p:txBody>
      </p:sp>
    </p:spTree>
  </p:cSld>
  <p:clrMapOvr>
    <a:masterClrMapping/>
  </p:clrMapOvr>
</p:sld>
</file>

<file path=ppt/theme/theme1.xml><?xml version="1.0" encoding="utf-8"?>
<a:theme xmlns:a="http://schemas.openxmlformats.org/drawingml/2006/main" name="Office Theme">
  <a:themeElements>
    <a:clrScheme name="CNS AM 2026">
      <a:dk1>
        <a:srgbClr val="191D63"/>
      </a:dk1>
      <a:lt1>
        <a:sysClr val="window" lastClr="FFFFFF"/>
      </a:lt1>
      <a:dk2>
        <a:srgbClr val="191D63"/>
      </a:dk2>
      <a:lt2>
        <a:srgbClr val="E6E6E5"/>
      </a:lt2>
      <a:accent1>
        <a:srgbClr val="FFC42F"/>
      </a:accent1>
      <a:accent2>
        <a:srgbClr val="EF4627"/>
      </a:accent2>
      <a:accent3>
        <a:srgbClr val="61BB46"/>
      </a:accent3>
      <a:accent4>
        <a:srgbClr val="4C70B7"/>
      </a:accent4>
      <a:accent5>
        <a:srgbClr val="D7A2CA"/>
      </a:accent5>
      <a:accent6>
        <a:srgbClr val="F16881"/>
      </a:accent6>
      <a:hlink>
        <a:srgbClr val="4C70B7"/>
      </a:hlink>
      <a:folHlink>
        <a:srgbClr val="EE9BC2"/>
      </a:folHlink>
    </a:clrScheme>
    <a:fontScheme name="CNS Fonts">
      <a:majorFont>
        <a:latin typeface="New Hero Medium"/>
        <a:ea typeface=""/>
        <a:cs typeface=""/>
      </a:majorFont>
      <a:minorFont>
        <a:latin typeface="New Hero"/>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103</TotalTime>
  <Words>0</Words>
  <Application>Microsoft Office PowerPoint</Application>
  <PresentationFormat>Widescreen</PresentationFormat>
  <Paragraphs>0</Paragraphs>
  <Slides>3</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3</vt:i4>
      </vt:variant>
    </vt:vector>
  </HeadingPairs>
  <TitlesOfParts>
    <vt:vector size="7" baseType="lpstr">
      <vt:lpstr>New Hero Medium</vt:lpstr>
      <vt:lpstr>Arial</vt:lpstr>
      <vt:lpstr>New Hero</vt:lpstr>
      <vt:lpstr>Office Theme</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Nick Gbur</dc:creator>
  <cp:lastModifiedBy>Nick Gbur</cp:lastModifiedBy>
  <cp:revision>8</cp:revision>
  <dcterms:created xsi:type="dcterms:W3CDTF">2026-04-16T17:17:21Z</dcterms:created>
  <dcterms:modified xsi:type="dcterms:W3CDTF">2026-04-21T16:28:45Z</dcterms:modified>
</cp:coreProperties>
</file>