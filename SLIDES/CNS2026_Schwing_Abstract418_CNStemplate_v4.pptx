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14 slides in six minutes, about 25 s each (slide 3, the design, adds 20 s: everything after it runs 10 s later, taken back on slide 5); seven backups follow the acknowledgments (B7, the rat host, is preliminary). If running long, shorten slide 5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0:35–0:55  The design, because it is easy to misread. Eight rats, all implanted. Four primaries, never ablated; four ablated with LITT and allowed to regrow. We compare three against three: rat 64's primary sample had almost no tumor in it, and there is no library for rat 65. The two brain controls come from the other side of the brain of two primary rats, 68 and 69, so they are not independent animals. The culture is a reference only.</a:t>
            </a:r>
          </a:p>
          <a:p/>
          <a:p>
            <a:r>
              <a:t>Why 3 v 3 when Nagaraja 2026 reports 4 v 4: rat 64 (no tumor in the sample) and rat 65 (no library). Harvest time after LITT (2 or 4 weeks) for each recurrence is not in the records we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0:55–1:10  The model the Henry Ford group built (Nagaraja 2026): U251N in the athymic rat, MRI-guided LITT (design on the previous slide). The graft is human and the host is rat, so xengsort sorts every read by species before anything is counted; human reads plus the shared reads enter the analysis.</a:t>
            </a:r>
          </a:p>
          <a:p/>
          <a:p>
            <a:r>
              <a:t>If asked why three per arm when Nagaraja 2026 describes four and four: the libraries come from animals numbered 64 to 71; IL64B's sample holds almost no tumor (it is used only as a control) and there is no library for animal 65 (a recurrence in the lab's key).</a:t>
            </a:r>
          </a:p>
          <a:p/>
          <a:p>
            <a:r>
              <a:t>Numbers to reconcile before the talk: the J Neurosurg paper reports four per arm for RNA-seq; this analysis has three per arm plus IL64B, recorded by the lab as a primary but with almost no tumor in its sample (0.3 % human reads), used as a control. The lab's sample key lists IL-65 as the fourth recurrence; no library for it exists in the data.</a:t>
            </a:r>
          </a:p>
          <a:p/>
          <a:p>
            <a:r>
              <a:t>The two other controls are the contralateral hemispheres of tumor-bearing rats 68 and 69 (lab key: 'Contralateral'; array sheet: '69B control N2'), not separate animals. N269B, from rat 69, the most tumor-rich animal,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PC1 41.8 % / PC2 26.2 % came from the May figure script (vst); this plot uses rlog (35 % / 25 %). PERMANOVA R2 0.278 and 35 genes (23 up, 12 down) are unchanged; the abstract omits p = 0.10. Its hubs (BGN, COL1A1, IGFBP3, CALB1): only 11 of the 35 genes connect, and CALB1 has one interaction (SLIDES/ABSTRACT_VS_TALK.md).</a:t>
            </a:r>
          </a:p>
          <a:p/>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elongation NES -3.17, FDR 1.6e-26 came from a first-pass gene-permutation test (clusterProfiler/fgsea, 25 May report). The pipeline's Broad GSEA (gene-set permutation) gives the same direction, NES near -2, and one set at q = 0.022. Its 'integrated stress' sets are the same ribosomal-protein genes (85 of 99 in GCN2). If asked: 'the abstract's FDR came from a first-pass test that treats genes as independent; the permutation test gives the same direction'.</a:t>
            </a:r>
          </a:p>
          <a:p/>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13.</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FDR is not a Broad GSEA q; here q runs 0.022-0.31 with all six tumors, depending on the seed alone.</a:t>
            </a:r>
          </a:p>
          <a:p/>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the two tumor-free controls, gives +0.001; with N269B (the contralateral hemisphere of rat 69, which holds tumor cells) -0.009,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'toward Garofano mitochondrial, away from AC/NPC' came from May mean z-scores of hand-picked 5-6-gene lists (mitochondrial = CS, ACO2, IDH2, IDH3A, OGDH, SDHA), not GSVA. With the published signatures the mitochondrial score falls (not significant); AC-like agrees; NPC does not move. If asked: 'the mitochondrial shift did not survive the published signatures; the astrocyte-like fall did'.</a:t>
            </a:r>
          </a:p>
          <a:p/>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a:p/>
          <a:p>
            <a:r>
              <a:t>What carries ciclopirox's rank: its induced genes are HIF/hypoxia targets (21 of 36 leading-edge genes are hallmark hypoxia; without them NES -1.57, p 0.005). Ranks 2-5 (pentetrazol, nilutamide, primidone, pyrantel) share one leading edge of ribosomal-protein genes plus PGK1 and ENO1 (pairwise Jaccard 0.55-0.86): the ribosomal block counted four times (ANALYSIS/gsc_drugs/REVIEW_2026-09-26.md).</a:t>
            </a:r>
          </a:p>
          <a:p/>
          <a:p>
            <a:r>
              <a:t>Stem-cell programs: restricted to six published glioma stem-cell gene sets, ciclopirox's induced genes fall in recurrence only within the radial-glia-like program (Bhaduri 2020; first of 2,212 drug sets, NES -2.08), and those genes are hypoxia targets, not stem-cell genes. No drug opposed recurrence inside the stem-specific sets. Consistent with this slide, not independent of it.</a:t>
            </a:r>
          </a:p>
          <a:p/>
          <a:p>
            <a:r>
              <a:t>The printed abstract: its 3.40 for ciclopirox is this enrichment with a rule-of-thumb barrier score capped at 1.0; with ADMET-AI it is 3.27 and still first. DMOG and LY-294002, named in the abstract, have no clinical-phase record and drop out. The drug NES come from gene-permutation GSEA, so they are quoted as a ranking, not with FDRs (SLIDES/ABSTRACT_VS_TALK.md).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time allows: 'Three things differ from the printed abstract: lower ribosomal-protein genes rather than translational shutdown; the mitochondrial shift did not survive the published signatures; and of its three drugs only ciclopirox is clinically available.'</a:t>
            </a:r>
          </a:p>
          <a:p/>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'translational shutdown' is what the puromycin / polysome experiment tests; it has not been shown.</a:t>
            </a:r>
          </a:p>
          <a:p/>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printed abstract is the docx version: its claim that contamination 'would bias ribosomal genes upward' does not match this bound. The size argument holds; the direction depends on N269B, the contralateral hemisphere of rat 69 that holds tumor cells.</a:t>
            </a:r>
          </a:p>
          <a:p/>
          <a:p>
            <a:r>
              <a:t>Sensitivity, N269B among the controls: bound -0.009, matched background -0.13, excess -0.26 (tumor-free controls: -0.41); contamination_magnitude_ctrl3.json.</a:t>
            </a:r>
          </a:p>
          <a:p/>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10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What holds: Mmp13, Ceacam4, Hbb lower in every recurrence and in every leave-one-out fit (Mmp13 is also not human-read leakage: human MMP13 at most 7 reads per tumor against at least 180 rat reads per primary). What does not: the 38-gene list (FDR &lt; 0.05) shrinks to 8–19 when a primary or rat 70 or 71 is left out; leaving IL66B out raises it to 424 (the tumor side does the same, 102 to 349), so IL66B is the recurrence most like a primary in both species. The true grouping gives 38 genes; the other nine splits give a median of 9; the largest, rats 69, 70, 71 against the rest (2,752 genes), is an immune-infiltration (Ptprc, Cd68, Aif1) against white-matter/neuron (Mbp, Plp1, Pcp4) axis that cuts across treatment. Cxcl10, Batf2, Il2ra, Ighm barely move in IL66B.</a:t>
            </a:r>
          </a:p>
          <a:p/>
          <a:p>
            <a:r>
              <a:t>Broad GSEA (the pipeline's run, gene-set permutation): 4,843 sets, none at FDR &lt; 0.25. By nominal p, up: antigen presentation, allograft rejection, interferon gamma; down: KEGG ribosome and translation initiation (NES about -2.0, nominal p about 0.04). The rat host's ribosomal-protein genes point the same way as the tumor's; their share tracks the human read share (Spearman 0.83 over six tumors), which fits read leakage but does not prove it.</a:t>
            </a:r>
          </a:p>
          <a:p/>
          <a:p>
            <a:r>
              <a:t>Host cell-type deconvolution (CIBERSORT; LM22, Zhang 2014, Bowman 2016 myeloid, and a combined signature): no cell type differs between primaries and recurrences. Tumor-associated bone-marrow macrophages are high in rats 70 and 71 (0.43, 0.50) and not in 66 (0.07): the same rats-70-71 pattern, found after looking, exploratory only.</a:t>
            </a:r>
          </a:p>
          <a:p/>
          <a:p>
            <a:r>
              <a:t>The 'NL' in the file names of rats 70 and 71 is not a group: the lab's sample key calls them IL-70 and IL-71 and its methylation-array sheet IL70B and IL71B; all ten RNA libraries ran on one lane. Why 70 and 71 differ from 66 (for example time after LITT) is not recorded. The host is the athymic RNU/RNU rat: do not describe a T-cell response. Rat reads are the xengsort host bin; nf-core/rnaseq 3.22.2 on mRatBN7.2 (Ensembl 110); nf-core/differentialabundance DESeq2. Tumor vs control brain (contralateral hemispheres of rats 68 and 69, and IL64B): 9,378 genes differ.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design: eight rats, RNA and methylation</a:t>
            </a:r>
          </a:p>
        </p:txBody>
      </p:sp>
      <p:pic>
        <p:nvPicPr>
          <p:cNvPr id="3" name="Picture 2" descr="fig_design.png"/>
          <p:cNvPicPr>
            <a:picLocks noChangeAspect="1"/>
          </p:cNvPicPr>
          <p:nvPr/>
        </p:nvPicPr>
        <p:blipFill>
          <a:blip r:embed="rId2"/>
          <a:stretch>
            <a:fillRect/>
          </a:stretch>
        </p:blipFill>
        <p:spPr>
          <a:xfrm>
            <a:off x="1750000" y="1420000"/>
            <a:ext cx="10150000" cy="3372636"/>
          </a:xfrm>
          <a:prstGeom prst="rect">
            <a:avLst/>
          </a:prstGeom>
        </p:spPr>
      </p:pic>
      <p:sp>
        <p:nvSpPr>
          <p:cNvPr id="4" name="TextBox 3"/>
          <p:cNvSpPr txBox="1"/>
          <p:nvPr/>
        </p:nvSpPr>
        <p:spPr>
          <a:xfrm>
            <a:off x="1750000" y="4892636"/>
            <a:ext cx="10150000" cy="1357364"/>
          </a:xfrm>
          <a:prstGeom prst="rect">
            <a:avLst/>
          </a:prstGeom>
          <a:noFill/>
        </p:spPr>
        <p:txBody>
          <a:bodyPr wrap="square" lIns="0" rIns="0" tIns="0" bIns="0">
            <a:spAutoFit/>
          </a:bodyPr>
          <a:lstStyle/>
          <a:p>
            <a:pPr>
              <a:spcBef>
                <a:spcPts val="0"/>
              </a:spcBef>
              <a:spcAft>
                <a:spcPts val="600"/>
              </a:spcAft>
            </a:pPr>
            <a:r>
              <a:rPr sz="1600" b="0">
                <a:solidFill>
                  <a:srgbClr val="191D63"/>
                </a:solidFill>
              </a:rPr>
              <a:t>Three primaries (rats 67, 68, 69) are compared with three recurrences (66, 70, 71). Rat 64's sample held almost no tumor and rat 65 has no library.</a:t>
            </a:r>
          </a:p>
          <a:p>
            <a:pPr>
              <a:spcBef>
                <a:spcPts val="0"/>
              </a:spcBef>
              <a:spcAft>
                <a:spcPts val="600"/>
              </a:spcAft>
            </a:pPr>
            <a:r>
              <a:rPr sz="1600" b="0">
                <a:solidFill>
                  <a:srgbClr val="191D63"/>
                </a:solidFill>
              </a:rPr>
              <a:t>The two brain controls are the opposite hemispheres of rats 68 and 69, not separate animals.</a:t>
            </a:r>
          </a:p>
          <a:p>
            <a:pPr>
              <a:spcBef>
                <a:spcPts val="0"/>
              </a:spcBef>
              <a:spcAft>
                <a:spcPts val="600"/>
              </a:spcAft>
            </a:pPr>
            <a:r>
              <a:rPr sz="1600" b="0">
                <a:solidFill>
                  <a:srgbClr val="191D63"/>
                </a:solidFill>
              </a:rPr>
              <a:t>Eight samples were also run on one EPIC methylation array: the six tumors, rat 69's opposite hemisphere and the culture.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Nagaraja lab sample key (2023) and methylation-array sample sheet. The sequencing files call rats 70 and 71 NL70B and NL71B; the lab records call them IL-70 and IL-71.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8.</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used as a ranking: the 100 most opposing name 92 compounds;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 Ranks 2–5 share one ribosomal-protein gene set: one signal, not four candidates.</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would move the ribosomal-protein sets by under 0.01 log2 (+0.001; the two tumor-free controls).</a:t>
            </a:r>
          </a:p>
          <a:p>
            <a:pPr>
              <a:spcBef>
                <a:spcPts val="0"/>
              </a:spcBef>
              <a:spcAft>
                <a:spcPts val="1200"/>
              </a:spcAft>
            </a:pPr>
            <a:r>
              <a:rPr sz="1600" b="0">
                <a:solidFill>
                  <a:srgbClr val="191D63"/>
                </a:solidFill>
              </a:rPr>
              <a:t>They fall −0.40; background genes matched on abundance and control/tumor ratio move +0.01.</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Controls: IL64B (no tumor in its sample) and N168B (opposite hemisphere of rat 68); N269B holds tumor cells and is left out. RUVSeq¹⁹ factors (k = 2, from the three control libraries; rerun on the two tumor-free ones pending) also separate the arms.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3 v 3, the tumor's rule (FDR &lt; 0.05 and two-fold): 33 genes, 19 down and 14 up.</a:t>
            </a:r>
          </a:p>
          <a:p>
            <a:pPr>
              <a:spcBef>
                <a:spcPts val="0"/>
              </a:spcBef>
              <a:spcAft>
                <a:spcPts val="800"/>
              </a:spcAft>
            </a:pPr>
            <a:r>
              <a:rPr sz="1400" b="0">
                <a:solidFill>
                  <a:srgbClr val="191D63"/>
                </a:solidFill>
              </a:rPr>
              <a:t>Holds when any tumor is left out: Mmp13, Ceacam4, Hbb down (Mmp13 about 41-fold), Ocstamp up. Not human reads: human MMP13 at most 7 reads per tumor.</a:t>
            </a:r>
          </a:p>
          <a:p>
            <a:pPr>
              <a:spcBef>
                <a:spcPts val="0"/>
              </a:spcBef>
              <a:spcAft>
                <a:spcPts val="800"/>
              </a:spcAft>
            </a:pPr>
            <a:r>
              <a:rPr sz="1400" b="0">
                <a:solidFill>
                  <a:srgbClr val="191D63"/>
                </a:solidFill>
              </a:rPr>
              <a:t>The rest is unstable: leaving out one tumor keeps 8–19 of the 38; no gene set passes FDR 0.25 (4,843 sets, lowest 0.33).</a:t>
            </a:r>
          </a:p>
          <a:p>
            <a:pPr>
              <a:spcBef>
                <a:spcPts val="0"/>
              </a:spcBef>
              <a:spcAft>
                <a:spcPts val="800"/>
              </a:spcAft>
            </a:pPr>
            <a:r>
              <a:rPr sz="1400" b="0">
                <a:solidFill>
                  <a:srgbClr val="191D63"/>
                </a:solidFill>
              </a:rPr>
              <a:t>The true grouping ranks 2 of the 10 possible 3 v 3 splits; the largest (rats 69, 70, 71 against the rest, 2,752 genes) follows immune infiltration, not treatment. The interferon/lymphocyte rise comes from rats 70 and 71.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Broad GSEA from the pipeline; leave-one-out and relabelling from a rerun that reproduces the pipeline's 38 genes. DESeq2⁵.</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