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45" r:id="rId36"/>
    <p:sldId id="546" r:id="rId37"/>
    <p:sldId id="547" r:id="rId38"/>
    <p:sldId id="548" r:id="rId39"/>
    <p:sldId id="549" r:id="rId40"/>
    <p:sldId id="550" r:id="rId41"/>
    <p:sldId id="551" r:id="rId42"/>
    <p:sldId id="552" r:id="rId43"/>
    <p:sldId id="553" r:id="rId44"/>
    <p:sldId id="554" r:id="rId45"/>
    <p:sldId id="555" r:id="rId46"/>
    <p:sldId id="556" r:id="rId47"/>
    <p:sldId id="557" r:id="rId48"/>
    <p:sldId id="55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0:40-1:10  Background. The one idea to land: LITT kills the core, but the cells that come back sat in the sublethal margin. Point at the diagram once.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1:10-1:35  The gap. The vessels and the immune side of that margin have been described; the tumor cells' own state has not. End on the question and pause.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1:35-2:00  The model. Move fast. The one thing to stress is that the graft is human and the host is rat, which is what makes the tumor compartment separable.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2:00-2:25  The analysis. Enrichment was permuted on gene-set membership, not on samples, because n = 3. If someone challenges the statistics later, this slide is the answer. Mention the GEO accession is already public.</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2:25-2:50  Global structure. The arms separate on PC1. Say the PERMANOVA p = 0.10 out loud - do not let someone find it in the supplement. Frame it as: the effect is large, the sample is small.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2:50-3:10  Differential expression. Only 35 genes. Walk the table once, do not read it: the six biggest fold changes are readthrough transcripts, a U6 snRNA and two unannotated loci, all on double-digit counts. That is what justifies the pivot to gene sets, and it pre-empts the reviewer who asks why you did not chase the top hit. Do not dwell on individual genes.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3:10-3:45  The core result. Every leading down-regulated set is translation or amino-acid stress. The top set clears FDR; the next five are nominally significant and directionally identical. Say both halves. Then the right-hand panel: the same direction runs across mTORC1, MYC, ribosome biogenesis, glycolysis and OXPHOS, while the TCA cycle does not move. The point to land is that this is the biosynthetic machinery being switched off, not core carbon flux - a cell that has stopped building, not one that has stopped burning.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3:45-4:10  The one-sidedness. This is the strongest slide - 8,869 sets tested, six clear q &lt; 0.25, all six on the same side and all six the same theme. Nothing on the up side is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4:10-4:35  Subtypes. These are the ten published Neftel and Garofano signatures, scored per sample by GSVA over the full 39-to-50-gene sets - say that, because using the published definitions rather than a hand-picked panel is the defence. One transition is significant: loss of the astrocyte-like state, p = 0.007. The mitochondrial signature moves the same way as the OXPHOS and mitochondrial-translation sets on the enrichment slide - point back to that slide, because two independent computations agreeing is the argument. If pressed on the mitochondrial call: 34 of its 35 measurable genes are lower in recurrence, and the result is stable across three levels of symbol mapping, 35/50 up to 49/50.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4:35-4:55  Hubs. Do not read the table - point at the sign column. Everything structural in the matrix goes down; the calcium and presynaptic genes (CALB1, RYR2, PCLO) go up. Offer the neuron-glioma synapse as a question, not a claim, and say plainly that six animals cannot separate it from a change in which cells survived. This is the slide most likely to draw a question, so know the two Nature 2019 papers. CUT THIS SLIDE FIRST if you are running long.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4:55-5:25  Therapeutics. Explain the score in one sentence: how strongly the drug signature reverses the tumor signature, weighted by predicted BBB penetration from ADMET-AI. Lead with the filter, because it is the honest part: only 54 of 93 DSigDB hits carry a clinical phase - the rest include phosphine, tributyltin and a flame retardant. Then own its limits before anyone asks: it keeps things that are not systemic therapies (oxygen, ozone, magnesium) and it drops approved drugs ChEMBL has no phase for, including deferoxamine. Ciclopirox is what survives: approved, ranked first with and without the permeability weight, both BBB models agree, and it chelates iron. If asked why it should work on a cell that has stopped building: the hypusination targets DOHH, DHPS and EIF5A are selective CRISPR dependencies in U251 in DepMap - that is independent of our signature. Then the delivery point: LITT opens the barrier at the margin for weeks. Deliver the caveat sentence exactly as written; this is where a reviewer will push.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5:25-5:45  Conclusions. Four beats, then the convergence line. No new material. The closing argument is the internal consistency - translational, anabolic, respiratory and hypoxic arms all moving together - not any single q value. Say that sentence and stop.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5:45-5:55  Limitations and next steps. SECOND SLIDE TO CUT - the limitations are already stated on the results slides. Anticipated questions: why not more animals; why gene-set permutation; has any drug been tested (no).</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5:55-6:00  Thanks. Name the Henry Ford group. Leave the GEO accession on screen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5.png"/><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6.png"/><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7.png"/><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8.png"/><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29.png"/><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30.png"/><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image" Target="../media/image31.png"/><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42.xml"/></Relationships>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b="0">
                <a:solidFill>
                  <a:srgbClr val="000000"/>
                </a:solidFill>
                <a:latin typeface="Arial"/>
              </a:rPr>
              <a:t>Detroit Medical Center / Wayne State University  ·  Henry Ford Health</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b="1" i="0">
                <a:solidFill>
                  <a:srgbClr val="000000"/>
                </a:solidFill>
                <a:latin typeface="Arial"/>
              </a:rPr>
              <a:t>Characterizing the Transcriptomic Recurrence Signature of Glioblastoma Following Laser Interstitial Thermal Therapy</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b="0" i="0">
                <a:solidFill>
                  <a:srgbClr val="000000"/>
                </a:solidFill>
                <a:latin typeface="Arial"/>
              </a:rPr>
              <a:t>Gregory J. Schwing, MD, PhD¹   ·   Tavarekere N. Nagaraja, PhD²   ·   Indrani Datta, DHI²   ·   Ian Y. Lee, MD²</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b="0" i="0">
                <a:solidFill>
                  <a:srgbClr val="595959"/>
                </a:solidFill>
                <a:latin typeface="Arial"/>
              </a:rPr>
              <a:t>¹ Department of General Surgery, Detroit Medical Center / Wayne State University, Detroit, MI</a:t>
            </a:r>
          </a:p>
          <a:p>
            <a:pPr algn="l">
              <a:spcBef>
                <a:spcPts val="0"/>
              </a:spcBef>
              <a:spcAft>
                <a:spcPts val="0"/>
              </a:spcAft>
            </a:pPr>
            <a:r>
              <a:rPr sz="1150" b="0" i="0">
                <a:solidFill>
                  <a:srgbClr val="595959"/>
                </a:solidFill>
                <a:latin typeface="Arial"/>
              </a:rPr>
              <a:t>² Department of Neurosurgery, Hermelin Brain Tumor Center, Henry Ford Health, Detroit, MI</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b="1" i="0">
                <a:solidFill>
                  <a:srgbClr val="095945"/>
                </a:solidFill>
                <a:latin typeface="Arial"/>
              </a:rPr>
              <a:t>Abstract 418   ·   Sunrise Science Session – Tumor 2</a:t>
            </a:r>
          </a:p>
          <a:p>
            <a:pPr algn="l">
              <a:spcBef>
                <a:spcPts val="0"/>
              </a:spcBef>
              <a:spcAft>
                <a:spcPts val="0"/>
              </a:spcAft>
            </a:pPr>
            <a:r>
              <a:rPr sz="1300" b="0" i="0">
                <a:solidFill>
                  <a:srgbClr val="095945"/>
                </a:solidFill>
                <a:latin typeface="Arial"/>
              </a:rPr>
              <a:t>Monday, November 2, 2026   ·   7:00 AM</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10881360" cy="3108960"/>
          </a:xfrm>
          <a:prstGeom prst="rect">
            <a:avLst/>
          </a:prstGeom>
          <a:noFill/>
        </p:spPr>
        <p:txBody>
          <a:bodyPr wrap="square" anchor="t" lIns="0" rIns="0" tIns="0" bIns="0">
            <a:spAutoFit/>
          </a:bodyPr>
          <a:lstStyle/>
          <a:p>
            <a:pPr algn="l">
              <a:spcBef>
                <a:spcPts val="0"/>
              </a:spcBef>
              <a:spcAft>
                <a:spcPts val="1400"/>
              </a:spcAft>
            </a:pPr>
            <a:r>
              <a:rPr sz="1800" b="1" i="0">
                <a:solidFill>
                  <a:srgbClr val="000000"/>
                </a:solidFill>
                <a:latin typeface="Arial"/>
              </a:rPr>
              <a:t>I.Y.L.</a:t>
            </a:r>
            <a:r>
              <a:rPr sz="1800" b="0" i="0">
                <a:solidFill>
                  <a:srgbClr val="000000"/>
                </a:solidFill>
                <a:latin typeface="Arial"/>
              </a:rPr>
              <a:t> has consulting agreements with Medtronic, Inc. (Minneapolis, MN) and Monteris Medical, Inc. (Plymouth, MN).</a:t>
            </a:r>
          </a:p>
          <a:p>
            <a:pPr algn="l">
              <a:spcBef>
                <a:spcPts val="0"/>
              </a:spcBef>
              <a:spcAft>
                <a:spcPts val="2600"/>
              </a:spcAft>
            </a:pPr>
            <a:r>
              <a:rPr sz="1800" b="0" i="0">
                <a:solidFill>
                  <a:srgbClr val="000000"/>
                </a:solidFill>
                <a:latin typeface="Arial"/>
              </a:rPr>
              <a:t>All other authors declare no conflicts of interest.</a:t>
            </a:r>
          </a:p>
          <a:p>
            <a:pPr algn="l">
              <a:spcBef>
                <a:spcPts val="0"/>
              </a:spcBef>
              <a:spcAft>
                <a:spcPts val="1400"/>
              </a:spcAft>
            </a:pPr>
            <a:r>
              <a:rPr sz="1600" b="0" i="0">
                <a:solidFill>
                  <a:srgbClr val="595959"/>
                </a:solidFill>
                <a:latin typeface="Arial"/>
              </a:rPr>
              <a:t>Supported by a Henry Ford Health Physician Scientist Award A20050 (I.Y.L.). No commercial support was received for this analysis.</a:t>
            </a:r>
          </a:p>
          <a:p>
            <a:pPr algn="l">
              <a:spcBef>
                <a:spcPts val="0"/>
              </a:spcBef>
              <a:spcAft>
                <a:spcPts val="0"/>
              </a:spcAft>
            </a:pPr>
            <a:r>
              <a:rPr sz="1600" b="0" i="0">
                <a:solidFill>
                  <a:srgbClr val="595959"/>
                </a:solidFill>
                <a:latin typeface="Arial"/>
              </a:rPr>
              <a:t>Drug candidates discussed here are computational predictions. No agent named in this talk is approved or under study for this indication.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Where this is going</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problem</a:t>
            </a:r>
            <a:r>
              <a:rPr sz="1800" b="0" i="0">
                <a:solidFill>
                  <a:srgbClr val="000000"/>
                </a:solidFill>
                <a:latin typeface="Arial"/>
              </a:rPr>
              <a:t> — LITT kills the core; the cells that come back sat in the sublethal margin</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model</a:t>
            </a:r>
            <a:r>
              <a:rPr sz="1800" b="0" i="0">
                <a:solidFill>
                  <a:srgbClr val="000000"/>
                </a:solidFill>
                <a:latin typeface="Arial"/>
              </a:rPr>
              <a:t> — MRI-guided LITT in an orthotopic rat xenograft, primary and recurrent tumors matched</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finding</a:t>
            </a:r>
            <a:r>
              <a:rPr sz="1800" b="0" i="0">
                <a:solidFill>
                  <a:srgbClr val="000000"/>
                </a:solidFill>
                <a:latin typeface="Arial"/>
              </a:rPr>
              <a:t> — the recurrent transcriptome switches protein synthesis off</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convergence</a:t>
            </a:r>
            <a:r>
              <a:rPr sz="1800" b="0" i="0">
                <a:solidFill>
                  <a:srgbClr val="000000"/>
                </a:solidFill>
                <a:latin typeface="Arial"/>
              </a:rPr>
              <a:t> — subtype scores and network hubs point the same way</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10332720" cy="777240"/>
          </a:xfrm>
          <a:prstGeom prst="rect">
            <a:avLst/>
          </a:prstGeom>
          <a:noFill/>
        </p:spPr>
        <p:txBody>
          <a:bodyPr wrap="square" anchor="t" lIns="0" rIns="0" tIns="0" bIns="0">
            <a:spAutoFit/>
          </a:bodyPr>
          <a:lstStyle/>
          <a:p>
            <a:pPr algn="l">
              <a:spcBef>
                <a:spcPts val="0"/>
              </a:spcBef>
              <a:spcAft>
                <a:spcPts val="0"/>
              </a:spcAft>
            </a:pPr>
            <a:r>
              <a:rPr sz="1800" b="1" i="0">
                <a:solidFill>
                  <a:srgbClr val="000000"/>
                </a:solidFill>
                <a:latin typeface="Arial"/>
              </a:rPr>
              <a:t>The opening</a:t>
            </a:r>
            <a:r>
              <a:rPr sz="1800" b="0" i="0">
                <a:solidFill>
                  <a:srgbClr val="000000"/>
                </a:solidFill>
                <a:latin typeface="Arial"/>
              </a:rPr>
              <a:t> — which existing, brain-penetrant drugs oppose that state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LITT ablates the core; recurrence starts at the margin</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6492240" cy="384048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LITT is increasingly used for deep-seated and recurrent glioblastoma, where open resection carries high morbidity.¹</a:t>
            </a:r>
          </a:p>
          <a:p>
            <a:pPr algn="l">
              <a:spcBef>
                <a:spcPts val="0"/>
              </a:spcBef>
              <a:spcAft>
                <a:spcPts val="1800"/>
              </a:spcAft>
            </a:pPr>
            <a:r>
              <a:rPr sz="1800" b="0" i="0">
                <a:solidFill>
                  <a:srgbClr val="000000"/>
                </a:solidFill>
                <a:latin typeface="Arial"/>
              </a:rPr>
              <a:t>Thermal dose falls off with distance from the fiber. Beyond the ablative threshold lies a </a:t>
            </a:r>
            <a:r>
              <a:rPr sz="1800" b="1" i="0">
                <a:solidFill>
                  <a:srgbClr val="000000"/>
                </a:solidFill>
                <a:latin typeface="Arial"/>
              </a:rPr>
              <a:t>sublethal margin</a:t>
            </a:r>
            <a:r>
              <a:rPr sz="1800" b="0" i="0">
                <a:solidFill>
                  <a:srgbClr val="000000"/>
                </a:solidFill>
                <a:latin typeface="Arial"/>
              </a:rPr>
              <a:t>.</a:t>
            </a:r>
          </a:p>
          <a:p>
            <a:pPr algn="l">
              <a:spcBef>
                <a:spcPts val="0"/>
              </a:spcBef>
              <a:spcAft>
                <a:spcPts val="0"/>
              </a:spcAft>
            </a:pPr>
            <a:r>
              <a:rPr sz="1900" b="1" i="0">
                <a:solidFill>
                  <a:srgbClr val="095945"/>
                </a:solidFill>
                <a:latin typeface="Arial"/>
              </a:rPr>
              <a:t>The cells that seed recurrence are the ones that survive there.</a:t>
            </a:r>
          </a:p>
        </p:txBody>
      </p:sp>
      <p:sp>
        <p:nvSpPr>
          <p:cNvPr id="26" name="Oval 25"/>
          <p:cNvSpPr/>
          <p:nvPr/>
        </p:nvSpPr>
        <p:spPr>
          <a:xfrm>
            <a:off x="7178040" y="1828800"/>
            <a:ext cx="4572000" cy="3474720"/>
          </a:xfrm>
          <a:prstGeom prst="ellipse">
            <a:avLst/>
          </a:prstGeom>
          <a:solidFill>
            <a:srgbClr val="F4F7F6"/>
          </a:solidFill>
          <a:ln w="12700">
            <a:solidFill>
              <a:srgbClr val="C8D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32419" y="2423160"/>
            <a:ext cx="3063240" cy="2286000"/>
          </a:xfrm>
          <a:prstGeom prst="ellipse">
            <a:avLst/>
          </a:prstGeom>
          <a:solidFill>
            <a:srgbClr val="C3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732519" y="3040380"/>
            <a:ext cx="1463040" cy="1051560"/>
          </a:xfrm>
          <a:prstGeom prst="ellipse">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32519" y="3447288"/>
            <a:ext cx="1463040" cy="274320"/>
          </a:xfrm>
          <a:prstGeom prst="rect">
            <a:avLst/>
          </a:prstGeom>
          <a:noFill/>
        </p:spPr>
        <p:txBody>
          <a:bodyPr wrap="square" anchor="t" lIns="0" rIns="0" tIns="0" bIns="0">
            <a:spAutoFit/>
          </a:bodyPr>
          <a:lstStyle/>
          <a:p>
            <a:pPr algn="ctr">
              <a:spcBef>
                <a:spcPts val="0"/>
              </a:spcBef>
              <a:spcAft>
                <a:spcPts val="0"/>
              </a:spcAft>
            </a:pPr>
            <a:r>
              <a:rPr sz="1200" b="1" i="0">
                <a:solidFill>
                  <a:srgbClr val="FFFFFF"/>
                </a:solidFill>
                <a:latin typeface="Arial"/>
              </a:rPr>
              <a:t>ablation core</a:t>
            </a:r>
          </a:p>
        </p:txBody>
      </p:sp>
      <p:sp>
        <p:nvSpPr>
          <p:cNvPr id="30" name="TextBox 29"/>
          <p:cNvSpPr txBox="1"/>
          <p:nvPr/>
        </p:nvSpPr>
        <p:spPr>
          <a:xfrm>
            <a:off x="7927848" y="2596896"/>
            <a:ext cx="3072384" cy="274320"/>
          </a:xfrm>
          <a:prstGeom prst="rect">
            <a:avLst/>
          </a:prstGeom>
          <a:noFill/>
        </p:spPr>
        <p:txBody>
          <a:bodyPr wrap="square" anchor="t" lIns="0" rIns="0" tIns="0" bIns="0">
            <a:spAutoFit/>
          </a:bodyPr>
          <a:lstStyle/>
          <a:p>
            <a:pPr algn="ctr">
              <a:spcBef>
                <a:spcPts val="0"/>
              </a:spcBef>
              <a:spcAft>
                <a:spcPts val="0"/>
              </a:spcAft>
            </a:pPr>
            <a:r>
              <a:rPr sz="1250" b="1" i="0">
                <a:solidFill>
                  <a:srgbClr val="095945"/>
                </a:solidFill>
                <a:latin typeface="Arial"/>
              </a:rPr>
              <a:t>sublethal margin</a:t>
            </a:r>
          </a:p>
        </p:txBody>
      </p:sp>
      <p:sp>
        <p:nvSpPr>
          <p:cNvPr id="31" name="TextBox 30"/>
          <p:cNvSpPr txBox="1"/>
          <p:nvPr/>
        </p:nvSpPr>
        <p:spPr>
          <a:xfrm>
            <a:off x="7178040" y="1956815"/>
            <a:ext cx="4572000" cy="274320"/>
          </a:xfrm>
          <a:prstGeom prst="rect">
            <a:avLst/>
          </a:prstGeom>
          <a:noFill/>
        </p:spPr>
        <p:txBody>
          <a:bodyPr wrap="square" anchor="t" lIns="0" rIns="0" tIns="0" bIns="0">
            <a:spAutoFit/>
          </a:bodyPr>
          <a:lstStyle/>
          <a:p>
            <a:pPr algn="ctr">
              <a:spcBef>
                <a:spcPts val="0"/>
              </a:spcBef>
              <a:spcAft>
                <a:spcPts val="0"/>
              </a:spcAft>
            </a:pPr>
            <a:r>
              <a:rPr sz="1200" b="0" i="0">
                <a:solidFill>
                  <a:srgbClr val="595959"/>
                </a:solidFill>
                <a:latin typeface="Arial"/>
              </a:rPr>
              <a:t>peritumoral brain</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1. Chen C, et al. J Neurooncol 2021;151:429–442.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What that margin is known to do — and what it is not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b="1">
                <a:solidFill>
                  <a:srgbClr val="095945"/>
                </a:solidFill>
                <a:latin typeface="Arial"/>
              </a:rPr>
              <a:t>Already described</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b="0" i="0">
                <a:solidFill>
                  <a:srgbClr val="000000"/>
                </a:solidFill>
                <a:latin typeface="Arial"/>
              </a:rPr>
              <a:t>Peri-ablation vessels transiently open the blood–brain barrier after ablation.²</a:t>
            </a:r>
          </a:p>
          <a:p>
            <a:pPr algn="l">
              <a:spcBef>
                <a:spcPts val="0"/>
              </a:spcBef>
              <a:spcAft>
                <a:spcPts val="0"/>
              </a:spcAft>
            </a:pPr>
            <a:r>
              <a:rPr sz="1700" b="0" i="0">
                <a:solidFill>
                  <a:srgbClr val="000000"/>
                </a:solidFill>
                <a:latin typeface="Arial"/>
              </a:rPr>
              <a:t>The immune microenvironment of the sublethal zone has been profiled in a rodent model.³</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b="1">
                <a:solidFill>
                  <a:srgbClr val="FFFFFF"/>
                </a:solidFill>
                <a:latin typeface="Arial"/>
              </a:rPr>
              <a:t>Not described</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b="1" i="0">
                <a:solidFill>
                  <a:srgbClr val="000000"/>
                </a:solidFill>
                <a:latin typeface="Arial"/>
              </a:rPr>
              <a:t>The cell-intrinsic transcriptional state of the residual tumor cells that survive ablation and repopulate the lesion.</a:t>
            </a:r>
          </a:p>
          <a:p>
            <a:pPr algn="l">
              <a:spcBef>
                <a:spcPts val="0"/>
              </a:spcBef>
              <a:spcAft>
                <a:spcPts val="0"/>
              </a:spcAft>
            </a:pPr>
            <a:r>
              <a:rPr sz="1700" b="0" i="0">
                <a:solidFill>
                  <a:srgbClr val="595959"/>
                </a:solidFill>
                <a:latin typeface="Arial"/>
              </a:rPr>
              <a:t>That is the gap this analysis addresses.</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b="1">
                <a:solidFill>
                  <a:srgbClr val="095945"/>
                </a:solidFill>
                <a:latin typeface="Arial"/>
              </a:rPr>
              <a:t>Does post-LITT recurrence carry its own transcriptional program — and does that program point to a drug?</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2. Cleary RT, et al. Neuro Oncol 2026;28:1649–1661.    3. Tao R, et al. J Immunol 2026;215:vkaf327.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model</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298448"/>
            <a:ext cx="11430000" cy="365760"/>
          </a:xfrm>
          <a:prstGeom prst="rect">
            <a:avLst/>
          </a:prstGeom>
          <a:noFill/>
        </p:spPr>
        <p:txBody>
          <a:bodyPr wrap="square" anchor="t" lIns="0" rIns="0" tIns="0" bIns="0">
            <a:spAutoFit/>
          </a:bodyPr>
          <a:lstStyle/>
          <a:p>
            <a:pPr algn="l">
              <a:spcBef>
                <a:spcPts val="0"/>
              </a:spcBef>
              <a:spcAft>
                <a:spcPts val="0"/>
              </a:spcAft>
            </a:pPr>
            <a:r>
              <a:rPr sz="1700" b="0" i="0">
                <a:solidFill>
                  <a:srgbClr val="595959"/>
                </a:solidFill>
                <a:latin typeface="Arial"/>
              </a:rPr>
              <a:t>An orthotopic U251N glioblastoma xenograft in the athymic RNU/RNU rat, ablated under MRI guidance — a model our group established and characterized previously.⁴˒⁵</a:t>
            </a:r>
          </a:p>
        </p:txBody>
      </p:sp>
      <p:sp>
        <p:nvSpPr>
          <p:cNvPr id="26" name="Rounded Rectangle 25"/>
          <p:cNvSpPr/>
          <p:nvPr/>
        </p:nvSpPr>
        <p:spPr>
          <a:xfrm>
            <a:off x="50292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Orthotopic</a:t>
            </a:r>
          </a:p>
          <a:p>
            <a:pPr algn="ctr">
              <a:spcAft>
                <a:spcPts val="0"/>
              </a:spcAft>
            </a:pPr>
            <a:r>
              <a:rPr sz="1600" b="0">
                <a:solidFill>
                  <a:srgbClr val="095945"/>
                </a:solidFill>
                <a:latin typeface="Arial"/>
              </a:rPr>
              <a:t>U251N xenograft</a:t>
            </a:r>
          </a:p>
        </p:txBody>
      </p:sp>
      <p:sp>
        <p:nvSpPr>
          <p:cNvPr id="27" name="TextBox 26"/>
          <p:cNvSpPr txBox="1"/>
          <p:nvPr/>
        </p:nvSpPr>
        <p:spPr>
          <a:xfrm>
            <a:off x="50292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human glioblastoma line</a:t>
            </a:r>
          </a:p>
          <a:p>
            <a:pPr algn="ctr">
              <a:spcBef>
                <a:spcPts val="0"/>
              </a:spcBef>
              <a:spcAft>
                <a:spcPts val="100"/>
              </a:spcAft>
            </a:pPr>
            <a:r>
              <a:rPr sz="1300" b="0" i="0">
                <a:solidFill>
                  <a:srgbClr val="595959"/>
                </a:solidFill>
                <a:latin typeface="Arial"/>
              </a:rPr>
              <a:t>in the athymic RNU/RNU rat</a:t>
            </a:r>
          </a:p>
        </p:txBody>
      </p:sp>
      <p:sp>
        <p:nvSpPr>
          <p:cNvPr id="28" name="Isosceles Triangle 27"/>
          <p:cNvSpPr/>
          <p:nvPr/>
        </p:nvSpPr>
        <p:spPr>
          <a:xfrm rot="5400000">
            <a:off x="4023359" y="2514599"/>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43484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MRI-guided</a:t>
            </a:r>
          </a:p>
          <a:p>
            <a:pPr algn="ctr">
              <a:spcAft>
                <a:spcPts val="0"/>
              </a:spcAft>
            </a:pPr>
            <a:r>
              <a:rPr sz="1600" b="0">
                <a:solidFill>
                  <a:srgbClr val="095945"/>
                </a:solidFill>
                <a:latin typeface="Arial"/>
              </a:rPr>
              <a:t>LITT</a:t>
            </a:r>
          </a:p>
        </p:txBody>
      </p:sp>
      <p:sp>
        <p:nvSpPr>
          <p:cNvPr id="30" name="TextBox 29"/>
          <p:cNvSpPr txBox="1"/>
          <p:nvPr/>
        </p:nvSpPr>
        <p:spPr>
          <a:xfrm>
            <a:off x="443484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thermal ablation of the</a:t>
            </a:r>
          </a:p>
          <a:p>
            <a:pPr algn="ctr">
              <a:spcBef>
                <a:spcPts val="0"/>
              </a:spcBef>
              <a:spcAft>
                <a:spcPts val="100"/>
              </a:spcAft>
            </a:pPr>
            <a:r>
              <a:rPr sz="1300" b="0" i="0">
                <a:solidFill>
                  <a:srgbClr val="595959"/>
                </a:solidFill>
                <a:latin typeface="Arial"/>
              </a:rPr>
              <a:t>primary tumor under</a:t>
            </a:r>
          </a:p>
          <a:p>
            <a:pPr algn="ctr">
              <a:spcBef>
                <a:spcPts val="0"/>
              </a:spcBef>
              <a:spcAft>
                <a:spcPts val="100"/>
              </a:spcAft>
            </a:pPr>
            <a:r>
              <a:rPr sz="1300" b="0" i="0">
                <a:solidFill>
                  <a:srgbClr val="595959"/>
                </a:solidFill>
                <a:latin typeface="Arial"/>
              </a:rPr>
              <a:t>real-time MR thermometry</a:t>
            </a:r>
          </a:p>
        </p:txBody>
      </p:sp>
      <p:sp>
        <p:nvSpPr>
          <p:cNvPr id="31" name="Isosceles Triangle 30"/>
          <p:cNvSpPr/>
          <p:nvPr/>
        </p:nvSpPr>
        <p:spPr>
          <a:xfrm rot="5400000">
            <a:off x="7955279" y="2514599"/>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66760" y="2103120"/>
            <a:ext cx="3429000" cy="100584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Matched tumors</a:t>
            </a:r>
          </a:p>
          <a:p>
            <a:pPr algn="ctr">
              <a:spcAft>
                <a:spcPts val="0"/>
              </a:spcAft>
            </a:pPr>
            <a:r>
              <a:rPr sz="1600" b="0">
                <a:solidFill>
                  <a:srgbClr val="095945"/>
                </a:solidFill>
                <a:latin typeface="Arial"/>
              </a:rPr>
              <a:t>re-harvested</a:t>
            </a:r>
          </a:p>
        </p:txBody>
      </p:sp>
      <p:sp>
        <p:nvSpPr>
          <p:cNvPr id="33" name="TextBox 32"/>
          <p:cNvSpPr txBox="1"/>
          <p:nvPr/>
        </p:nvSpPr>
        <p:spPr>
          <a:xfrm>
            <a:off x="8366760" y="323697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primary (pre-LITT) and</a:t>
            </a:r>
          </a:p>
          <a:p>
            <a:pPr algn="ctr">
              <a:spcBef>
                <a:spcPts val="0"/>
              </a:spcBef>
              <a:spcAft>
                <a:spcPts val="100"/>
              </a:spcAft>
            </a:pPr>
            <a:r>
              <a:rPr sz="1300" b="0" i="0">
                <a:solidFill>
                  <a:srgbClr val="595959"/>
                </a:solidFill>
                <a:latin typeface="Arial"/>
              </a:rPr>
              <a:t>recurrent (post-LITT)</a:t>
            </a:r>
          </a:p>
          <a:p>
            <a:pPr algn="ctr">
              <a:spcBef>
                <a:spcPts val="0"/>
              </a:spcBef>
              <a:spcAft>
                <a:spcPts val="100"/>
              </a:spcAft>
            </a:pPr>
            <a:r>
              <a:rPr sz="1300" b="0" i="0">
                <a:solidFill>
                  <a:srgbClr val="595959"/>
                </a:solidFill>
                <a:latin typeface="Arial"/>
              </a:rPr>
              <a:t>n = 3 per arm</a:t>
            </a:r>
          </a:p>
        </p:txBody>
      </p:sp>
      <p:sp>
        <p:nvSpPr>
          <p:cNvPr id="34" name="TextBox 33"/>
          <p:cNvSpPr txBox="1"/>
          <p:nvPr/>
        </p:nvSpPr>
        <p:spPr>
          <a:xfrm>
            <a:off x="256032" y="4709160"/>
            <a:ext cx="11521440" cy="1097280"/>
          </a:xfrm>
          <a:prstGeom prst="rect">
            <a:avLst/>
          </a:prstGeom>
          <a:noFill/>
        </p:spPr>
        <p:txBody>
          <a:bodyPr wrap="square" anchor="t" lIns="0" rIns="0" tIns="0" bIns="0">
            <a:spAutoFit/>
          </a:bodyPr>
          <a:lstStyle/>
          <a:p>
            <a:pPr algn="l">
              <a:spcBef>
                <a:spcPts val="0"/>
              </a:spcBef>
              <a:spcAft>
                <a:spcPts val="0"/>
              </a:spcAft>
            </a:pPr>
            <a:r>
              <a:rPr sz="1700" b="0" i="0">
                <a:solidFill>
                  <a:srgbClr val="000000"/>
                </a:solidFill>
                <a:latin typeface="Arial"/>
              </a:rPr>
              <a:t>The graft is human and the host is rat, which is the point: every read can be assigned to a species, so the tumor compartment can be read on its own.</a:t>
            </a:r>
          </a:p>
        </p:txBody>
      </p:sp>
      <p:sp>
        <p:nvSpPr>
          <p:cNvPr id="35" name="TextBox 34"/>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4. Nagaraja TN, et al. Acta Neurochir 2021;163:3455–3463.    5. Nagaraja TN, et al. J Neurosurg 2026:1–14.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analysis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xengsort</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human graft reads sorted</a:t>
            </a:r>
          </a:p>
          <a:p>
            <a:pPr algn="ctr">
              <a:spcBef>
                <a:spcPts val="0"/>
              </a:spcBef>
              <a:spcAft>
                <a:spcPts val="100"/>
              </a:spcAft>
            </a:pPr>
            <a:r>
              <a:rPr sz="1300" b="0" i="0">
                <a:solidFill>
                  <a:srgbClr val="595959"/>
                </a:solidFill>
                <a:latin typeface="Arial"/>
              </a:rPr>
              <a:t>from rat host reads, k = 25</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DESeq2</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Wald test, ashr shrinkage</a:t>
            </a:r>
          </a:p>
          <a:p>
            <a:pPr algn="ctr">
              <a:spcBef>
                <a:spcPts val="0"/>
              </a:spcBef>
              <a:spcAft>
                <a:spcPts val="100"/>
              </a:spcAft>
            </a:pPr>
            <a:r>
              <a:rPr sz="1300" b="0" i="0">
                <a:solidFill>
                  <a:srgbClr val="595959"/>
                </a:solidFill>
                <a:latin typeface="Arial"/>
              </a:rPr>
              <a:t>FDR &lt; 0.05, |log₂FC| &gt; 1</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Broad GSEA · subtypes</a:t>
            </a:r>
          </a:p>
          <a:p>
            <a:pPr algn="ctr">
              <a:spcAft>
                <a:spcPts val="0"/>
              </a:spcAft>
            </a:pPr>
            <a:r>
              <a:rPr sz="1600" b="0">
                <a:solidFill>
                  <a:srgbClr val="095945"/>
                </a:solidFill>
                <a:latin typeface="Arial"/>
              </a:rPr>
              <a:t>STRING · DSigDB</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b="0" i="0">
                <a:solidFill>
                  <a:srgbClr val="595959"/>
                </a:solidFill>
                <a:latin typeface="Arial"/>
              </a:rPr>
              <a:t>enrichment, subtypes,</a:t>
            </a:r>
          </a:p>
          <a:p>
            <a:pPr algn="ctr">
              <a:spcBef>
                <a:spcPts val="0"/>
              </a:spcBef>
              <a:spcAft>
                <a:spcPts val="100"/>
              </a:spcAft>
            </a:pPr>
            <a:r>
              <a:rPr sz="1300" b="0" i="0">
                <a:solidFill>
                  <a:srgbClr val="595959"/>
                </a:solidFill>
                <a:latin typeface="Arial"/>
              </a:rPr>
              <a:t>network and drug ranking</a:t>
            </a:r>
          </a:p>
        </p:txBody>
      </p:sp>
      <p:sp>
        <p:nvSpPr>
          <p:cNvPr id="33" name="TextBox 32"/>
          <p:cNvSpPr txBox="1"/>
          <p:nvPr/>
        </p:nvSpPr>
        <p:spPr>
          <a:xfrm>
            <a:off x="256032" y="3703320"/>
            <a:ext cx="11521440" cy="2011680"/>
          </a:xfrm>
          <a:prstGeom prst="rect">
            <a:avLst/>
          </a:prstGeom>
          <a:noFill/>
        </p:spPr>
        <p:txBody>
          <a:bodyPr wrap="square" anchor="t" lIns="0" rIns="0" tIns="0" bIns="0">
            <a:spAutoFit/>
          </a:bodyPr>
          <a:lstStyle/>
          <a:p>
            <a:pPr algn="l">
              <a:spcBef>
                <a:spcPts val="0"/>
              </a:spcBef>
              <a:spcAft>
                <a:spcPts val="1600"/>
              </a:spcAft>
            </a:pPr>
            <a:r>
              <a:rPr sz="1700" b="1" i="0">
                <a:solidFill>
                  <a:srgbClr val="000000"/>
                </a:solidFill>
                <a:latin typeface="Arial"/>
              </a:rPr>
              <a:t>Enrichment was permuted on gene-set membership, not on samples.</a:t>
            </a:r>
            <a:r>
              <a:rPr sz="1700" b="0" i="0">
                <a:solidFill>
                  <a:srgbClr val="000000"/>
                </a:solidFill>
                <a:latin typeface="Arial"/>
              </a:rPr>
              <a:t> At n = 3 per arm there are too few sample permutations to estimate significance, and gene-set permutation is substantially more reproducible at this size.⁶</a:t>
            </a:r>
          </a:p>
          <a:p>
            <a:pPr algn="l">
              <a:spcBef>
                <a:spcPts val="0"/>
              </a:spcBef>
              <a:spcAft>
                <a:spcPts val="1600"/>
              </a:spcAft>
            </a:pPr>
            <a:r>
              <a:rPr sz="1700" b="0" i="0">
                <a:solidFill>
                  <a:srgbClr val="000000"/>
                </a:solidFill>
                <a:latin typeface="Arial"/>
              </a:rPr>
              <a:t>Repurposing screened DSigDB, ranking each compound by how strongly its own signature countered the tumor signature (|NES|¹˙⁵), weighted by predicted blood–brain barrier permeability.</a:t>
            </a:r>
          </a:p>
          <a:p>
            <a:pPr algn="l">
              <a:spcBef>
                <a:spcPts val="0"/>
              </a:spcBef>
              <a:spcAft>
                <a:spcPts val="0"/>
              </a:spcAft>
            </a:pPr>
            <a:r>
              <a:rPr sz="1700" b="0" i="0">
                <a:solidFill>
                  <a:srgbClr val="000000"/>
                </a:solidFill>
                <a:latin typeface="Arial"/>
              </a:rPr>
              <a:t>Raw sequencing data are public: </a:t>
            </a:r>
            <a:r>
              <a:rPr sz="1700" b="1" i="0">
                <a:solidFill>
                  <a:srgbClr val="000000"/>
                </a:solidFill>
                <a:latin typeface="Arial"/>
              </a:rPr>
              <a:t>GEO accession GSE338105</a:t>
            </a:r>
            <a:r>
              <a:rPr sz="1700" b="0" i="0">
                <a:solidFill>
                  <a:srgbClr val="000000"/>
                </a:solidFill>
                <a:latin typeface="Arial"/>
              </a:rPr>
              <a:t>.</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6. Maleki F, et al. Hum Genomics 2019;13(Suppl 1):42.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Primary and recurrent tumors separate globally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pca.png"/>
          <p:cNvPicPr>
            <a:picLocks noChangeAspect="1"/>
          </p:cNvPicPr>
          <p:nvPr/>
        </p:nvPicPr>
        <p:blipFill>
          <a:blip r:embed="rId7"/>
          <a:stretch>
            <a:fillRect/>
          </a:stretch>
        </p:blipFill>
        <p:spPr>
          <a:xfrm>
            <a:off x="411480" y="1371600"/>
            <a:ext cx="4737055" cy="4434840"/>
          </a:xfrm>
          <a:prstGeom prst="rect">
            <a:avLst/>
          </a:prstGeom>
        </p:spPr>
      </p:pic>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The two arms sit on opposite sides of PC1. </a:t>
            </a:r>
            <a:r>
              <a:rPr sz="1800" b="1" i="0">
                <a:solidFill>
                  <a:srgbClr val="000000"/>
                </a:solidFill>
                <a:latin typeface="Arial"/>
              </a:rPr>
              <a:t>41.8%</a:t>
            </a:r>
            <a:r>
              <a:rPr sz="1800" b="0" i="0">
                <a:solidFill>
                  <a:srgbClr val="000000"/>
                </a:solidFill>
                <a:latin typeface="Arial"/>
              </a:rPr>
              <a:t> of the variance is on that axis and </a:t>
            </a:r>
            <a:r>
              <a:rPr sz="1800" b="1" i="0">
                <a:solidFill>
                  <a:srgbClr val="000000"/>
                </a:solidFill>
                <a:latin typeface="Arial"/>
              </a:rPr>
              <a:t>26.2%</a:t>
            </a:r>
            <a:r>
              <a:rPr sz="1800" b="0" i="0">
                <a:solidFill>
                  <a:srgbClr val="000000"/>
                </a:solidFill>
                <a:latin typeface="Arial"/>
              </a:rPr>
              <a:t> on PC2.</a:t>
            </a:r>
          </a:p>
          <a:p>
            <a:pPr algn="l">
              <a:spcBef>
                <a:spcPts val="0"/>
              </a:spcBef>
              <a:spcAft>
                <a:spcPts val="1400"/>
              </a:spcAft>
            </a:pPr>
            <a:r>
              <a:rPr sz="1800" b="0" i="0">
                <a:solidFill>
                  <a:srgbClr val="000000"/>
                </a:solidFill>
                <a:latin typeface="Arial"/>
              </a:rPr>
              <a:t>PERMANOVA attributes </a:t>
            </a:r>
            <a:r>
              <a:rPr sz="1800" b="1" i="0">
                <a:solidFill>
                  <a:srgbClr val="000000"/>
                </a:solidFill>
                <a:latin typeface="Arial"/>
              </a:rPr>
              <a:t>R² = 0.278</a:t>
            </a:r>
            <a:r>
              <a:rPr sz="1800" b="0" i="0">
                <a:solidFill>
                  <a:srgbClr val="000000"/>
                </a:solidFill>
                <a:latin typeface="Arial"/>
              </a:rPr>
              <a:t> of transcriptome-wide variance to recurrence (F = 1.54, </a:t>
            </a:r>
            <a:r>
              <a:rPr sz="1800" b="1" i="0">
                <a:solidFill>
                  <a:srgbClr val="000000"/>
                </a:solidFill>
                <a:latin typeface="Arial"/>
              </a:rPr>
              <a:t>p = 0.10</a:t>
            </a:r>
            <a:r>
              <a:rPr sz="1800" b="0" i="0">
                <a:solidFill>
                  <a:srgbClr val="000000"/>
                </a:solidFill>
                <a:latin typeface="Arial"/>
              </a:rPr>
              <a:t>).</a:t>
            </a:r>
          </a:p>
          <a:p>
            <a:pPr algn="l">
              <a:spcBef>
                <a:spcPts val="0"/>
              </a:spcBef>
              <a:spcAft>
                <a:spcPts val="0"/>
              </a:spcAft>
            </a:pPr>
            <a:r>
              <a:rPr sz="1600" b="0" i="0">
                <a:solidFill>
                  <a:srgbClr val="595959"/>
                </a:solidFill>
                <a:latin typeface="Arial"/>
              </a:rPr>
              <a:t>A large effect that three animals per arm cannot make formally significant. Worth saying out loud rather than leaving in the supplement.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Only 35 genes move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volcano.png"/>
          <p:cNvPicPr>
            <a:picLocks noChangeAspect="1"/>
          </p:cNvPicPr>
          <p:nvPr/>
        </p:nvPicPr>
        <p:blipFill>
          <a:blip r:embed="rId7"/>
          <a:stretch>
            <a:fillRect/>
          </a:stretch>
        </p:blipFill>
        <p:spPr>
          <a:xfrm>
            <a:off x="256032" y="1444752"/>
            <a:ext cx="6233160" cy="3730752"/>
          </a:xfrm>
          <a:prstGeom prst="rect">
            <a:avLst/>
          </a:prstGeom>
        </p:spPr>
      </p:pic>
      <p:sp>
        <p:nvSpPr>
          <p:cNvPr id="26" name="TextBox 25"/>
          <p:cNvSpPr txBox="1"/>
          <p:nvPr/>
        </p:nvSpPr>
        <p:spPr>
          <a:xfrm>
            <a:off x="6720840" y="1444752"/>
            <a:ext cx="5212080" cy="640080"/>
          </a:xfrm>
          <a:prstGeom prst="rect">
            <a:avLst/>
          </a:prstGeom>
          <a:noFill/>
        </p:spPr>
        <p:txBody>
          <a:bodyPr wrap="square" anchor="t" lIns="0" rIns="0" tIns="0" bIns="0">
            <a:spAutoFit/>
          </a:bodyPr>
          <a:lstStyle/>
          <a:p>
            <a:pPr algn="l">
              <a:spcBef>
                <a:spcPts val="0"/>
              </a:spcBef>
              <a:spcAft>
                <a:spcPts val="0"/>
              </a:spcAft>
            </a:pPr>
            <a:r>
              <a:rPr sz="1700" b="1" i="0">
                <a:solidFill>
                  <a:srgbClr val="000000"/>
                </a:solidFill>
                <a:latin typeface="Arial"/>
              </a:rPr>
              <a:t>35 genes</a:t>
            </a:r>
            <a:r>
              <a:rPr sz="1700" b="0" i="0">
                <a:solidFill>
                  <a:srgbClr val="000000"/>
                </a:solidFill>
                <a:latin typeface="Arial"/>
              </a:rPr>
              <a:t> clear FDR &lt; 0.05 with |log₂FC| &gt; 1 — </a:t>
            </a:r>
            <a:r>
              <a:rPr sz="1700" b="1" i="0">
                <a:solidFill>
                  <a:srgbClr val="000000"/>
                </a:solidFill>
                <a:latin typeface="Arial"/>
              </a:rPr>
              <a:t>23 up, 12 down</a:t>
            </a:r>
            <a:r>
              <a:rPr sz="1700" b="0" i="0">
                <a:solidFill>
                  <a:srgbClr val="000000"/>
                </a:solidFill>
                <a:latin typeface="Arial"/>
              </a:rPr>
              <a:t>; 27 are protein coding.</a:t>
            </a:r>
          </a:p>
        </p:txBody>
      </p:sp>
      <p:graphicFrame>
        <p:nvGraphicFramePr>
          <p:cNvPr id="27" name="Table 26"/>
          <p:cNvGraphicFramePr>
            <a:graphicFrameLocks noGrp="1"/>
          </p:cNvGraphicFramePr>
          <p:nvPr/>
        </p:nvGraphicFramePr>
        <p:xfrm>
          <a:off x="6720840" y="2139696"/>
          <a:ext cx="5212079" cy="1883664"/>
        </p:xfrm>
        <a:graphic>
          <a:graphicData uri="http://schemas.openxmlformats.org/drawingml/2006/table">
            <a:tbl>
              <a:tblPr firstRow="1" bandRow="0">
                <a:tableStyleId>{2D5ABB26-0587-4C30-8999-92F81FD0307C}</a:tableStyleId>
              </a:tblPr>
              <a:tblGrid>
                <a:gridCol w="1874519"/>
                <a:gridCol w="868680"/>
                <a:gridCol w="2468880"/>
              </a:tblGrid>
              <a:tr h="292608">
                <a:tc>
                  <a:txBody>
                    <a:bodyPr/>
                    <a:lstStyle/>
                    <a:p>
                      <a:pPr algn="l"/>
                      <a:r>
                        <a:rPr sz="1250" b="1">
                          <a:solidFill>
                            <a:srgbClr val="FFFFFF"/>
                          </a:solidFill>
                          <a:latin typeface="Arial"/>
                        </a:rPr>
                        <a:t>Largest fold changes</a:t>
                      </a:r>
                    </a:p>
                  </a:txBody>
                  <a:tcPr marL="82296" marR="82296" marT="18288" marB="18288" anchor="ctr">
                    <a:solidFill>
                      <a:srgbClr val="095945"/>
                    </a:solidFill>
                  </a:tcPr>
                </a:tc>
                <a:tc>
                  <a:txBody>
                    <a:bodyPr/>
                    <a:lstStyle/>
                    <a:p>
                      <a:pPr algn="r"/>
                      <a:r>
                        <a:rPr sz="1250" b="1">
                          <a:solidFill>
                            <a:srgbClr val="FFFFFF"/>
                          </a:solidFill>
                          <a:latin typeface="Arial"/>
                        </a:rPr>
                        <a:t>log₂FC</a:t>
                      </a:r>
                    </a:p>
                  </a:txBody>
                  <a:tcPr marL="82296" marR="82296" marT="18288" marB="18288" anchor="ctr">
                    <a:solidFill>
                      <a:srgbClr val="095945"/>
                    </a:solidFill>
                  </a:tcPr>
                </a:tc>
                <a:tc>
                  <a:txBody>
                    <a:bodyPr/>
                    <a:lstStyle/>
                    <a:p>
                      <a:pPr algn="r"/>
                      <a:r>
                        <a:rPr sz="1250" b="1">
                          <a:solidFill>
                            <a:srgbClr val="FFFFFF"/>
                          </a:solidFill>
                          <a:latin typeface="Arial"/>
                        </a:rPr>
                        <a:t>what the locus is</a:t>
                      </a:r>
                    </a:p>
                  </a:txBody>
                  <a:tcPr marL="82296" marR="82296" marT="18288" marB="18288" anchor="ctr">
                    <a:solidFill>
                      <a:srgbClr val="095945"/>
                    </a:solidFill>
                  </a:tcPr>
                </a:tc>
              </a:tr>
              <a:tr h="265176">
                <a:tc>
                  <a:txBody>
                    <a:bodyPr/>
                    <a:lstStyle/>
                    <a:p>
                      <a:pPr algn="l"/>
                      <a:r>
                        <a:rPr sz="1250" b="0">
                          <a:solidFill>
                            <a:srgbClr val="000000"/>
                          </a:solidFill>
                          <a:latin typeface="Arial"/>
                        </a:rPr>
                        <a:t>TMEM189-UBE2V1</a:t>
                      </a:r>
                    </a:p>
                  </a:txBody>
                  <a:tcPr marL="82296" marR="82296" marT="18288" marB="18288" anchor="ctr">
                    <a:solidFill>
                      <a:srgbClr val="FFFFFF"/>
                    </a:solidFill>
                  </a:tcPr>
                </a:tc>
                <a:tc>
                  <a:txBody>
                    <a:bodyPr/>
                    <a:lstStyle/>
                    <a:p>
                      <a:pPr algn="r"/>
                      <a:r>
                        <a:rPr sz="1250" b="0">
                          <a:solidFill>
                            <a:srgbClr val="000000"/>
                          </a:solidFill>
                          <a:latin typeface="Arial"/>
                        </a:rPr>
                        <a:t>−9.9</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RNU6-9</a:t>
                      </a:r>
                    </a:p>
                  </a:txBody>
                  <a:tcPr marL="82296" marR="82296" marT="18288" marB="18288" anchor="ctr">
                    <a:solidFill>
                      <a:srgbClr val="E8F0EE"/>
                    </a:solidFill>
                  </a:tcPr>
                </a:tc>
                <a:tc>
                  <a:txBody>
                    <a:bodyPr/>
                    <a:lstStyle/>
                    <a:p>
                      <a:pPr algn="r"/>
                      <a:r>
                        <a:rPr sz="1250" b="0">
                          <a:solidFill>
                            <a:srgbClr val="000000"/>
                          </a:solidFill>
                          <a:latin typeface="Arial"/>
                        </a:rPr>
                        <a:t>+9.9</a:t>
                      </a:r>
                    </a:p>
                  </a:txBody>
                  <a:tcPr marL="82296" marR="82296" marT="18288" marB="18288" anchor="ctr">
                    <a:solidFill>
                      <a:srgbClr val="E8F0EE"/>
                    </a:solidFill>
                  </a:tcPr>
                </a:tc>
                <a:tc>
                  <a:txBody>
                    <a:bodyPr/>
                    <a:lstStyle/>
                    <a:p>
                      <a:pPr algn="r"/>
                      <a:r>
                        <a:rPr sz="1250" b="0">
                          <a:solidFill>
                            <a:srgbClr val="000000"/>
                          </a:solidFill>
                          <a:latin typeface="Arial"/>
                        </a:rPr>
                        <a:t>small nuclear RNA</a:t>
                      </a:r>
                    </a:p>
                  </a:txBody>
                  <a:tcPr marL="82296" marR="82296" marT="18288" marB="18288" anchor="ctr">
                    <a:solidFill>
                      <a:srgbClr val="E8F0EE"/>
                    </a:solidFill>
                  </a:tcPr>
                </a:tc>
              </a:tr>
              <a:tr h="265176">
                <a:tc>
                  <a:txBody>
                    <a:bodyPr/>
                    <a:lstStyle/>
                    <a:p>
                      <a:pPr algn="l"/>
                      <a:r>
                        <a:rPr sz="1250" b="0">
                          <a:solidFill>
                            <a:srgbClr val="000000"/>
                          </a:solidFill>
                          <a:latin typeface="Arial"/>
                        </a:rPr>
                        <a:t>RP11-577H5.5</a:t>
                      </a:r>
                    </a:p>
                  </a:txBody>
                  <a:tcPr marL="82296" marR="82296" marT="18288" marB="18288" anchor="ctr">
                    <a:solidFill>
                      <a:srgbClr val="FFFFFF"/>
                    </a:solidFill>
                  </a:tcPr>
                </a:tc>
                <a:tc>
                  <a:txBody>
                    <a:bodyPr/>
                    <a:lstStyle/>
                    <a:p>
                      <a:pPr algn="r"/>
                      <a:r>
                        <a:rPr sz="1250" b="0">
                          <a:solidFill>
                            <a:srgbClr val="000000"/>
                          </a:solidFill>
                          <a:latin typeface="Arial"/>
                        </a:rPr>
                        <a:t>+8.1</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RP5-874C20.8</a:t>
                      </a:r>
                    </a:p>
                  </a:txBody>
                  <a:tcPr marL="82296" marR="82296" marT="18288" marB="18288" anchor="ctr">
                    <a:solidFill>
                      <a:srgbClr val="E8F0EE"/>
                    </a:solidFill>
                  </a:tcPr>
                </a:tc>
                <a:tc>
                  <a:txBody>
                    <a:bodyPr/>
                    <a:lstStyle/>
                    <a:p>
                      <a:pPr algn="r"/>
                      <a:r>
                        <a:rPr sz="1250" b="0">
                          <a:solidFill>
                            <a:srgbClr val="000000"/>
                          </a:solidFill>
                          <a:latin typeface="Arial"/>
                        </a:rPr>
                        <a:t>+5.6</a:t>
                      </a:r>
                    </a:p>
                  </a:txBody>
                  <a:tcPr marL="82296" marR="82296" marT="18288" marB="18288" anchor="ctr">
                    <a:solidFill>
                      <a:srgbClr val="E8F0EE"/>
                    </a:solidFill>
                  </a:tcPr>
                </a:tc>
                <a:tc>
                  <a:txBody>
                    <a:bodyPr/>
                    <a:lstStyle/>
                    <a:p>
                      <a:pPr algn="r"/>
                      <a:r>
                        <a:rPr sz="1250" b="0">
                          <a:solidFill>
                            <a:srgbClr val="000000"/>
                          </a:solidFill>
                          <a:latin typeface="Arial"/>
                        </a:rPr>
                        <a:t>unclassified locus</a:t>
                      </a:r>
                    </a:p>
                  </a:txBody>
                  <a:tcPr marL="82296" marR="82296" marT="18288" marB="18288" anchor="ctr">
                    <a:solidFill>
                      <a:srgbClr val="E8F0EE"/>
                    </a:solidFill>
                  </a:tcPr>
                </a:tc>
              </a:tr>
              <a:tr h="265176">
                <a:tc>
                  <a:txBody>
                    <a:bodyPr/>
                    <a:lstStyle/>
                    <a:p>
                      <a:pPr algn="l"/>
                      <a:r>
                        <a:rPr sz="1250" b="0">
                          <a:solidFill>
                            <a:srgbClr val="000000"/>
                          </a:solidFill>
                          <a:latin typeface="Arial"/>
                        </a:rPr>
                        <a:t>DYX1C1-CCPG1</a:t>
                      </a:r>
                    </a:p>
                  </a:txBody>
                  <a:tcPr marL="82296" marR="82296" marT="18288" marB="18288" anchor="ctr">
                    <a:solidFill>
                      <a:srgbClr val="FFFFFF"/>
                    </a:solidFill>
                  </a:tcPr>
                </a:tc>
                <a:tc>
                  <a:txBody>
                    <a:bodyPr/>
                    <a:lstStyle/>
                    <a:p>
                      <a:pPr algn="r"/>
                      <a:r>
                        <a:rPr sz="1250" b="0">
                          <a:solidFill>
                            <a:srgbClr val="000000"/>
                          </a:solidFill>
                          <a:latin typeface="Arial"/>
                        </a:rPr>
                        <a:t>+4.8</a:t>
                      </a:r>
                    </a:p>
                  </a:txBody>
                  <a:tcPr marL="82296" marR="82296" marT="18288" marB="18288" anchor="ctr">
                    <a:solidFill>
                      <a:srgbClr val="FFFFFF"/>
                    </a:solidFill>
                  </a:tcPr>
                </a:tc>
                <a:tc>
                  <a:txBody>
                    <a:bodyPr/>
                    <a:lstStyle/>
                    <a:p>
                      <a:pPr algn="r"/>
                      <a:r>
                        <a:rPr sz="1250" b="0">
                          <a:solidFill>
                            <a:srgbClr val="000000"/>
                          </a:solidFill>
                          <a:latin typeface="Arial"/>
                        </a:rPr>
                        <a:t>readthrough transcript</a:t>
                      </a:r>
                    </a:p>
                  </a:txBody>
                  <a:tcPr marL="82296" marR="82296" marT="18288" marB="18288" anchor="ctr">
                    <a:solidFill>
                      <a:srgbClr val="FFFFFF"/>
                    </a:solidFill>
                  </a:tcPr>
                </a:tc>
              </a:tr>
              <a:tr h="265176">
                <a:tc>
                  <a:txBody>
                    <a:bodyPr/>
                    <a:lstStyle/>
                    <a:p>
                      <a:pPr algn="l"/>
                      <a:r>
                        <a:rPr sz="1250" b="0">
                          <a:solidFill>
                            <a:srgbClr val="000000"/>
                          </a:solidFill>
                          <a:latin typeface="Arial"/>
                        </a:rPr>
                        <a:t>ENSG00000289697</a:t>
                      </a:r>
                    </a:p>
                  </a:txBody>
                  <a:tcPr marL="82296" marR="82296" marT="18288" marB="18288" anchor="ctr">
                    <a:solidFill>
                      <a:srgbClr val="E8F0EE"/>
                    </a:solidFill>
                  </a:tcPr>
                </a:tc>
                <a:tc>
                  <a:txBody>
                    <a:bodyPr/>
                    <a:lstStyle/>
                    <a:p>
                      <a:pPr algn="r"/>
                      <a:r>
                        <a:rPr sz="1250" b="0">
                          <a:solidFill>
                            <a:srgbClr val="000000"/>
                          </a:solidFill>
                          <a:latin typeface="Arial"/>
                        </a:rPr>
                        <a:t>+3.6</a:t>
                      </a:r>
                    </a:p>
                  </a:txBody>
                  <a:tcPr marL="82296" marR="82296" marT="18288" marB="18288" anchor="ctr">
                    <a:solidFill>
                      <a:srgbClr val="E8F0EE"/>
                    </a:solidFill>
                  </a:tcPr>
                </a:tc>
                <a:tc>
                  <a:txBody>
                    <a:bodyPr/>
                    <a:lstStyle/>
                    <a:p>
                      <a:pPr algn="r"/>
                      <a:r>
                        <a:rPr sz="1250" b="0">
                          <a:solidFill>
                            <a:srgbClr val="000000"/>
                          </a:solidFill>
                          <a:latin typeface="Arial"/>
                        </a:rPr>
                        <a:t>unclassified locus</a:t>
                      </a:r>
                    </a:p>
                  </a:txBody>
                  <a:tcPr marL="82296" marR="82296" marT="18288" marB="18288" anchor="ctr">
                    <a:solidFill>
                      <a:srgbClr val="E8F0EE"/>
                    </a:solidFill>
                  </a:tcPr>
                </a:tc>
              </a:tr>
            </a:tbl>
          </a:graphicData>
        </a:graphic>
      </p:graphicFrame>
      <p:sp>
        <p:nvSpPr>
          <p:cNvPr id="28" name="TextBox 27"/>
          <p:cNvSpPr txBox="1"/>
          <p:nvPr/>
        </p:nvSpPr>
        <p:spPr>
          <a:xfrm>
            <a:off x="6720840" y="4160520"/>
            <a:ext cx="5212080" cy="1645920"/>
          </a:xfrm>
          <a:prstGeom prst="rect">
            <a:avLst/>
          </a:prstGeom>
          <a:noFill/>
        </p:spPr>
        <p:txBody>
          <a:bodyPr wrap="square" anchor="t" lIns="0" rIns="0" tIns="0" bIns="0">
            <a:spAutoFit/>
          </a:bodyPr>
          <a:lstStyle/>
          <a:p>
            <a:pPr algn="l">
              <a:spcBef>
                <a:spcPts val="0"/>
              </a:spcBef>
              <a:spcAft>
                <a:spcPts val="1400"/>
              </a:spcAft>
            </a:pPr>
            <a:r>
              <a:rPr sz="1500" b="0" i="0">
                <a:solidFill>
                  <a:srgbClr val="595959"/>
                </a:solidFill>
                <a:latin typeface="Arial"/>
              </a:rPr>
              <a:t>Every one of the six is a readthrough transcript, a small nuclear RNA or an unannotated locus, on </a:t>
            </a:r>
            <a:r>
              <a:rPr sz="1500" b="1" i="0">
                <a:solidFill>
                  <a:srgbClr val="595959"/>
                </a:solidFill>
                <a:latin typeface="Arial"/>
              </a:rPr>
              <a:t>14–111 mean counts</a:t>
            </a:r>
            <a:r>
              <a:rPr sz="1500" b="0" i="0">
                <a:solidFill>
                  <a:srgbClr val="595959"/>
                </a:solidFill>
                <a:latin typeface="Arial"/>
              </a:rPr>
              <a:t> against a median of </a:t>
            </a:r>
            <a:r>
              <a:rPr sz="1500" b="1" i="0">
                <a:solidFill>
                  <a:srgbClr val="595959"/>
                </a:solidFill>
                <a:latin typeface="Arial"/>
              </a:rPr>
              <a:t>232</a:t>
            </a:r>
            <a:r>
              <a:rPr sz="1500" b="0" i="0">
                <a:solidFill>
                  <a:srgbClr val="595959"/>
                </a:solidFill>
                <a:latin typeface="Arial"/>
              </a:rPr>
              <a:t> — where a handful of reads makes a large ratio.</a:t>
            </a:r>
          </a:p>
          <a:p>
            <a:pPr algn="l">
              <a:spcBef>
                <a:spcPts val="0"/>
              </a:spcBef>
              <a:spcAft>
                <a:spcPts val="0"/>
              </a:spcAft>
            </a:pPr>
            <a:r>
              <a:rPr sz="1600" b="1" i="0">
                <a:solidFill>
                  <a:srgbClr val="095945"/>
                </a:solidFill>
                <a:latin typeface="Arial"/>
              </a:rPr>
              <a:t>A list this short does not carry the biology.</a:t>
            </a:r>
            <a:r>
              <a:rPr sz="1600" b="0" i="0">
                <a:solidFill>
                  <a:srgbClr val="095945"/>
                </a:solidFill>
                <a:latin typeface="Arial"/>
              </a:rPr>
              <a:t> The rest of the talk asks what the whole transcriptome is doing.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One dominant theme: translation is switched off</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gsea.png"/>
          <p:cNvPicPr>
            <a:picLocks noChangeAspect="1"/>
          </p:cNvPicPr>
          <p:nvPr/>
        </p:nvPicPr>
        <p:blipFill>
          <a:blip r:embed="rId7"/>
          <a:stretch>
            <a:fillRect/>
          </a:stretch>
        </p:blipFill>
        <p:spPr>
          <a:xfrm>
            <a:off x="256032" y="1554480"/>
            <a:ext cx="8138160" cy="3530409"/>
          </a:xfrm>
          <a:prstGeom prst="rect">
            <a:avLst/>
          </a:prstGeom>
        </p:spPr>
      </p:pic>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b="0" i="0">
                <a:solidFill>
                  <a:srgbClr val="000000"/>
                </a:solidFill>
                <a:latin typeface="Arial"/>
              </a:rPr>
              <a:t>Every leading down-regulated set is a translation or amino-acid-stress set.</a:t>
            </a:r>
          </a:p>
          <a:p>
            <a:pPr algn="l">
              <a:spcBef>
                <a:spcPts val="0"/>
              </a:spcBef>
              <a:spcAft>
                <a:spcPts val="1400"/>
              </a:spcAft>
            </a:pPr>
            <a:r>
              <a:rPr sz="1500" b="1" i="0">
                <a:solidFill>
                  <a:srgbClr val="000000"/>
                </a:solidFill>
                <a:latin typeface="Arial"/>
              </a:rPr>
              <a:t>The same direction runs across the whole anabolic programme:</a:t>
            </a:r>
            <a:r>
              <a:rPr sz="1500" b="0" i="0">
                <a:solidFill>
                  <a:srgbClr val="000000"/>
                </a:solidFill>
                <a:latin typeface="Arial"/>
              </a:rPr>
              <a:t> mTORC1 −1.46, MYC −1.29, ribosome biogenesis −1.62, glycolysis −1.57, OXPHOS −1.45.</a:t>
            </a:r>
          </a:p>
          <a:p>
            <a:pPr algn="l">
              <a:spcBef>
                <a:spcPts val="0"/>
              </a:spcBef>
              <a:spcAft>
                <a:spcPts val="0"/>
              </a:spcAft>
            </a:pPr>
            <a:r>
              <a:rPr sz="1500" b="0" i="0">
                <a:solidFill>
                  <a:srgbClr val="095945"/>
                </a:solidFill>
                <a:latin typeface="Arial"/>
              </a:rPr>
              <a:t>The TCA cycle is unchanged (−0.67) — this is the biosynthetic machinery, not core carbon flux.</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Broad GSEA, gene-set permutation, 1000 permutations, Diff_of_Classes. Nominal p is reported alongside FDR q because n = 3 per arm.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effect is strikingly one-sided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gsea_landscape.png"/>
          <p:cNvPicPr>
            <a:picLocks noChangeAspect="1"/>
          </p:cNvPicPr>
          <p:nvPr/>
        </p:nvPicPr>
        <p:blipFill>
          <a:blip r:embed="rId7"/>
          <a:stretch>
            <a:fillRect/>
          </a:stretch>
        </p:blipFill>
        <p:spPr>
          <a:xfrm>
            <a:off x="274320" y="1508760"/>
            <a:ext cx="6720840" cy="3853955"/>
          </a:xfrm>
          <a:prstGeom prst="rect">
            <a:avLst/>
          </a:prstGeom>
        </p:spPr>
      </p:pic>
      <p:sp>
        <p:nvSpPr>
          <p:cNvPr id="26" name="TextBox 25"/>
          <p:cNvSpPr txBox="1"/>
          <p:nvPr/>
        </p:nvSpPr>
        <p:spPr>
          <a:xfrm>
            <a:off x="7223760" y="1572768"/>
            <a:ext cx="4709160" cy="3931920"/>
          </a:xfrm>
          <a:prstGeom prst="rect">
            <a:avLst/>
          </a:prstGeom>
          <a:noFill/>
        </p:spPr>
        <p:txBody>
          <a:bodyPr wrap="square" anchor="t" lIns="0" rIns="0" tIns="0" bIns="0">
            <a:spAutoFit/>
          </a:bodyPr>
          <a:lstStyle/>
          <a:p>
            <a:pPr algn="l">
              <a:spcBef>
                <a:spcPts val="0"/>
              </a:spcBef>
              <a:spcAft>
                <a:spcPts val="1800"/>
              </a:spcAft>
            </a:pPr>
            <a:r>
              <a:rPr sz="1800" b="0" i="0">
                <a:solidFill>
                  <a:srgbClr val="000000"/>
                </a:solidFill>
                <a:latin typeface="Arial"/>
              </a:rPr>
              <a:t>Across </a:t>
            </a:r>
            <a:r>
              <a:rPr sz="1800" b="1" i="0">
                <a:solidFill>
                  <a:srgbClr val="000000"/>
                </a:solidFill>
                <a:latin typeface="Arial"/>
              </a:rPr>
              <a:t>8,869 gene sets</a:t>
            </a:r>
            <a:r>
              <a:rPr sz="1800" b="0" i="0">
                <a:solidFill>
                  <a:srgbClr val="000000"/>
                </a:solidFill>
                <a:latin typeface="Arial"/>
              </a:rPr>
              <a:t>, six reach q &lt; 0.25. All six are down-regulated, and all six are translation or stress sets.</a:t>
            </a:r>
          </a:p>
          <a:p>
            <a:pPr algn="l">
              <a:spcBef>
                <a:spcPts val="0"/>
              </a:spcBef>
              <a:spcAft>
                <a:spcPts val="1800"/>
              </a:spcAft>
            </a:pPr>
            <a:r>
              <a:rPr sz="1800" b="0" i="0">
                <a:solidFill>
                  <a:srgbClr val="000000"/>
                </a:solidFill>
                <a:latin typeface="Arial"/>
              </a:rPr>
              <a:t>Nothing on the up-regulated side survives correction (best q = 0.61) or forms an interpretable group.</a:t>
            </a:r>
          </a:p>
          <a:p>
            <a:pPr algn="l">
              <a:spcBef>
                <a:spcPts val="0"/>
              </a:spcBef>
              <a:spcAft>
                <a:spcPts val="0"/>
              </a:spcAft>
            </a:pPr>
            <a:r>
              <a:rPr sz="1800" b="1" i="0">
                <a:solidFill>
                  <a:srgbClr val="095945"/>
                </a:solidFill>
                <a:latin typeface="Arial"/>
              </a:rPr>
              <a:t>The recurrent state is defined by what it switches off, not by a new program it switches 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Scored against the published classifiers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subtypes.png"/>
          <p:cNvPicPr>
            <a:picLocks noChangeAspect="1"/>
          </p:cNvPicPr>
          <p:nvPr/>
        </p:nvPicPr>
        <p:blipFill>
          <a:blip r:embed="rId7"/>
          <a:stretch>
            <a:fillRect/>
          </a:stretch>
        </p:blipFill>
        <p:spPr>
          <a:xfrm>
            <a:off x="274320" y="1600200"/>
            <a:ext cx="6309360" cy="3829061"/>
          </a:xfrm>
          <a:prstGeom prst="rect">
            <a:avLst/>
          </a:prstGeom>
        </p:spPr>
      </p:pic>
      <p:sp>
        <p:nvSpPr>
          <p:cNvPr id="26" name="TextBox 25"/>
          <p:cNvSpPr txBox="1"/>
          <p:nvPr/>
        </p:nvSpPr>
        <p:spPr>
          <a:xfrm>
            <a:off x="6812280" y="1554480"/>
            <a:ext cx="5120640" cy="4023360"/>
          </a:xfrm>
          <a:prstGeom prst="rect">
            <a:avLst/>
          </a:prstGeom>
          <a:noFill/>
        </p:spPr>
        <p:txBody>
          <a:bodyPr wrap="square" anchor="t" lIns="0" rIns="0" tIns="0" bIns="0">
            <a:spAutoFit/>
          </a:bodyPr>
          <a:lstStyle/>
          <a:p>
            <a:pPr algn="l">
              <a:spcBef>
                <a:spcPts val="0"/>
              </a:spcBef>
              <a:spcAft>
                <a:spcPts val="1600"/>
              </a:spcAft>
            </a:pPr>
            <a:r>
              <a:rPr sz="1700" b="0" i="0">
                <a:solidFill>
                  <a:srgbClr val="595959"/>
                </a:solidFill>
                <a:latin typeface="Arial"/>
              </a:rPr>
              <a:t>Ten published Neftel and Garofano signatures, scored by </a:t>
            </a:r>
            <a:r>
              <a:rPr sz="1700" b="1" i="0">
                <a:solidFill>
                  <a:srgbClr val="595959"/>
                </a:solidFill>
                <a:latin typeface="Arial"/>
              </a:rPr>
              <a:t>GSVA</a:t>
            </a:r>
            <a:r>
              <a:rPr sz="1700" b="0" i="0">
                <a:solidFill>
                  <a:srgbClr val="595959"/>
                </a:solidFill>
                <a:latin typeface="Arial"/>
              </a:rPr>
              <a:t> — 39 to 50 genes each.</a:t>
            </a:r>
          </a:p>
          <a:p>
            <a:pPr algn="l">
              <a:spcBef>
                <a:spcPts val="0"/>
              </a:spcBef>
              <a:spcAft>
                <a:spcPts val="1600"/>
              </a:spcAft>
            </a:pPr>
            <a:r>
              <a:rPr sz="1700" b="0" i="0">
                <a:solidFill>
                  <a:srgbClr val="000000"/>
                </a:solidFill>
                <a:latin typeface="Arial"/>
              </a:rPr>
              <a:t>One transition reaches significance: </a:t>
            </a:r>
            <a:r>
              <a:rPr sz="1700" b="1" i="0">
                <a:solidFill>
                  <a:srgbClr val="000000"/>
                </a:solidFill>
                <a:latin typeface="Arial"/>
              </a:rPr>
              <a:t>loss of the astrocyte-like state</a:t>
            </a:r>
            <a:r>
              <a:rPr sz="1700" b="0" i="0">
                <a:solidFill>
                  <a:srgbClr val="000000"/>
                </a:solidFill>
                <a:latin typeface="Arial"/>
              </a:rPr>
              <a:t> (+0.26 → −0.27, p = 0.007).</a:t>
            </a:r>
          </a:p>
          <a:p>
            <a:pPr algn="l">
              <a:spcBef>
                <a:spcPts val="0"/>
              </a:spcBef>
              <a:spcAft>
                <a:spcPts val="0"/>
              </a:spcAft>
            </a:pPr>
            <a:r>
              <a:rPr sz="1700" b="1" i="0">
                <a:solidFill>
                  <a:srgbClr val="095945"/>
                </a:solidFill>
                <a:latin typeface="Arial"/>
              </a:rPr>
              <a:t>The mitochondrial signature moves with them (−0.58)</a:t>
            </a:r>
            <a:r>
              <a:rPr sz="1700" b="0" i="0">
                <a:solidFill>
                  <a:srgbClr val="095945"/>
                </a:solidFill>
                <a:latin typeface="Arial"/>
              </a:rPr>
              <a:t> — the same direction as the fall in OXPHOS and mitochondrial translation, and 34 of its 35 measurable genes are lower in recurrence.</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7. Garofano L, et al. Nat Cancer 2021;2:141–156.    8. Neftel C, et al. Cell 2019;178:835–849.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The hubs: matrix genes down, calcium genes up</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ppi.png"/>
          <p:cNvPicPr>
            <a:picLocks noChangeAspect="1"/>
          </p:cNvPicPr>
          <p:nvPr/>
        </p:nvPicPr>
        <p:blipFill>
          <a:blip r:embed="rId7"/>
          <a:stretch>
            <a:fillRect/>
          </a:stretch>
        </p:blipFill>
        <p:spPr>
          <a:xfrm>
            <a:off x="274320" y="2240280"/>
            <a:ext cx="5623559" cy="3004182"/>
          </a:xfrm>
          <a:prstGeom prst="rect">
            <a:avLst/>
          </a:prstGeom>
        </p:spPr>
      </p:pic>
      <p:graphicFrame>
        <p:nvGraphicFramePr>
          <p:cNvPr id="26" name="Table 25"/>
          <p:cNvGraphicFramePr>
            <a:graphicFrameLocks noGrp="1"/>
          </p:cNvGraphicFramePr>
          <p:nvPr/>
        </p:nvGraphicFramePr>
        <p:xfrm>
          <a:off x="6080760" y="1389888"/>
          <a:ext cx="5852160" cy="2990088"/>
        </p:xfrm>
        <a:graphic>
          <a:graphicData uri="http://schemas.openxmlformats.org/drawingml/2006/table">
            <a:tbl>
              <a:tblPr firstRow="1" bandRow="0">
                <a:tableStyleId>{2D5ABB26-0587-4C30-8999-92F81FD0307C}</a:tableStyleId>
              </a:tblPr>
              <a:tblGrid>
                <a:gridCol w="1417320"/>
                <a:gridCol w="868680"/>
                <a:gridCol w="3566160"/>
              </a:tblGrid>
              <a:tr h="274320">
                <a:tc>
                  <a:txBody>
                    <a:bodyPr/>
                    <a:lstStyle/>
                    <a:p>
                      <a:pPr algn="l"/>
                      <a:r>
                        <a:rPr sz="1200" b="1">
                          <a:solidFill>
                            <a:srgbClr val="FFFFFF"/>
                          </a:solidFill>
                          <a:latin typeface="Arial"/>
                        </a:rPr>
                        <a:t>Hub gene</a:t>
                      </a:r>
                    </a:p>
                  </a:txBody>
                  <a:tcPr marL="82296" marR="82296" marT="18288" marB="18288" anchor="ctr">
                    <a:solidFill>
                      <a:srgbClr val="095945"/>
                    </a:solidFill>
                  </a:tcPr>
                </a:tc>
                <a:tc>
                  <a:txBody>
                    <a:bodyPr/>
                    <a:lstStyle/>
                    <a:p>
                      <a:pPr algn="r"/>
                      <a:r>
                        <a:rPr sz="1200" b="1">
                          <a:solidFill>
                            <a:srgbClr val="FFFFFF"/>
                          </a:solidFill>
                          <a:latin typeface="Arial"/>
                        </a:rPr>
                        <a:t>log₂FC</a:t>
                      </a:r>
                    </a:p>
                  </a:txBody>
                  <a:tcPr marL="82296" marR="82296" marT="18288" marB="18288" anchor="ctr">
                    <a:solidFill>
                      <a:srgbClr val="095945"/>
                    </a:solidFill>
                  </a:tcPr>
                </a:tc>
                <a:tc>
                  <a:txBody>
                    <a:bodyPr/>
                    <a:lstStyle/>
                    <a:p>
                      <a:pPr algn="r"/>
                      <a:r>
                        <a:rPr sz="1200" b="1">
                          <a:solidFill>
                            <a:srgbClr val="FFFFFF"/>
                          </a:solidFill>
                          <a:latin typeface="Arial"/>
                        </a:rPr>
                        <a:t>what it is</a:t>
                      </a:r>
                    </a:p>
                  </a:txBody>
                  <a:tcPr marL="82296" marR="82296" marT="18288" marB="18288" anchor="ctr">
                    <a:solidFill>
                      <a:srgbClr val="095945"/>
                    </a:solidFill>
                  </a:tcPr>
                </a:tc>
              </a:tr>
              <a:tr h="246888">
                <a:tc>
                  <a:txBody>
                    <a:bodyPr/>
                    <a:lstStyle/>
                    <a:p>
                      <a:pPr algn="l"/>
                      <a:r>
                        <a:rPr sz="1200" b="0">
                          <a:solidFill>
                            <a:srgbClr val="000000"/>
                          </a:solidFill>
                          <a:latin typeface="Arial"/>
                        </a:rPr>
                        <a:t>HMCN1</a:t>
                      </a:r>
                    </a:p>
                  </a:txBody>
                  <a:tcPr marL="82296" marR="82296" marT="18288" marB="18288" anchor="ctr">
                    <a:solidFill>
                      <a:srgbClr val="FFFFFF"/>
                    </a:solidFill>
                  </a:tcPr>
                </a:tc>
                <a:tc>
                  <a:txBody>
                    <a:bodyPr/>
                    <a:lstStyle/>
                    <a:p>
                      <a:pPr algn="r"/>
                      <a:r>
                        <a:rPr sz="1200" b="0">
                          <a:solidFill>
                            <a:srgbClr val="000000"/>
                          </a:solidFill>
                          <a:latin typeface="Arial"/>
                        </a:rPr>
                        <a:t>−2.01</a:t>
                      </a:r>
                    </a:p>
                  </a:txBody>
                  <a:tcPr marL="82296" marR="82296" marT="18288" marB="18288" anchor="ctr">
                    <a:solidFill>
                      <a:srgbClr val="FFFFFF"/>
                    </a:solidFill>
                  </a:tcPr>
                </a:tc>
                <a:tc>
                  <a:txBody>
                    <a:bodyPr/>
                    <a:lstStyle/>
                    <a:p>
                      <a:pPr algn="r"/>
                      <a:r>
                        <a:rPr sz="1200" b="0">
                          <a:solidFill>
                            <a:srgbClr val="000000"/>
                          </a:solidFill>
                          <a:latin typeface="Arial"/>
                        </a:rPr>
                        <a:t>hemicentin 1</a:t>
                      </a:r>
                    </a:p>
                  </a:txBody>
                  <a:tcPr marL="82296" marR="82296" marT="18288" marB="18288" anchor="ctr">
                    <a:solidFill>
                      <a:srgbClr val="FFFFFF"/>
                    </a:solidFill>
                  </a:tcPr>
                </a:tc>
              </a:tr>
              <a:tr h="246888">
                <a:tc>
                  <a:txBody>
                    <a:bodyPr/>
                    <a:lstStyle/>
                    <a:p>
                      <a:pPr algn="l"/>
                      <a:r>
                        <a:rPr sz="1200" b="0">
                          <a:solidFill>
                            <a:srgbClr val="000000"/>
                          </a:solidFill>
                          <a:latin typeface="Arial"/>
                        </a:rPr>
                        <a:t>PRELP</a:t>
                      </a:r>
                    </a:p>
                  </a:txBody>
                  <a:tcPr marL="82296" marR="82296" marT="18288" marB="18288" anchor="ctr">
                    <a:solidFill>
                      <a:srgbClr val="E8F0EE"/>
                    </a:solidFill>
                  </a:tcPr>
                </a:tc>
                <a:tc>
                  <a:txBody>
                    <a:bodyPr/>
                    <a:lstStyle/>
                    <a:p>
                      <a:pPr algn="r"/>
                      <a:r>
                        <a:rPr sz="1200" b="0">
                          <a:solidFill>
                            <a:srgbClr val="000000"/>
                          </a:solidFill>
                          <a:latin typeface="Arial"/>
                        </a:rPr>
                        <a:t>−1.66</a:t>
                      </a:r>
                    </a:p>
                  </a:txBody>
                  <a:tcPr marL="82296" marR="82296" marT="18288" marB="18288" anchor="ctr">
                    <a:solidFill>
                      <a:srgbClr val="E8F0EE"/>
                    </a:solidFill>
                  </a:tcPr>
                </a:tc>
                <a:tc>
                  <a:txBody>
                    <a:bodyPr/>
                    <a:lstStyle/>
                    <a:p>
                      <a:pPr algn="r"/>
                      <a:r>
                        <a:rPr sz="1200" b="0">
                          <a:solidFill>
                            <a:srgbClr val="000000"/>
                          </a:solidFill>
                          <a:latin typeface="Arial"/>
                        </a:rPr>
                        <a:t>prolargin</a:t>
                      </a:r>
                    </a:p>
                  </a:txBody>
                  <a:tcPr marL="82296" marR="82296" marT="18288" marB="18288" anchor="ctr">
                    <a:solidFill>
                      <a:srgbClr val="E8F0EE"/>
                    </a:solidFill>
                  </a:tcPr>
                </a:tc>
              </a:tr>
              <a:tr h="246888">
                <a:tc>
                  <a:txBody>
                    <a:bodyPr/>
                    <a:lstStyle/>
                    <a:p>
                      <a:pPr algn="l"/>
                      <a:r>
                        <a:rPr sz="1200" b="0">
                          <a:solidFill>
                            <a:srgbClr val="000000"/>
                          </a:solidFill>
                          <a:latin typeface="Arial"/>
                        </a:rPr>
                        <a:t>BGN</a:t>
                      </a:r>
                    </a:p>
                  </a:txBody>
                  <a:tcPr marL="82296" marR="82296" marT="18288" marB="18288" anchor="ctr">
                    <a:solidFill>
                      <a:srgbClr val="FFFFFF"/>
                    </a:solidFill>
                  </a:tcPr>
                </a:tc>
                <a:tc>
                  <a:txBody>
                    <a:bodyPr/>
                    <a:lstStyle/>
                    <a:p>
                      <a:pPr algn="r"/>
                      <a:r>
                        <a:rPr sz="1200" b="0">
                          <a:solidFill>
                            <a:srgbClr val="000000"/>
                          </a:solidFill>
                          <a:latin typeface="Arial"/>
                        </a:rPr>
                        <a:t>−1.54</a:t>
                      </a:r>
                    </a:p>
                  </a:txBody>
                  <a:tcPr marL="82296" marR="82296" marT="18288" marB="18288" anchor="ctr">
                    <a:solidFill>
                      <a:srgbClr val="FFFFFF"/>
                    </a:solidFill>
                  </a:tcPr>
                </a:tc>
                <a:tc>
                  <a:txBody>
                    <a:bodyPr/>
                    <a:lstStyle/>
                    <a:p>
                      <a:pPr algn="r"/>
                      <a:r>
                        <a:rPr sz="1200" b="0">
                          <a:solidFill>
                            <a:srgbClr val="000000"/>
                          </a:solidFill>
                          <a:latin typeface="Arial"/>
                        </a:rPr>
                        <a:t>biglycan</a:t>
                      </a:r>
                    </a:p>
                  </a:txBody>
                  <a:tcPr marL="82296" marR="82296" marT="18288" marB="18288" anchor="ctr">
                    <a:solidFill>
                      <a:srgbClr val="FFFFFF"/>
                    </a:solidFill>
                  </a:tcPr>
                </a:tc>
              </a:tr>
              <a:tr h="246888">
                <a:tc>
                  <a:txBody>
                    <a:bodyPr/>
                    <a:lstStyle/>
                    <a:p>
                      <a:pPr algn="l"/>
                      <a:r>
                        <a:rPr sz="1200" b="0">
                          <a:solidFill>
                            <a:srgbClr val="000000"/>
                          </a:solidFill>
                          <a:latin typeface="Arial"/>
                        </a:rPr>
                        <a:t>LRP1</a:t>
                      </a:r>
                    </a:p>
                  </a:txBody>
                  <a:tcPr marL="82296" marR="82296" marT="18288" marB="18288" anchor="ctr">
                    <a:solidFill>
                      <a:srgbClr val="E8F0EE"/>
                    </a:solidFill>
                  </a:tcPr>
                </a:tc>
                <a:tc>
                  <a:txBody>
                    <a:bodyPr/>
                    <a:lstStyle/>
                    <a:p>
                      <a:pPr algn="r"/>
                      <a:r>
                        <a:rPr sz="1200" b="0">
                          <a:solidFill>
                            <a:srgbClr val="000000"/>
                          </a:solidFill>
                          <a:latin typeface="Arial"/>
                        </a:rPr>
                        <a:t>−1.22</a:t>
                      </a:r>
                    </a:p>
                  </a:txBody>
                  <a:tcPr marL="82296" marR="82296" marT="18288" marB="18288" anchor="ctr">
                    <a:solidFill>
                      <a:srgbClr val="E8F0EE"/>
                    </a:solidFill>
                  </a:tcPr>
                </a:tc>
                <a:tc>
                  <a:txBody>
                    <a:bodyPr/>
                    <a:lstStyle/>
                    <a:p>
                      <a:pPr algn="r"/>
                      <a:r>
                        <a:rPr sz="1200" b="0">
                          <a:solidFill>
                            <a:srgbClr val="000000"/>
                          </a:solidFill>
                          <a:latin typeface="Arial"/>
                        </a:rPr>
                        <a:t>LDL-receptor–related protein 1</a:t>
                      </a:r>
                    </a:p>
                  </a:txBody>
                  <a:tcPr marL="82296" marR="82296" marT="18288" marB="18288" anchor="ctr">
                    <a:solidFill>
                      <a:srgbClr val="E8F0EE"/>
                    </a:solidFill>
                  </a:tcPr>
                </a:tc>
              </a:tr>
              <a:tr h="246888">
                <a:tc>
                  <a:txBody>
                    <a:bodyPr/>
                    <a:lstStyle/>
                    <a:p>
                      <a:pPr algn="l"/>
                      <a:r>
                        <a:rPr sz="1200" b="0">
                          <a:solidFill>
                            <a:srgbClr val="000000"/>
                          </a:solidFill>
                          <a:latin typeface="Arial"/>
                        </a:rPr>
                        <a:t>IGFBP3</a:t>
                      </a:r>
                    </a:p>
                  </a:txBody>
                  <a:tcPr marL="82296" marR="82296" marT="18288" marB="18288" anchor="ctr">
                    <a:solidFill>
                      <a:srgbClr val="FFFFFF"/>
                    </a:solidFill>
                  </a:tcPr>
                </a:tc>
                <a:tc>
                  <a:txBody>
                    <a:bodyPr/>
                    <a:lstStyle/>
                    <a:p>
                      <a:pPr algn="r"/>
                      <a:r>
                        <a:rPr sz="1200" b="0">
                          <a:solidFill>
                            <a:srgbClr val="000000"/>
                          </a:solidFill>
                          <a:latin typeface="Arial"/>
                        </a:rPr>
                        <a:t>−1.18</a:t>
                      </a:r>
                    </a:p>
                  </a:txBody>
                  <a:tcPr marL="82296" marR="82296" marT="18288" marB="18288" anchor="ctr">
                    <a:solidFill>
                      <a:srgbClr val="FFFFFF"/>
                    </a:solidFill>
                  </a:tcPr>
                </a:tc>
                <a:tc>
                  <a:txBody>
                    <a:bodyPr/>
                    <a:lstStyle/>
                    <a:p>
                      <a:pPr algn="r"/>
                      <a:r>
                        <a:rPr sz="1200" b="0">
                          <a:solidFill>
                            <a:srgbClr val="000000"/>
                          </a:solidFill>
                          <a:latin typeface="Arial"/>
                        </a:rPr>
                        <a:t>IGF-binding protein 3</a:t>
                      </a:r>
                    </a:p>
                  </a:txBody>
                  <a:tcPr marL="82296" marR="82296" marT="18288" marB="18288" anchor="ctr">
                    <a:solidFill>
                      <a:srgbClr val="FFFFFF"/>
                    </a:solidFill>
                  </a:tcPr>
                </a:tc>
              </a:tr>
              <a:tr h="246888">
                <a:tc>
                  <a:txBody>
                    <a:bodyPr/>
                    <a:lstStyle/>
                    <a:p>
                      <a:pPr algn="l"/>
                      <a:r>
                        <a:rPr sz="1200" b="0">
                          <a:solidFill>
                            <a:srgbClr val="000000"/>
                          </a:solidFill>
                          <a:latin typeface="Arial"/>
                        </a:rPr>
                        <a:t>COL1A1</a:t>
                      </a:r>
                    </a:p>
                  </a:txBody>
                  <a:tcPr marL="82296" marR="82296" marT="18288" marB="18288" anchor="ctr">
                    <a:solidFill>
                      <a:srgbClr val="E8F0EE"/>
                    </a:solidFill>
                  </a:tcPr>
                </a:tc>
                <a:tc>
                  <a:txBody>
                    <a:bodyPr/>
                    <a:lstStyle/>
                    <a:p>
                      <a:pPr algn="r"/>
                      <a:r>
                        <a:rPr sz="1200" b="0">
                          <a:solidFill>
                            <a:srgbClr val="000000"/>
                          </a:solidFill>
                          <a:latin typeface="Arial"/>
                        </a:rPr>
                        <a:t>−1.16</a:t>
                      </a:r>
                    </a:p>
                  </a:txBody>
                  <a:tcPr marL="82296" marR="82296" marT="18288" marB="18288" anchor="ctr">
                    <a:solidFill>
                      <a:srgbClr val="E8F0EE"/>
                    </a:solidFill>
                  </a:tcPr>
                </a:tc>
                <a:tc>
                  <a:txBody>
                    <a:bodyPr/>
                    <a:lstStyle/>
                    <a:p>
                      <a:pPr algn="r"/>
                      <a:r>
                        <a:rPr sz="1200" b="0">
                          <a:solidFill>
                            <a:srgbClr val="000000"/>
                          </a:solidFill>
                          <a:latin typeface="Arial"/>
                        </a:rPr>
                        <a:t>collagen type I α1</a:t>
                      </a:r>
                    </a:p>
                  </a:txBody>
                  <a:tcPr marL="82296" marR="82296" marT="18288" marB="18288" anchor="ctr">
                    <a:solidFill>
                      <a:srgbClr val="E8F0EE"/>
                    </a:solidFill>
                  </a:tcPr>
                </a:tc>
              </a:tr>
              <a:tr h="246888">
                <a:tc>
                  <a:txBody>
                    <a:bodyPr/>
                    <a:lstStyle/>
                    <a:p>
                      <a:pPr algn="l"/>
                      <a:r>
                        <a:rPr sz="1200" b="0">
                          <a:solidFill>
                            <a:srgbClr val="000000"/>
                          </a:solidFill>
                          <a:latin typeface="Arial"/>
                        </a:rPr>
                        <a:t>GPC3</a:t>
                      </a:r>
                    </a:p>
                  </a:txBody>
                  <a:tcPr marL="82296" marR="82296" marT="18288" marB="18288" anchor="ctr">
                    <a:solidFill>
                      <a:srgbClr val="FFFFFF"/>
                    </a:solidFill>
                  </a:tcPr>
                </a:tc>
                <a:tc>
                  <a:txBody>
                    <a:bodyPr/>
                    <a:lstStyle/>
                    <a:p>
                      <a:pPr algn="r"/>
                      <a:r>
                        <a:rPr sz="1200" b="0">
                          <a:solidFill>
                            <a:srgbClr val="000000"/>
                          </a:solidFill>
                          <a:latin typeface="Arial"/>
                        </a:rPr>
                        <a:t>+2.17</a:t>
                      </a:r>
                    </a:p>
                  </a:txBody>
                  <a:tcPr marL="82296" marR="82296" marT="18288" marB="18288" anchor="ctr">
                    <a:solidFill>
                      <a:srgbClr val="FFFFFF"/>
                    </a:solidFill>
                  </a:tcPr>
                </a:tc>
                <a:tc>
                  <a:txBody>
                    <a:bodyPr/>
                    <a:lstStyle/>
                    <a:p>
                      <a:pPr algn="r"/>
                      <a:r>
                        <a:rPr sz="1200" b="0">
                          <a:solidFill>
                            <a:srgbClr val="000000"/>
                          </a:solidFill>
                          <a:latin typeface="Arial"/>
                        </a:rPr>
                        <a:t>glypican 3</a:t>
                      </a:r>
                    </a:p>
                  </a:txBody>
                  <a:tcPr marL="82296" marR="82296" marT="18288" marB="18288" anchor="ctr">
                    <a:solidFill>
                      <a:srgbClr val="FFFFFF"/>
                    </a:solidFill>
                  </a:tcPr>
                </a:tc>
              </a:tr>
              <a:tr h="246888">
                <a:tc>
                  <a:txBody>
                    <a:bodyPr/>
                    <a:lstStyle/>
                    <a:p>
                      <a:pPr algn="l"/>
                      <a:r>
                        <a:rPr sz="1200" b="0">
                          <a:solidFill>
                            <a:srgbClr val="000000"/>
                          </a:solidFill>
                          <a:latin typeface="Arial"/>
                        </a:rPr>
                        <a:t>COL17A1</a:t>
                      </a:r>
                    </a:p>
                  </a:txBody>
                  <a:tcPr marL="82296" marR="82296" marT="18288" marB="18288" anchor="ctr">
                    <a:solidFill>
                      <a:srgbClr val="E8F0EE"/>
                    </a:solidFill>
                  </a:tcPr>
                </a:tc>
                <a:tc>
                  <a:txBody>
                    <a:bodyPr/>
                    <a:lstStyle/>
                    <a:p>
                      <a:pPr algn="r"/>
                      <a:r>
                        <a:rPr sz="1200" b="0">
                          <a:solidFill>
                            <a:srgbClr val="000000"/>
                          </a:solidFill>
                          <a:latin typeface="Arial"/>
                        </a:rPr>
                        <a:t>+1.45</a:t>
                      </a:r>
                    </a:p>
                  </a:txBody>
                  <a:tcPr marL="82296" marR="82296" marT="18288" marB="18288" anchor="ctr">
                    <a:solidFill>
                      <a:srgbClr val="E8F0EE"/>
                    </a:solidFill>
                  </a:tcPr>
                </a:tc>
                <a:tc>
                  <a:txBody>
                    <a:bodyPr/>
                    <a:lstStyle/>
                    <a:p>
                      <a:pPr algn="r"/>
                      <a:r>
                        <a:rPr sz="1200" b="0">
                          <a:solidFill>
                            <a:srgbClr val="000000"/>
                          </a:solidFill>
                          <a:latin typeface="Arial"/>
                        </a:rPr>
                        <a:t>collagen type XVII α1</a:t>
                      </a:r>
                    </a:p>
                  </a:txBody>
                  <a:tcPr marL="82296" marR="82296" marT="18288" marB="18288" anchor="ctr">
                    <a:solidFill>
                      <a:srgbClr val="E8F0EE"/>
                    </a:solidFill>
                  </a:tcPr>
                </a:tc>
              </a:tr>
              <a:tr h="246888">
                <a:tc>
                  <a:txBody>
                    <a:bodyPr/>
                    <a:lstStyle/>
                    <a:p>
                      <a:pPr algn="l"/>
                      <a:r>
                        <a:rPr sz="1200" b="0">
                          <a:solidFill>
                            <a:srgbClr val="000000"/>
                          </a:solidFill>
                          <a:latin typeface="Arial"/>
                        </a:rPr>
                        <a:t>CALB1</a:t>
                      </a:r>
                    </a:p>
                  </a:txBody>
                  <a:tcPr marL="82296" marR="82296" marT="18288" marB="18288" anchor="ctr">
                    <a:solidFill>
                      <a:srgbClr val="FFFFFF"/>
                    </a:solidFill>
                  </a:tcPr>
                </a:tc>
                <a:tc>
                  <a:txBody>
                    <a:bodyPr/>
                    <a:lstStyle/>
                    <a:p>
                      <a:pPr algn="r"/>
                      <a:r>
                        <a:rPr sz="1200" b="0">
                          <a:solidFill>
                            <a:srgbClr val="000000"/>
                          </a:solidFill>
                          <a:latin typeface="Arial"/>
                        </a:rPr>
                        <a:t>+1.22</a:t>
                      </a:r>
                    </a:p>
                  </a:txBody>
                  <a:tcPr marL="82296" marR="82296" marT="18288" marB="18288" anchor="ctr">
                    <a:solidFill>
                      <a:srgbClr val="FFFFFF"/>
                    </a:solidFill>
                  </a:tcPr>
                </a:tc>
                <a:tc>
                  <a:txBody>
                    <a:bodyPr/>
                    <a:lstStyle/>
                    <a:p>
                      <a:pPr algn="r"/>
                      <a:r>
                        <a:rPr sz="1200" b="0">
                          <a:solidFill>
                            <a:srgbClr val="000000"/>
                          </a:solidFill>
                          <a:latin typeface="Arial"/>
                        </a:rPr>
                        <a:t>calbindin 1</a:t>
                      </a:r>
                    </a:p>
                  </a:txBody>
                  <a:tcPr marL="82296" marR="82296" marT="18288" marB="18288" anchor="ctr">
                    <a:solidFill>
                      <a:srgbClr val="FFFFFF"/>
                    </a:solidFill>
                  </a:tcPr>
                </a:tc>
              </a:tr>
              <a:tr h="246888">
                <a:tc>
                  <a:txBody>
                    <a:bodyPr/>
                    <a:lstStyle/>
                    <a:p>
                      <a:pPr algn="l"/>
                      <a:r>
                        <a:rPr sz="1200" b="0">
                          <a:solidFill>
                            <a:srgbClr val="000000"/>
                          </a:solidFill>
                          <a:latin typeface="Arial"/>
                        </a:rPr>
                        <a:t>PCLO</a:t>
                      </a:r>
                    </a:p>
                  </a:txBody>
                  <a:tcPr marL="82296" marR="82296" marT="18288" marB="18288" anchor="ctr">
                    <a:solidFill>
                      <a:srgbClr val="E8F0EE"/>
                    </a:solidFill>
                  </a:tcPr>
                </a:tc>
                <a:tc>
                  <a:txBody>
                    <a:bodyPr/>
                    <a:lstStyle/>
                    <a:p>
                      <a:pPr algn="r"/>
                      <a:r>
                        <a:rPr sz="1200" b="0">
                          <a:solidFill>
                            <a:srgbClr val="000000"/>
                          </a:solidFill>
                          <a:latin typeface="Arial"/>
                        </a:rPr>
                        <a:t>+1.17</a:t>
                      </a:r>
                    </a:p>
                  </a:txBody>
                  <a:tcPr marL="82296" marR="82296" marT="18288" marB="18288" anchor="ctr">
                    <a:solidFill>
                      <a:srgbClr val="E8F0EE"/>
                    </a:solidFill>
                  </a:tcPr>
                </a:tc>
                <a:tc>
                  <a:txBody>
                    <a:bodyPr/>
                    <a:lstStyle/>
                    <a:p>
                      <a:pPr algn="r"/>
                      <a:r>
                        <a:rPr sz="1200" b="0">
                          <a:solidFill>
                            <a:srgbClr val="000000"/>
                          </a:solidFill>
                          <a:latin typeface="Arial"/>
                        </a:rPr>
                        <a:t>presynaptic cytomatrix protein</a:t>
                      </a:r>
                    </a:p>
                  </a:txBody>
                  <a:tcPr marL="82296" marR="82296" marT="18288" marB="18288" anchor="ctr">
                    <a:solidFill>
                      <a:srgbClr val="E8F0EE"/>
                    </a:solidFill>
                  </a:tcPr>
                </a:tc>
              </a:tr>
              <a:tr h="246888">
                <a:tc>
                  <a:txBody>
                    <a:bodyPr/>
                    <a:lstStyle/>
                    <a:p>
                      <a:pPr algn="l"/>
                      <a:r>
                        <a:rPr sz="1200" b="0">
                          <a:solidFill>
                            <a:srgbClr val="000000"/>
                          </a:solidFill>
                          <a:latin typeface="Arial"/>
                        </a:rPr>
                        <a:t>RYR2</a:t>
                      </a:r>
                    </a:p>
                  </a:txBody>
                  <a:tcPr marL="82296" marR="82296" marT="18288" marB="18288" anchor="ctr">
                    <a:solidFill>
                      <a:srgbClr val="FFFFFF"/>
                    </a:solidFill>
                  </a:tcPr>
                </a:tc>
                <a:tc>
                  <a:txBody>
                    <a:bodyPr/>
                    <a:lstStyle/>
                    <a:p>
                      <a:pPr algn="r"/>
                      <a:r>
                        <a:rPr sz="1200" b="0">
                          <a:solidFill>
                            <a:srgbClr val="000000"/>
                          </a:solidFill>
                          <a:latin typeface="Arial"/>
                        </a:rPr>
                        <a:t>+1.03</a:t>
                      </a:r>
                    </a:p>
                  </a:txBody>
                  <a:tcPr marL="82296" marR="82296" marT="18288" marB="18288" anchor="ctr">
                    <a:solidFill>
                      <a:srgbClr val="FFFFFF"/>
                    </a:solidFill>
                  </a:tcPr>
                </a:tc>
                <a:tc>
                  <a:txBody>
                    <a:bodyPr/>
                    <a:lstStyle/>
                    <a:p>
                      <a:pPr algn="r"/>
                      <a:r>
                        <a:rPr sz="1200" b="0">
                          <a:solidFill>
                            <a:srgbClr val="000000"/>
                          </a:solidFill>
                          <a:latin typeface="Arial"/>
                        </a:rPr>
                        <a:t>ryanodine receptor 2</a:t>
                      </a:r>
                    </a:p>
                  </a:txBody>
                  <a:tcPr marL="82296" marR="82296" marT="18288" marB="18288" anchor="ctr">
                    <a:solidFill>
                      <a:srgbClr val="FFFFFF"/>
                    </a:solidFill>
                  </a:tcPr>
                </a:tc>
              </a:tr>
            </a:tbl>
          </a:graphicData>
        </a:graphic>
      </p:graphicFrame>
      <p:sp>
        <p:nvSpPr>
          <p:cNvPr id="27" name="TextBox 26"/>
          <p:cNvSpPr txBox="1"/>
          <p:nvPr/>
        </p:nvSpPr>
        <p:spPr>
          <a:xfrm>
            <a:off x="6080760" y="4590288"/>
            <a:ext cx="5852160" cy="1371600"/>
          </a:xfrm>
          <a:prstGeom prst="rect">
            <a:avLst/>
          </a:prstGeom>
          <a:noFill/>
        </p:spPr>
        <p:txBody>
          <a:bodyPr wrap="square" anchor="t" lIns="0" rIns="0" tIns="0" bIns="0">
            <a:spAutoFit/>
          </a:bodyPr>
          <a:lstStyle/>
          <a:p>
            <a:pPr algn="l">
              <a:spcBef>
                <a:spcPts val="0"/>
              </a:spcBef>
              <a:spcAft>
                <a:spcPts val="1200"/>
              </a:spcAft>
            </a:pPr>
            <a:r>
              <a:rPr sz="1500" b="1" i="0">
                <a:solidFill>
                  <a:srgbClr val="000000"/>
                </a:solidFill>
                <a:latin typeface="Arial"/>
              </a:rPr>
              <a:t>Down:</a:t>
            </a:r>
            <a:r>
              <a:rPr sz="1500" b="0" i="0">
                <a:solidFill>
                  <a:srgbClr val="000000"/>
                </a:solidFill>
                <a:latin typeface="Arial"/>
              </a:rPr>
              <a:t> the structural matrix. </a:t>
            </a:r>
            <a:r>
              <a:rPr sz="1500" b="1" i="0">
                <a:solidFill>
                  <a:srgbClr val="000000"/>
                </a:solidFill>
                <a:latin typeface="Arial"/>
              </a:rPr>
              <a:t>Up:</a:t>
            </a:r>
            <a:r>
              <a:rPr sz="1500" b="0" i="0">
                <a:solidFill>
                  <a:srgbClr val="000000"/>
                </a:solidFill>
                <a:latin typeface="Arial"/>
              </a:rPr>
              <a:t> neuronal calcium handling and the presynaptic scaffold.</a:t>
            </a:r>
          </a:p>
          <a:p>
            <a:pPr algn="l">
              <a:spcBef>
                <a:spcPts val="0"/>
              </a:spcBef>
              <a:spcAft>
                <a:spcPts val="0"/>
              </a:spcAft>
            </a:pPr>
            <a:r>
              <a:rPr sz="1500" b="0" i="0">
                <a:solidFill>
                  <a:srgbClr val="095945"/>
                </a:solidFill>
                <a:latin typeface="Arial"/>
              </a:rPr>
              <a:t>Whether that echoes the neuron–glioma synapse described in high-grade glioma⁹˒¹⁰ — or only reflects which cells survived — six animals cannot tell us.</a:t>
            </a:r>
          </a:p>
        </p:txBody>
      </p:sp>
      <p:sp>
        <p:nvSpPr>
          <p:cNvPr id="28" name="TextBox 27"/>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9. Venkatesh HS, et al. Nature 2019;573:539–545.    10. Venkataramani V, et al. Nature 2019;573:532–538.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One candidate survives every filter</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pic>
        <p:nvPicPr>
          <p:cNvPr id="25" name="Picture 24" descr="chart_drugs.png"/>
          <p:cNvPicPr>
            <a:picLocks noChangeAspect="1"/>
          </p:cNvPicPr>
          <p:nvPr/>
        </p:nvPicPr>
        <p:blipFill>
          <a:blip r:embed="rId7"/>
          <a:stretch>
            <a:fillRect/>
          </a:stretch>
        </p:blipFill>
        <p:spPr>
          <a:xfrm>
            <a:off x="256032" y="1554480"/>
            <a:ext cx="5532120" cy="3639312"/>
          </a:xfrm>
          <a:prstGeom prst="rect">
            <a:avLst/>
          </a:prstGeom>
        </p:spPr>
      </p:pic>
      <p:graphicFrame>
        <p:nvGraphicFramePr>
          <p:cNvPr id="26" name="Table 25"/>
          <p:cNvGraphicFramePr>
            <a:graphicFrameLocks noGrp="1"/>
          </p:cNvGraphicFramePr>
          <p:nvPr/>
        </p:nvGraphicFramePr>
        <p:xfrm>
          <a:off x="6035040" y="1536192"/>
          <a:ext cx="5897880" cy="2084832"/>
        </p:xfrm>
        <a:graphic>
          <a:graphicData uri="http://schemas.openxmlformats.org/drawingml/2006/table">
            <a:tbl>
              <a:tblPr firstRow="1" bandRow="0">
                <a:tableStyleId>{2D5ABB26-0587-4C30-8999-92F81FD0307C}</a:tableStyleId>
              </a:tblPr>
              <a:tblGrid>
                <a:gridCol w="411480"/>
                <a:gridCol w="2331720"/>
                <a:gridCol w="777240"/>
                <a:gridCol w="777240"/>
                <a:gridCol w="777240"/>
                <a:gridCol w="822960"/>
              </a:tblGrid>
              <a:tr h="329184">
                <a:tc>
                  <a:txBody>
                    <a:bodyPr/>
                    <a:lstStyle/>
                    <a:p>
                      <a:pPr algn="l"/>
                      <a:r>
                        <a:rPr sz="1300" b="1">
                          <a:solidFill>
                            <a:srgbClr val="FFFFFF"/>
                          </a:solidFill>
                          <a:latin typeface="Arial"/>
                        </a:rPr>
                        <a:t>#</a:t>
                      </a:r>
                    </a:p>
                  </a:txBody>
                  <a:tcPr marL="82296" marR="82296" marT="18288" marB="18288" anchor="ctr">
                    <a:solidFill>
                      <a:srgbClr val="095945"/>
                    </a:solidFill>
                  </a:tcPr>
                </a:tc>
                <a:tc>
                  <a:txBody>
                    <a:bodyPr/>
                    <a:lstStyle/>
                    <a:p>
                      <a:pPr algn="l"/>
                      <a:r>
                        <a:rPr sz="1300" b="1">
                          <a:solidFill>
                            <a:srgbClr val="FFFFFF"/>
                          </a:solidFill>
                          <a:latin typeface="Arial"/>
                        </a:rPr>
                        <a:t>Compound</a:t>
                      </a:r>
                    </a:p>
                  </a:txBody>
                  <a:tcPr marL="82296" marR="82296" marT="18288" marB="18288" anchor="ctr">
                    <a:solidFill>
                      <a:srgbClr val="095945"/>
                    </a:solidFill>
                  </a:tcPr>
                </a:tc>
                <a:tc>
                  <a:txBody>
                    <a:bodyPr/>
                    <a:lstStyle/>
                    <a:p>
                      <a:pPr algn="r"/>
                      <a:r>
                        <a:rPr sz="1300" b="1">
                          <a:solidFill>
                            <a:srgbClr val="FFFFFF"/>
                          </a:solidFill>
                          <a:latin typeface="Arial"/>
                        </a:rPr>
                        <a:t>Phase</a:t>
                      </a:r>
                    </a:p>
                  </a:txBody>
                  <a:tcPr marL="82296" marR="82296" marT="18288" marB="18288" anchor="ctr">
                    <a:solidFill>
                      <a:srgbClr val="095945"/>
                    </a:solidFill>
                  </a:tcPr>
                </a:tc>
                <a:tc>
                  <a:txBody>
                    <a:bodyPr/>
                    <a:lstStyle/>
                    <a:p>
                      <a:pPr algn="r"/>
                      <a:r>
                        <a:rPr sz="1300" b="1">
                          <a:solidFill>
                            <a:srgbClr val="FFFFFF"/>
                          </a:solidFill>
                          <a:latin typeface="Arial"/>
                        </a:rPr>
                        <a:t>|NES|</a:t>
                      </a:r>
                    </a:p>
                  </a:txBody>
                  <a:tcPr marL="82296" marR="82296" marT="18288" marB="18288" anchor="ctr">
                    <a:solidFill>
                      <a:srgbClr val="095945"/>
                    </a:solidFill>
                  </a:tcPr>
                </a:tc>
                <a:tc>
                  <a:txBody>
                    <a:bodyPr/>
                    <a:lstStyle/>
                    <a:p>
                      <a:pPr algn="r"/>
                      <a:r>
                        <a:rPr sz="1300" b="1">
                          <a:solidFill>
                            <a:srgbClr val="FFFFFF"/>
                          </a:solidFill>
                          <a:latin typeface="Arial"/>
                        </a:rPr>
                        <a:t>BBB</a:t>
                      </a:r>
                    </a:p>
                  </a:txBody>
                  <a:tcPr marL="82296" marR="82296" marT="18288" marB="18288" anchor="ctr">
                    <a:solidFill>
                      <a:srgbClr val="095945"/>
                    </a:solidFill>
                  </a:tcPr>
                </a:tc>
                <a:tc>
                  <a:txBody>
                    <a:bodyPr/>
                    <a:lstStyle/>
                    <a:p>
                      <a:pPr algn="r"/>
                      <a:r>
                        <a:rPr sz="1300" b="1">
                          <a:solidFill>
                            <a:srgbClr val="FFFFFF"/>
                          </a:solidFill>
                          <a:latin typeface="Arial"/>
                        </a:rPr>
                        <a:t>Score</a:t>
                      </a:r>
                    </a:p>
                  </a:txBody>
                  <a:tcPr marL="82296" marR="82296" marT="18288" marB="18288" anchor="ctr">
                    <a:solidFill>
                      <a:srgbClr val="095945"/>
                    </a:solidFill>
                  </a:tcPr>
                </a:tc>
              </a:tr>
              <a:tr h="292608">
                <a:tc>
                  <a:txBody>
                    <a:bodyPr/>
                    <a:lstStyle/>
                    <a:p>
                      <a:pPr algn="l"/>
                      <a:r>
                        <a:rPr sz="1300" b="0">
                          <a:solidFill>
                            <a:srgbClr val="000000"/>
                          </a:solidFill>
                          <a:latin typeface="Arial"/>
                        </a:rPr>
                        <a:t>1</a:t>
                      </a:r>
                    </a:p>
                  </a:txBody>
                  <a:tcPr marL="82296" marR="82296" marT="18288" marB="18288" anchor="ctr">
                    <a:solidFill>
                      <a:srgbClr val="FFFFFF"/>
                    </a:solidFill>
                  </a:tcPr>
                </a:tc>
                <a:tc>
                  <a:txBody>
                    <a:bodyPr/>
                    <a:lstStyle/>
                    <a:p>
                      <a:pPr algn="l"/>
                      <a:r>
                        <a:rPr sz="1300" b="1">
                          <a:solidFill>
                            <a:srgbClr val="000000"/>
                          </a:solidFill>
                          <a:latin typeface="Arial"/>
                        </a:rPr>
                        <a:t>ciclopirox</a:t>
                      </a:r>
                    </a:p>
                  </a:txBody>
                  <a:tcPr marL="82296" marR="82296" marT="18288" marB="18288" anchor="ctr">
                    <a:solidFill>
                      <a:srgbClr val="FFFFFF"/>
                    </a:solidFill>
                  </a:tcPr>
                </a:tc>
                <a:tc>
                  <a:txBody>
                    <a:bodyPr/>
                    <a:lstStyle/>
                    <a:p>
                      <a:pPr algn="r"/>
                      <a:r>
                        <a:rPr sz="1300" b="0">
                          <a:solidFill>
                            <a:srgbClr val="000000"/>
                          </a:solidFill>
                          <a:latin typeface="Arial"/>
                        </a:rPr>
                        <a:t>4</a:t>
                      </a:r>
                    </a:p>
                  </a:txBody>
                  <a:tcPr marL="82296" marR="82296" marT="18288" marB="18288" anchor="ctr">
                    <a:solidFill>
                      <a:srgbClr val="FFFFFF"/>
                    </a:solidFill>
                  </a:tcPr>
                </a:tc>
                <a:tc>
                  <a:txBody>
                    <a:bodyPr/>
                    <a:lstStyle/>
                    <a:p>
                      <a:pPr algn="r"/>
                      <a:r>
                        <a:rPr sz="1300" b="0">
                          <a:solidFill>
                            <a:srgbClr val="000000"/>
                          </a:solidFill>
                          <a:latin typeface="Arial"/>
                        </a:rPr>
                        <a:t>2.26</a:t>
                      </a:r>
                    </a:p>
                  </a:txBody>
                  <a:tcPr marL="82296" marR="82296" marT="18288" marB="18288" anchor="ctr">
                    <a:solidFill>
                      <a:srgbClr val="FFFFFF"/>
                    </a:solidFill>
                  </a:tcPr>
                </a:tc>
                <a:tc>
                  <a:txBody>
                    <a:bodyPr/>
                    <a:lstStyle/>
                    <a:p>
                      <a:pPr algn="r"/>
                      <a:r>
                        <a:rPr sz="1300" b="0">
                          <a:solidFill>
                            <a:srgbClr val="000000"/>
                          </a:solidFill>
                          <a:latin typeface="Arial"/>
                        </a:rPr>
                        <a:t>0.92</a:t>
                      </a:r>
                    </a:p>
                  </a:txBody>
                  <a:tcPr marL="82296" marR="82296" marT="18288" marB="18288" anchor="ctr">
                    <a:solidFill>
                      <a:srgbClr val="FFFFFF"/>
                    </a:solidFill>
                  </a:tcPr>
                </a:tc>
                <a:tc>
                  <a:txBody>
                    <a:bodyPr/>
                    <a:lstStyle/>
                    <a:p>
                      <a:pPr algn="r"/>
                      <a:r>
                        <a:rPr sz="1300" b="0">
                          <a:solidFill>
                            <a:srgbClr val="000000"/>
                          </a:solidFill>
                          <a:latin typeface="Arial"/>
                        </a:rPr>
                        <a:t>3.14</a:t>
                      </a:r>
                    </a:p>
                  </a:txBody>
                  <a:tcPr marL="82296" marR="82296" marT="18288" marB="18288" anchor="ctr">
                    <a:solidFill>
                      <a:srgbClr val="FFFFFF"/>
                    </a:solidFill>
                  </a:tcPr>
                </a:tc>
              </a:tr>
              <a:tr h="292608">
                <a:tc>
                  <a:txBody>
                    <a:bodyPr/>
                    <a:lstStyle/>
                    <a:p>
                      <a:pPr algn="l"/>
                      <a:r>
                        <a:rPr sz="1300" b="0">
                          <a:solidFill>
                            <a:srgbClr val="000000"/>
                          </a:solidFill>
                          <a:latin typeface="Arial"/>
                        </a:rPr>
                        <a:t>2</a:t>
                      </a:r>
                    </a:p>
                  </a:txBody>
                  <a:tcPr marL="82296" marR="82296" marT="18288" marB="18288" anchor="ctr">
                    <a:solidFill>
                      <a:srgbClr val="E8F0EE"/>
                    </a:solidFill>
                  </a:tcPr>
                </a:tc>
                <a:tc>
                  <a:txBody>
                    <a:bodyPr/>
                    <a:lstStyle/>
                    <a:p>
                      <a:pPr algn="l"/>
                      <a:r>
                        <a:rPr sz="1300" b="0">
                          <a:solidFill>
                            <a:srgbClr val="000000"/>
                          </a:solidFill>
                          <a:latin typeface="Arial"/>
                        </a:rPr>
                        <a:t>pyrantel</a:t>
                      </a:r>
                    </a:p>
                  </a:txBody>
                  <a:tcPr marL="82296" marR="82296" marT="18288" marB="18288" anchor="ctr">
                    <a:solidFill>
                      <a:srgbClr val="E8F0EE"/>
                    </a:solidFill>
                  </a:tcPr>
                </a:tc>
                <a:tc>
                  <a:txBody>
                    <a:bodyPr/>
                    <a:lstStyle/>
                    <a:p>
                      <a:pPr algn="r"/>
                      <a:r>
                        <a:rPr sz="1300" b="0">
                          <a:solidFill>
                            <a:srgbClr val="000000"/>
                          </a:solidFill>
                          <a:latin typeface="Arial"/>
                        </a:rPr>
                        <a:t>2</a:t>
                      </a:r>
                    </a:p>
                  </a:txBody>
                  <a:tcPr marL="82296" marR="82296" marT="18288" marB="18288" anchor="ctr">
                    <a:solidFill>
                      <a:srgbClr val="E8F0EE"/>
                    </a:solidFill>
                  </a:tcPr>
                </a:tc>
                <a:tc>
                  <a:txBody>
                    <a:bodyPr/>
                    <a:lstStyle/>
                    <a:p>
                      <a:pPr algn="r"/>
                      <a:r>
                        <a:rPr sz="1300" b="0">
                          <a:solidFill>
                            <a:srgbClr val="000000"/>
                          </a:solidFill>
                          <a:latin typeface="Arial"/>
                        </a:rPr>
                        <a:t>1.79</a:t>
                      </a:r>
                    </a:p>
                  </a:txBody>
                  <a:tcPr marL="82296" marR="82296" marT="18288" marB="18288" anchor="ctr">
                    <a:solidFill>
                      <a:srgbClr val="E8F0EE"/>
                    </a:solidFill>
                  </a:tcPr>
                </a:tc>
                <a:tc>
                  <a:txBody>
                    <a:bodyPr/>
                    <a:lstStyle/>
                    <a:p>
                      <a:pPr algn="r"/>
                      <a:r>
                        <a:rPr sz="1300" b="0">
                          <a:solidFill>
                            <a:srgbClr val="000000"/>
                          </a:solidFill>
                          <a:latin typeface="Arial"/>
                        </a:rPr>
                        <a:t>0.98</a:t>
                      </a:r>
                    </a:p>
                  </a:txBody>
                  <a:tcPr marL="82296" marR="82296" marT="18288" marB="18288" anchor="ctr">
                    <a:solidFill>
                      <a:srgbClr val="E8F0EE"/>
                    </a:solidFill>
                  </a:tcPr>
                </a:tc>
                <a:tc>
                  <a:txBody>
                    <a:bodyPr/>
                    <a:lstStyle/>
                    <a:p>
                      <a:pPr algn="r"/>
                      <a:r>
                        <a:rPr sz="1300" b="0">
                          <a:solidFill>
                            <a:srgbClr val="000000"/>
                          </a:solidFill>
                          <a:latin typeface="Arial"/>
                        </a:rPr>
                        <a:t>2.34</a:t>
                      </a:r>
                    </a:p>
                  </a:txBody>
                  <a:tcPr marL="82296" marR="82296" marT="18288" marB="18288" anchor="ctr">
                    <a:solidFill>
                      <a:srgbClr val="E8F0EE"/>
                    </a:solidFill>
                  </a:tcPr>
                </a:tc>
              </a:tr>
              <a:tr h="292608">
                <a:tc>
                  <a:txBody>
                    <a:bodyPr/>
                    <a:lstStyle/>
                    <a:p>
                      <a:pPr algn="l"/>
                      <a:r>
                        <a:rPr sz="1300" b="0">
                          <a:solidFill>
                            <a:srgbClr val="000000"/>
                          </a:solidFill>
                          <a:latin typeface="Arial"/>
                        </a:rPr>
                        <a:t>3</a:t>
                      </a:r>
                    </a:p>
                  </a:txBody>
                  <a:tcPr marL="82296" marR="82296" marT="18288" marB="18288" anchor="ctr">
                    <a:solidFill>
                      <a:srgbClr val="FFFFFF"/>
                    </a:solidFill>
                  </a:tcPr>
                </a:tc>
                <a:tc>
                  <a:txBody>
                    <a:bodyPr/>
                    <a:lstStyle/>
                    <a:p>
                      <a:pPr algn="l"/>
                      <a:r>
                        <a:rPr sz="1300" b="0">
                          <a:solidFill>
                            <a:srgbClr val="000000"/>
                          </a:solidFill>
                          <a:latin typeface="Arial"/>
                        </a:rPr>
                        <a:t>ifosfamide</a:t>
                      </a:r>
                    </a:p>
                  </a:txBody>
                  <a:tcPr marL="82296" marR="82296" marT="18288" marB="18288" anchor="ctr">
                    <a:solidFill>
                      <a:srgbClr val="FFFFFF"/>
                    </a:solidFill>
                  </a:tcPr>
                </a:tc>
                <a:tc>
                  <a:txBody>
                    <a:bodyPr/>
                    <a:lstStyle/>
                    <a:p>
                      <a:pPr algn="r"/>
                      <a:r>
                        <a:rPr sz="1300" b="0">
                          <a:solidFill>
                            <a:srgbClr val="000000"/>
                          </a:solidFill>
                          <a:latin typeface="Arial"/>
                        </a:rPr>
                        <a:t>4</a:t>
                      </a:r>
                    </a:p>
                  </a:txBody>
                  <a:tcPr marL="82296" marR="82296" marT="18288" marB="18288" anchor="ctr">
                    <a:solidFill>
                      <a:srgbClr val="FFFFFF"/>
                    </a:solidFill>
                  </a:tcPr>
                </a:tc>
                <a:tc>
                  <a:txBody>
                    <a:bodyPr/>
                    <a:lstStyle/>
                    <a:p>
                      <a:pPr algn="r"/>
                      <a:r>
                        <a:rPr sz="1300" b="0">
                          <a:solidFill>
                            <a:srgbClr val="000000"/>
                          </a:solidFill>
                          <a:latin typeface="Arial"/>
                        </a:rPr>
                        <a:t>1.73</a:t>
                      </a:r>
                    </a:p>
                  </a:txBody>
                  <a:tcPr marL="82296" marR="82296" marT="18288" marB="18288" anchor="ctr">
                    <a:solidFill>
                      <a:srgbClr val="FFFFFF"/>
                    </a:solidFill>
                  </a:tcPr>
                </a:tc>
                <a:tc>
                  <a:txBody>
                    <a:bodyPr/>
                    <a:lstStyle/>
                    <a:p>
                      <a:pPr algn="r"/>
                      <a:r>
                        <a:rPr sz="1300" b="0">
                          <a:solidFill>
                            <a:srgbClr val="000000"/>
                          </a:solidFill>
                          <a:latin typeface="Arial"/>
                        </a:rPr>
                        <a:t>0.98</a:t>
                      </a:r>
                    </a:p>
                  </a:txBody>
                  <a:tcPr marL="82296" marR="82296" marT="18288" marB="18288" anchor="ctr">
                    <a:solidFill>
                      <a:srgbClr val="FFFFFF"/>
                    </a:solidFill>
                  </a:tcPr>
                </a:tc>
                <a:tc>
                  <a:txBody>
                    <a:bodyPr/>
                    <a:lstStyle/>
                    <a:p>
                      <a:pPr algn="r"/>
                      <a:r>
                        <a:rPr sz="1300" b="0">
                          <a:solidFill>
                            <a:srgbClr val="000000"/>
                          </a:solidFill>
                          <a:latin typeface="Arial"/>
                        </a:rPr>
                        <a:t>2.23</a:t>
                      </a:r>
                    </a:p>
                  </a:txBody>
                  <a:tcPr marL="82296" marR="82296" marT="18288" marB="18288" anchor="ctr">
                    <a:solidFill>
                      <a:srgbClr val="FFFFFF"/>
                    </a:solidFill>
                  </a:tcPr>
                </a:tc>
              </a:tr>
              <a:tr h="292608">
                <a:tc>
                  <a:txBody>
                    <a:bodyPr/>
                    <a:lstStyle/>
                    <a:p>
                      <a:pPr algn="l"/>
                      <a:r>
                        <a:rPr sz="1300" b="0">
                          <a:solidFill>
                            <a:srgbClr val="000000"/>
                          </a:solidFill>
                          <a:latin typeface="Arial"/>
                        </a:rPr>
                        <a:t>4</a:t>
                      </a:r>
                    </a:p>
                  </a:txBody>
                  <a:tcPr marL="82296" marR="82296" marT="18288" marB="18288" anchor="ctr">
                    <a:solidFill>
                      <a:srgbClr val="E8F0EE"/>
                    </a:solidFill>
                  </a:tcPr>
                </a:tc>
                <a:tc>
                  <a:txBody>
                    <a:bodyPr/>
                    <a:lstStyle/>
                    <a:p>
                      <a:pPr algn="l"/>
                      <a:r>
                        <a:rPr sz="1300" b="0">
                          <a:solidFill>
                            <a:srgbClr val="000000"/>
                          </a:solidFill>
                          <a:latin typeface="Arial"/>
                        </a:rPr>
                        <a:t>diazepam</a:t>
                      </a:r>
                    </a:p>
                  </a:txBody>
                  <a:tcPr marL="82296" marR="82296" marT="18288" marB="18288" anchor="ctr">
                    <a:solidFill>
                      <a:srgbClr val="E8F0EE"/>
                    </a:solidFill>
                  </a:tcPr>
                </a:tc>
                <a:tc>
                  <a:txBody>
                    <a:bodyPr/>
                    <a:lstStyle/>
                    <a:p>
                      <a:pPr algn="r"/>
                      <a:r>
                        <a:rPr sz="1300" b="0">
                          <a:solidFill>
                            <a:srgbClr val="000000"/>
                          </a:solidFill>
                          <a:latin typeface="Arial"/>
                        </a:rPr>
                        <a:t>4</a:t>
                      </a:r>
                    </a:p>
                  </a:txBody>
                  <a:tcPr marL="82296" marR="82296" marT="18288" marB="18288" anchor="ctr">
                    <a:solidFill>
                      <a:srgbClr val="E8F0EE"/>
                    </a:solidFill>
                  </a:tcPr>
                </a:tc>
                <a:tc>
                  <a:txBody>
                    <a:bodyPr/>
                    <a:lstStyle/>
                    <a:p>
                      <a:pPr algn="r"/>
                      <a:r>
                        <a:rPr sz="1300" b="0">
                          <a:solidFill>
                            <a:srgbClr val="000000"/>
                          </a:solidFill>
                          <a:latin typeface="Arial"/>
                        </a:rPr>
                        <a:t>1.65</a:t>
                      </a:r>
                    </a:p>
                  </a:txBody>
                  <a:tcPr marL="82296" marR="82296" marT="18288" marB="18288" anchor="ctr">
                    <a:solidFill>
                      <a:srgbClr val="E8F0EE"/>
                    </a:solidFill>
                  </a:tcPr>
                </a:tc>
                <a:tc>
                  <a:txBody>
                    <a:bodyPr/>
                    <a:lstStyle/>
                    <a:p>
                      <a:pPr algn="r"/>
                      <a:r>
                        <a:rPr sz="1300" b="0">
                          <a:solidFill>
                            <a:srgbClr val="000000"/>
                          </a:solidFill>
                          <a:latin typeface="Arial"/>
                        </a:rPr>
                        <a:t>0.98</a:t>
                      </a:r>
                    </a:p>
                  </a:txBody>
                  <a:tcPr marL="82296" marR="82296" marT="18288" marB="18288" anchor="ctr">
                    <a:solidFill>
                      <a:srgbClr val="E8F0EE"/>
                    </a:solidFill>
                  </a:tcPr>
                </a:tc>
                <a:tc>
                  <a:txBody>
                    <a:bodyPr/>
                    <a:lstStyle/>
                    <a:p>
                      <a:pPr algn="r"/>
                      <a:r>
                        <a:rPr sz="1300" b="0">
                          <a:solidFill>
                            <a:srgbClr val="000000"/>
                          </a:solidFill>
                          <a:latin typeface="Arial"/>
                        </a:rPr>
                        <a:t>2.08</a:t>
                      </a:r>
                    </a:p>
                  </a:txBody>
                  <a:tcPr marL="82296" marR="82296" marT="18288" marB="18288" anchor="ctr">
                    <a:solidFill>
                      <a:srgbClr val="E8F0EE"/>
                    </a:solidFill>
                  </a:tcPr>
                </a:tc>
              </a:tr>
              <a:tr h="292608">
                <a:tc>
                  <a:txBody>
                    <a:bodyPr/>
                    <a:lstStyle/>
                    <a:p>
                      <a:pPr algn="l"/>
                      <a:r>
                        <a:rPr sz="1300" b="0">
                          <a:solidFill>
                            <a:srgbClr val="000000"/>
                          </a:solidFill>
                          <a:latin typeface="Arial"/>
                        </a:rPr>
                        <a:t>5</a:t>
                      </a:r>
                    </a:p>
                  </a:txBody>
                  <a:tcPr marL="82296" marR="82296" marT="18288" marB="18288" anchor="ctr">
                    <a:solidFill>
                      <a:srgbClr val="FFFFFF"/>
                    </a:solidFill>
                  </a:tcPr>
                </a:tc>
                <a:tc>
                  <a:txBody>
                    <a:bodyPr/>
                    <a:lstStyle/>
                    <a:p>
                      <a:pPr algn="l"/>
                      <a:r>
                        <a:rPr sz="1300" b="0">
                          <a:solidFill>
                            <a:srgbClr val="000000"/>
                          </a:solidFill>
                          <a:latin typeface="Arial"/>
                        </a:rPr>
                        <a:t>dexverapamil</a:t>
                      </a:r>
                    </a:p>
                  </a:txBody>
                  <a:tcPr marL="82296" marR="82296" marT="18288" marB="18288" anchor="ctr">
                    <a:solidFill>
                      <a:srgbClr val="FFFFFF"/>
                    </a:solidFill>
                  </a:tcPr>
                </a:tc>
                <a:tc>
                  <a:txBody>
                    <a:bodyPr/>
                    <a:lstStyle/>
                    <a:p>
                      <a:pPr algn="r"/>
                      <a:r>
                        <a:rPr sz="1300" b="0">
                          <a:solidFill>
                            <a:srgbClr val="000000"/>
                          </a:solidFill>
                          <a:latin typeface="Arial"/>
                        </a:rPr>
                        <a:t>2</a:t>
                      </a:r>
                    </a:p>
                  </a:txBody>
                  <a:tcPr marL="82296" marR="82296" marT="18288" marB="18288" anchor="ctr">
                    <a:solidFill>
                      <a:srgbClr val="FFFFFF"/>
                    </a:solidFill>
                  </a:tcPr>
                </a:tc>
                <a:tc>
                  <a:txBody>
                    <a:bodyPr/>
                    <a:lstStyle/>
                    <a:p>
                      <a:pPr algn="r"/>
                      <a:r>
                        <a:rPr sz="1300" b="0">
                          <a:solidFill>
                            <a:srgbClr val="000000"/>
                          </a:solidFill>
                          <a:latin typeface="Arial"/>
                        </a:rPr>
                        <a:t>1.78</a:t>
                      </a:r>
                    </a:p>
                  </a:txBody>
                  <a:tcPr marL="82296" marR="82296" marT="18288" marB="18288" anchor="ctr">
                    <a:solidFill>
                      <a:srgbClr val="FFFFFF"/>
                    </a:solidFill>
                  </a:tcPr>
                </a:tc>
                <a:tc>
                  <a:txBody>
                    <a:bodyPr/>
                    <a:lstStyle/>
                    <a:p>
                      <a:pPr algn="r"/>
                      <a:r>
                        <a:rPr sz="1300" b="0">
                          <a:solidFill>
                            <a:srgbClr val="000000"/>
                          </a:solidFill>
                          <a:latin typeface="Arial"/>
                        </a:rPr>
                        <a:t>0.87</a:t>
                      </a:r>
                    </a:p>
                  </a:txBody>
                  <a:tcPr marL="82296" marR="82296" marT="18288" marB="18288" anchor="ctr">
                    <a:solidFill>
                      <a:srgbClr val="FFFFFF"/>
                    </a:solidFill>
                  </a:tcPr>
                </a:tc>
                <a:tc>
                  <a:txBody>
                    <a:bodyPr/>
                    <a:lstStyle/>
                    <a:p>
                      <a:pPr algn="r"/>
                      <a:r>
                        <a:rPr sz="1300" b="0">
                          <a:solidFill>
                            <a:srgbClr val="000000"/>
                          </a:solidFill>
                          <a:latin typeface="Arial"/>
                        </a:rPr>
                        <a:t>2.07</a:t>
                      </a:r>
                    </a:p>
                  </a:txBody>
                  <a:tcPr marL="82296" marR="82296" marT="18288" marB="18288" anchor="ctr">
                    <a:solidFill>
                      <a:srgbClr val="FFFFFF"/>
                    </a:solidFill>
                  </a:tcPr>
                </a:tc>
              </a:tr>
              <a:tr h="292608">
                <a:tc>
                  <a:txBody>
                    <a:bodyPr/>
                    <a:lstStyle/>
                    <a:p>
                      <a:pPr algn="l"/>
                      <a:r>
                        <a:rPr sz="1300" b="0">
                          <a:solidFill>
                            <a:srgbClr val="000000"/>
                          </a:solidFill>
                          <a:latin typeface="Arial"/>
                        </a:rPr>
                        <a:t>6</a:t>
                      </a:r>
                    </a:p>
                  </a:txBody>
                  <a:tcPr marL="82296" marR="82296" marT="18288" marB="18288" anchor="ctr">
                    <a:solidFill>
                      <a:srgbClr val="E8F0EE"/>
                    </a:solidFill>
                  </a:tcPr>
                </a:tc>
                <a:tc>
                  <a:txBody>
                    <a:bodyPr/>
                    <a:lstStyle/>
                    <a:p>
                      <a:pPr algn="l"/>
                      <a:r>
                        <a:rPr sz="1300" b="0">
                          <a:solidFill>
                            <a:srgbClr val="000000"/>
                          </a:solidFill>
                          <a:latin typeface="Arial"/>
                        </a:rPr>
                        <a:t>malathion</a:t>
                      </a:r>
                    </a:p>
                  </a:txBody>
                  <a:tcPr marL="82296" marR="82296" marT="18288" marB="18288" anchor="ctr">
                    <a:solidFill>
                      <a:srgbClr val="E8F0EE"/>
                    </a:solidFill>
                  </a:tcPr>
                </a:tc>
                <a:tc>
                  <a:txBody>
                    <a:bodyPr/>
                    <a:lstStyle/>
                    <a:p>
                      <a:pPr algn="r"/>
                      <a:r>
                        <a:rPr sz="1300" b="0">
                          <a:solidFill>
                            <a:srgbClr val="000000"/>
                          </a:solidFill>
                          <a:latin typeface="Arial"/>
                        </a:rPr>
                        <a:t>4</a:t>
                      </a:r>
                    </a:p>
                  </a:txBody>
                  <a:tcPr marL="82296" marR="82296" marT="18288" marB="18288" anchor="ctr">
                    <a:solidFill>
                      <a:srgbClr val="E8F0EE"/>
                    </a:solidFill>
                  </a:tcPr>
                </a:tc>
                <a:tc>
                  <a:txBody>
                    <a:bodyPr/>
                    <a:lstStyle/>
                    <a:p>
                      <a:pPr algn="r"/>
                      <a:r>
                        <a:rPr sz="1300" b="0">
                          <a:solidFill>
                            <a:srgbClr val="000000"/>
                          </a:solidFill>
                          <a:latin typeface="Arial"/>
                        </a:rPr>
                        <a:t>1.66</a:t>
                      </a:r>
                    </a:p>
                  </a:txBody>
                  <a:tcPr marL="82296" marR="82296" marT="18288" marB="18288" anchor="ctr">
                    <a:solidFill>
                      <a:srgbClr val="E8F0EE"/>
                    </a:solidFill>
                  </a:tcPr>
                </a:tc>
                <a:tc>
                  <a:txBody>
                    <a:bodyPr/>
                    <a:lstStyle/>
                    <a:p>
                      <a:pPr algn="r"/>
                      <a:r>
                        <a:rPr sz="1300" b="0">
                          <a:solidFill>
                            <a:srgbClr val="000000"/>
                          </a:solidFill>
                          <a:latin typeface="Arial"/>
                        </a:rPr>
                        <a:t>0.96</a:t>
                      </a:r>
                    </a:p>
                  </a:txBody>
                  <a:tcPr marL="82296" marR="82296" marT="18288" marB="18288" anchor="ctr">
                    <a:solidFill>
                      <a:srgbClr val="E8F0EE"/>
                    </a:solidFill>
                  </a:tcPr>
                </a:tc>
                <a:tc>
                  <a:txBody>
                    <a:bodyPr/>
                    <a:lstStyle/>
                    <a:p>
                      <a:pPr algn="r"/>
                      <a:r>
                        <a:rPr sz="1300" b="0">
                          <a:solidFill>
                            <a:srgbClr val="000000"/>
                          </a:solidFill>
                          <a:latin typeface="Arial"/>
                        </a:rPr>
                        <a:t>2.05</a:t>
                      </a:r>
                    </a:p>
                  </a:txBody>
                  <a:tcPr marL="82296" marR="82296" marT="18288" marB="18288" anchor="ctr">
                    <a:solidFill>
                      <a:srgbClr val="E8F0EE"/>
                    </a:solidFill>
                  </a:tcPr>
                </a:tc>
              </a:tr>
            </a:tbl>
          </a:graphicData>
        </a:graphic>
      </p:graphicFrame>
      <p:sp>
        <p:nvSpPr>
          <p:cNvPr id="27" name="TextBox 26"/>
          <p:cNvSpPr txBox="1"/>
          <p:nvPr/>
        </p:nvSpPr>
        <p:spPr>
          <a:xfrm>
            <a:off x="6035040" y="3703320"/>
            <a:ext cx="5897880" cy="2194560"/>
          </a:xfrm>
          <a:prstGeom prst="rect">
            <a:avLst/>
          </a:prstGeom>
          <a:noFill/>
        </p:spPr>
        <p:txBody>
          <a:bodyPr wrap="square" anchor="t" lIns="0" rIns="0" tIns="0" bIns="0">
            <a:spAutoFit/>
          </a:bodyPr>
          <a:lstStyle/>
          <a:p>
            <a:pPr algn="l">
              <a:spcBef>
                <a:spcPts val="0"/>
              </a:spcBef>
              <a:spcAft>
                <a:spcPts val="1400"/>
              </a:spcAft>
            </a:pPr>
            <a:r>
              <a:rPr sz="1600" b="0" i="0">
                <a:solidFill>
                  <a:srgbClr val="000000"/>
                </a:solidFill>
                <a:latin typeface="Arial"/>
              </a:rPr>
              <a:t>Only </a:t>
            </a:r>
            <a:r>
              <a:rPr sz="1600" b="1" i="0">
                <a:solidFill>
                  <a:srgbClr val="000000"/>
                </a:solidFill>
                <a:latin typeface="Arial"/>
              </a:rPr>
              <a:t>54 of 93</a:t>
            </a:r>
            <a:r>
              <a:rPr sz="1600" b="0" i="0">
                <a:solidFill>
                  <a:srgbClr val="000000"/>
                </a:solidFill>
                <a:latin typeface="Arial"/>
              </a:rPr>
              <a:t> DSigDB hits carry a clinical phase — the rest include phosphine, tributyltin and a flame retardant.</a:t>
            </a:r>
          </a:p>
          <a:p>
            <a:pPr algn="l">
              <a:spcBef>
                <a:spcPts val="0"/>
              </a:spcBef>
              <a:spcAft>
                <a:spcPts val="1400"/>
              </a:spcAft>
            </a:pPr>
            <a:r>
              <a:rPr sz="1600" b="1" i="0">
                <a:solidFill>
                  <a:srgbClr val="000000"/>
                </a:solidFill>
                <a:latin typeface="Arial"/>
              </a:rPr>
              <a:t>Ciclopirox</a:t>
            </a:r>
            <a:r>
              <a:rPr sz="1600" b="0" i="0">
                <a:solidFill>
                  <a:srgbClr val="000000"/>
                </a:solidFill>
                <a:latin typeface="Arial"/>
              </a:rPr>
              <a:t> ranks first with or without the permeability weight, is approved, has </a:t>
            </a:r>
            <a:r>
              <a:rPr sz="1600" b="1" i="0">
                <a:solidFill>
                  <a:srgbClr val="000000"/>
                </a:solidFill>
                <a:latin typeface="Arial"/>
              </a:rPr>
              <a:t>completed phase 1 in cancer patients</a:t>
            </a:r>
            <a:r>
              <a:rPr sz="1600" b="0" i="0">
                <a:solidFill>
                  <a:srgbClr val="000000"/>
                </a:solidFill>
                <a:latin typeface="Arial"/>
              </a:rPr>
              <a:t>, and both BBB models agree.</a:t>
            </a:r>
          </a:p>
          <a:p>
            <a:pPr algn="l">
              <a:spcBef>
                <a:spcPts val="0"/>
              </a:spcBef>
              <a:spcAft>
                <a:spcPts val="0"/>
              </a:spcAft>
            </a:pPr>
            <a:r>
              <a:rPr sz="1600" b="1" i="0">
                <a:solidFill>
                  <a:srgbClr val="095945"/>
                </a:solidFill>
                <a:latin typeface="Arial"/>
              </a:rPr>
              <a:t>Prior art was audited for every hit.</a:t>
            </a:r>
            <a:r>
              <a:rPr sz="1600" b="0" i="0">
                <a:solidFill>
                  <a:srgbClr val="095945"/>
                </a:solidFill>
                <a:latin typeface="Arial"/>
              </a:rPr>
              <a:t> Seven have no glioma literature; pentetrazol induces seizures. Amiodarone and diazepam carry published evidence of harm.</a:t>
            </a:r>
          </a:p>
        </p:txBody>
      </p:sp>
      <p:sp>
        <p:nvSpPr>
          <p:cNvPr id="28" name="TextBox 27"/>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b="0" i="0">
                <a:solidFill>
                  <a:srgbClr val="595959"/>
                </a:solidFill>
                <a:latin typeface="Arial"/>
              </a:rPr>
              <a:t>11. Swanson K, et al. Bioinformatics 2024;40:btae416.   12. Daina A, Zoete V. ChemMedChem 2016;11:1117–1121.   13. Boursi B, et al. Pharmacoepidemiol Drug Saf 2016;25:1179–1185.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11658600" cy="3657600"/>
          </a:xfrm>
          <a:prstGeom prst="rect">
            <a:avLst/>
          </a:prstGeom>
          <a:noFill/>
        </p:spPr>
        <p:txBody>
          <a:bodyPr wrap="square" anchor="t" lIns="0" rIns="0" tIns="0" bIns="0">
            <a:spAutoFit/>
          </a:bodyPr>
          <a:lstStyle/>
          <a:p>
            <a:pPr algn="l">
              <a:spcBef>
                <a:spcPts val="0"/>
              </a:spcBef>
              <a:spcAft>
                <a:spcPts val="1600"/>
              </a:spcAft>
            </a:pPr>
            <a:r>
              <a:rPr sz="1800" b="0" i="0">
                <a:solidFill>
                  <a:srgbClr val="000000"/>
                </a:solidFill>
                <a:latin typeface="Arial"/>
              </a:rPr>
              <a:t>Post-LITT recurrence carries a </a:t>
            </a:r>
            <a:r>
              <a:rPr sz="1800" b="1" i="0">
                <a:solidFill>
                  <a:srgbClr val="000000"/>
                </a:solidFill>
                <a:latin typeface="Arial"/>
              </a:rPr>
              <a:t>coordinated shutdown of biosynthesis</a:t>
            </a:r>
            <a:r>
              <a:rPr sz="1800" b="0" i="0">
                <a:solidFill>
                  <a:srgbClr val="000000"/>
                </a:solidFill>
                <a:latin typeface="Arial"/>
              </a:rPr>
              <a:t> — translation initiation, elongation, the ribosome and the GCN2 stress arm, with ribosome biogenesis, mTORC1 and MYC output falling alongside them.</a:t>
            </a:r>
          </a:p>
          <a:p>
            <a:pPr algn="l">
              <a:spcBef>
                <a:spcPts val="0"/>
              </a:spcBef>
              <a:spcAft>
                <a:spcPts val="1600"/>
              </a:spcAft>
            </a:pPr>
            <a:r>
              <a:rPr sz="1800" b="0" i="0">
                <a:solidFill>
                  <a:srgbClr val="000000"/>
                </a:solidFill>
                <a:latin typeface="Arial"/>
              </a:rPr>
              <a:t>It extends to </a:t>
            </a:r>
            <a:r>
              <a:rPr sz="1800" b="1" i="0">
                <a:solidFill>
                  <a:srgbClr val="000000"/>
                </a:solidFill>
                <a:latin typeface="Arial"/>
              </a:rPr>
              <a:t>energy metabolism on both arms</a:t>
            </a:r>
            <a:r>
              <a:rPr sz="1800" b="0" i="0">
                <a:solidFill>
                  <a:srgbClr val="000000"/>
                </a:solidFill>
                <a:latin typeface="Arial"/>
              </a:rPr>
              <a:t> — glycolysis and OXPHOS, and mitochondrial translation — while the TCA cycle is untouched.</a:t>
            </a:r>
          </a:p>
          <a:p>
            <a:pPr algn="l">
              <a:spcBef>
                <a:spcPts val="0"/>
              </a:spcBef>
              <a:spcAft>
                <a:spcPts val="1600"/>
              </a:spcAft>
            </a:pPr>
            <a:r>
              <a:rPr sz="1800" b="1" i="0">
                <a:solidFill>
                  <a:srgbClr val="000000"/>
                </a:solidFill>
                <a:latin typeface="Arial"/>
              </a:rPr>
              <a:t>Hypoxic signalling collapses</a:t>
            </a:r>
            <a:r>
              <a:rPr sz="1800" b="0" i="0">
                <a:solidFill>
                  <a:srgbClr val="000000"/>
                </a:solidFill>
                <a:latin typeface="Arial"/>
              </a:rPr>
              <a:t> (HIF targets, hypoxia metagene both −1.79). Ablation removes the hypoxic core; what regrows is better perfused.</a:t>
            </a:r>
          </a:p>
          <a:p>
            <a:pPr algn="l">
              <a:spcBef>
                <a:spcPts val="0"/>
              </a:spcBef>
              <a:spcAft>
                <a:spcPts val="0"/>
              </a:spcAft>
            </a:pPr>
            <a:r>
              <a:rPr sz="1800" b="0" i="0">
                <a:solidFill>
                  <a:srgbClr val="000000"/>
                </a:solidFill>
                <a:latin typeface="Arial"/>
              </a:rPr>
              <a:t>Of the ten published subtype signatures, only </a:t>
            </a:r>
            <a:r>
              <a:rPr sz="1800" b="1" i="0">
                <a:solidFill>
                  <a:srgbClr val="000000"/>
                </a:solidFill>
                <a:latin typeface="Arial"/>
              </a:rPr>
              <a:t>loss of the astrocyte-like state</a:t>
            </a:r>
            <a:r>
              <a:rPr sz="1800" b="0" i="0">
                <a:solidFill>
                  <a:srgbClr val="000000"/>
                </a:solidFill>
                <a:latin typeface="Arial"/>
              </a:rPr>
              <a:t> reaches significance. </a:t>
            </a:r>
            <a:r>
              <a:rPr sz="1800" b="1" i="0">
                <a:solidFill>
                  <a:srgbClr val="000000"/>
                </a:solidFill>
                <a:latin typeface="Arial"/>
              </a:rPr>
              <a:t>Ciclopirox</a:t>
            </a:r>
            <a:r>
              <a:rPr sz="1800" b="0" i="0">
                <a:solidFill>
                  <a:srgbClr val="000000"/>
                </a:solidFill>
                <a:latin typeface="Arial"/>
              </a:rPr>
              <a:t> survives every filter — approved, phase 1 complete in cancer, and independently nominated by another group's screen.</a:t>
            </a:r>
          </a:p>
        </p:txBody>
      </p:sp>
      <p:sp>
        <p:nvSpPr>
          <p:cNvPr id="26" name="Rounded Rectangle 25"/>
          <p:cNvSpPr/>
          <p:nvPr/>
        </p:nvSpPr>
        <p:spPr>
          <a:xfrm>
            <a:off x="256032" y="4846320"/>
            <a:ext cx="11658600" cy="9144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This is the phenotype you would predict of a thermally stressed, reperfused margin — recovering it from an unbiased transcriptome is a positive control, and it is why the drug output of the same pipeline is worth acting 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1400"/>
              </a:spcAft>
            </a:pPr>
            <a:r>
              <a:rPr sz="1800" b="1" i="0">
                <a:solidFill>
                  <a:srgbClr val="095945"/>
                </a:solidFill>
                <a:latin typeface="Arial"/>
              </a:rPr>
              <a:t>Limitations</a:t>
            </a:r>
          </a:p>
          <a:p>
            <a:pPr algn="l">
              <a:spcBef>
                <a:spcPts val="0"/>
              </a:spcBef>
              <a:spcAft>
                <a:spcPts val="1200"/>
              </a:spcAft>
            </a:pPr>
            <a:r>
              <a:rPr sz="1600" b="0" i="0">
                <a:solidFill>
                  <a:srgbClr val="000000"/>
                </a:solidFill>
                <a:latin typeface="Arial"/>
              </a:rPr>
              <a:t>n = 3 per arm. Gene-set results are best read as directional, which is why nominal p is reported alongside FDR q.</a:t>
            </a:r>
          </a:p>
          <a:p>
            <a:pPr algn="l">
              <a:spcBef>
                <a:spcPts val="0"/>
              </a:spcBef>
              <a:spcAft>
                <a:spcPts val="1200"/>
              </a:spcAft>
            </a:pPr>
            <a:r>
              <a:rPr sz="1600" b="0" i="0">
                <a:solidFill>
                  <a:srgbClr val="000000"/>
                </a:solidFill>
                <a:latin typeface="Arial"/>
              </a:rPr>
              <a:t>A single cell line (U251N) in a single xenograft model — no patient tissue and no immune compartment.</a:t>
            </a:r>
          </a:p>
          <a:p>
            <a:pPr algn="l">
              <a:spcBef>
                <a:spcPts val="0"/>
              </a:spcBef>
              <a:spcAft>
                <a:spcPts val="1200"/>
              </a:spcAft>
            </a:pPr>
            <a:r>
              <a:rPr sz="1600" b="0" i="0">
                <a:solidFill>
                  <a:srgbClr val="000000"/>
                </a:solidFill>
                <a:latin typeface="Arial"/>
              </a:rPr>
              <a:t>Bulk RNA-seq averages the ablation margin with whatever else was harvested; the persister state is inferred, not isolated.</a:t>
            </a:r>
          </a:p>
          <a:p>
            <a:pPr algn="l">
              <a:spcBef>
                <a:spcPts val="0"/>
              </a:spcBef>
              <a:spcAft>
                <a:spcPts val="0"/>
              </a:spcAft>
            </a:pPr>
            <a:r>
              <a:rPr sz="1600" b="0" i="0">
                <a:solidFill>
                  <a:srgbClr val="000000"/>
                </a:solidFill>
                <a:latin typeface="Arial"/>
              </a:rPr>
              <a:t>Every drug candidate is a computational prediction. None has been tested in this model.</a:t>
            </a:r>
          </a:p>
        </p:txBody>
      </p:sp>
      <p:sp>
        <p:nvSpPr>
          <p:cNvPr id="26" name="TextBox 25"/>
          <p:cNvSpPr txBox="1"/>
          <p:nvPr/>
        </p:nvSpPr>
        <p:spPr>
          <a:xfrm>
            <a:off x="6172200" y="1371600"/>
            <a:ext cx="5349240" cy="4297680"/>
          </a:xfrm>
          <a:prstGeom prst="rect">
            <a:avLst/>
          </a:prstGeom>
          <a:noFill/>
        </p:spPr>
        <p:txBody>
          <a:bodyPr wrap="square" anchor="t" lIns="0" rIns="0" tIns="0" bIns="0">
            <a:spAutoFit/>
          </a:bodyPr>
          <a:lstStyle/>
          <a:p>
            <a:pPr algn="l">
              <a:spcBef>
                <a:spcPts val="0"/>
              </a:spcBef>
              <a:spcAft>
                <a:spcPts val="1400"/>
              </a:spcAft>
            </a:pPr>
            <a:r>
              <a:rPr sz="1800" b="1" i="0">
                <a:solidFill>
                  <a:srgbClr val="095945"/>
                </a:solidFill>
                <a:latin typeface="Arial"/>
              </a:rPr>
              <a:t>Next steps</a:t>
            </a:r>
          </a:p>
          <a:p>
            <a:pPr algn="l">
              <a:spcBef>
                <a:spcPts val="0"/>
              </a:spcBef>
              <a:spcAft>
                <a:spcPts val="1200"/>
              </a:spcAft>
            </a:pPr>
            <a:r>
              <a:rPr sz="1600" b="0" i="0">
                <a:solidFill>
                  <a:srgbClr val="000000"/>
                </a:solidFill>
                <a:latin typeface="Arial"/>
              </a:rPr>
              <a:t>Spatial or single-cell profiling of the sublethal margin, to test whether the persister state sits where we think it does.</a:t>
            </a:r>
          </a:p>
          <a:p>
            <a:pPr algn="l">
              <a:spcBef>
                <a:spcPts val="0"/>
              </a:spcBef>
              <a:spcAft>
                <a:spcPts val="1200"/>
              </a:spcAft>
            </a:pPr>
            <a:r>
              <a:rPr sz="1600" b="0" i="0">
                <a:solidFill>
                  <a:srgbClr val="000000"/>
                </a:solidFill>
                <a:latin typeface="Arial"/>
              </a:rPr>
              <a:t>Puromycin incorporation and polysome profiling, to confirm that translation is genuinely suppressed and not only transcriptionally down.</a:t>
            </a:r>
          </a:p>
          <a:p>
            <a:pPr algn="l">
              <a:spcBef>
                <a:spcPts val="0"/>
              </a:spcBef>
              <a:spcAft>
                <a:spcPts val="1200"/>
              </a:spcAft>
            </a:pPr>
            <a:r>
              <a:rPr sz="1600" b="0" i="0">
                <a:solidFill>
                  <a:srgbClr val="000000"/>
                </a:solidFill>
                <a:latin typeface="Arial"/>
              </a:rPr>
              <a:t>Ciclopirox and LY-294002 dosed into the post-ablation barrier window, with survival as the endpoint.</a:t>
            </a:r>
          </a:p>
          <a:p>
            <a:pPr algn="l">
              <a:spcBef>
                <a:spcPts val="0"/>
              </a:spcBef>
              <a:spcAft>
                <a:spcPts val="0"/>
              </a:spcAft>
            </a:pPr>
            <a:r>
              <a:rPr sz="1600" b="0" i="0">
                <a:solidFill>
                  <a:srgbClr val="000000"/>
                </a:solidFill>
                <a:latin typeface="Arial"/>
              </a:rPr>
              <a:t>Validation in an immunocompetent model, and in patient tissue from the peri-ablation zone.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b="0" i="0">
                <a:solidFill>
                  <a:srgbClr val="FFFFFF"/>
                </a:solidFill>
                <a:latin typeface="Arial"/>
              </a:rPr>
              <a:t>CNS 2026  ·  Washington, DC  ·  Abstract 418</a:t>
            </a:r>
          </a:p>
        </p:txBody>
      </p:sp>
      <p:sp>
        <p:nvSpPr>
          <p:cNvPr id="25" name="TextBox 24"/>
          <p:cNvSpPr txBox="1"/>
          <p:nvPr/>
        </p:nvSpPr>
        <p:spPr>
          <a:xfrm>
            <a:off x="256032" y="1371600"/>
            <a:ext cx="6675120" cy="4206240"/>
          </a:xfrm>
          <a:prstGeom prst="rect">
            <a:avLst/>
          </a:prstGeom>
          <a:noFill/>
        </p:spPr>
        <p:txBody>
          <a:bodyPr wrap="square" anchor="t" lIns="0" rIns="0" tIns="0" bIns="0">
            <a:spAutoFit/>
          </a:bodyPr>
          <a:lstStyle/>
          <a:p>
            <a:pPr algn="l">
              <a:spcBef>
                <a:spcPts val="0"/>
              </a:spcBef>
              <a:spcAft>
                <a:spcPts val="1600"/>
              </a:spcAft>
            </a:pPr>
            <a:r>
              <a:rPr sz="1700" b="0" i="0">
                <a:solidFill>
                  <a:srgbClr val="000000"/>
                </a:solidFill>
                <a:latin typeface="Arial"/>
              </a:rPr>
              <a:t>Tavarekere N. Nagaraja, PhD, Indrani Datta, DHI, and Ian Y. Lee, MD — Hermelin Brain Tumor Center, Henry Ford Health, who built and characterized the model this analysis rests on.</a:t>
            </a:r>
          </a:p>
          <a:p>
            <a:pPr algn="l">
              <a:spcBef>
                <a:spcPts val="0"/>
              </a:spcBef>
              <a:spcAft>
                <a:spcPts val="1600"/>
              </a:spcAft>
            </a:pPr>
            <a:r>
              <a:rPr sz="1600" b="0" i="0">
                <a:solidFill>
                  <a:srgbClr val="595959"/>
                </a:solidFill>
                <a:latin typeface="Arial"/>
              </a:rPr>
              <a:t>Supported by a Henry Ford Health Physician Scientist Award A20050 (I.Y.L.).</a:t>
            </a:r>
          </a:p>
          <a:p>
            <a:pPr algn="l">
              <a:spcBef>
                <a:spcPts val="0"/>
              </a:spcBef>
              <a:spcAft>
                <a:spcPts val="2000"/>
              </a:spcAft>
            </a:pPr>
            <a:r>
              <a:rPr sz="1600" b="0" i="0">
                <a:solidFill>
                  <a:srgbClr val="595959"/>
                </a:solidFill>
                <a:latin typeface="Arial"/>
              </a:rPr>
              <a:t>Animal procedures were approved by the Henry Ford Health IACUC (protocol #1509) and conducted in accordance with the ARRIVE guidelines.</a:t>
            </a:r>
          </a:p>
          <a:p>
            <a:pPr algn="l">
              <a:spcBef>
                <a:spcPts val="0"/>
              </a:spcBef>
              <a:spcAft>
                <a:spcPts val="0"/>
              </a:spcAft>
            </a:pPr>
            <a:r>
              <a:rPr sz="1700" b="0" i="0">
                <a:solidFill>
                  <a:srgbClr val="000000"/>
                </a:solidFill>
                <a:latin typeface="Arial"/>
              </a:rPr>
              <a:t>Sequencing data: </a:t>
            </a:r>
            <a:r>
              <a:rPr sz="1700" b="1" i="0">
                <a:solidFill>
                  <a:srgbClr val="000000"/>
                </a:solidFill>
                <a:latin typeface="Arial"/>
              </a:rPr>
              <a:t>GEO GSE338105</a:t>
            </a:r>
            <a:r>
              <a:rPr sz="1700" b="0" i="0">
                <a:solidFill>
                  <a:srgbClr val="000000"/>
                </a:solidFill>
                <a:latin typeface="Arial"/>
              </a:rPr>
              <a:t>. Differential-expression, enrichment and drug-ranking tables are released as Supplementary Data.</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b="1">
                <a:solidFill>
                  <a:srgbClr val="095945"/>
                </a:solidFill>
                <a:latin typeface="Arial"/>
              </a:rPr>
              <a:t>Questions</a:t>
            </a:r>
          </a:p>
          <a:p>
            <a:pPr algn="ctr">
              <a:spcAft>
                <a:spcPts val="0"/>
              </a:spcAft>
            </a:pPr>
            <a:r>
              <a:rPr sz="1600" b="1">
                <a:solidFill>
                  <a:srgbClr val="095945"/>
                </a:solidFill>
                <a:latin typeface="Arial"/>
              </a:rPr>
              <a:t>go2432@wayne.edu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SLEHS</dc:creator>
  <cp:lastModifiedBy>Gregory Schwing</cp:lastModifiedBy>
  <cp:revision>501</cp:revision>
  <dcterms:created xsi:type="dcterms:W3CDTF">2016-06-08T12:30:36Z</dcterms:created>
  <dcterms:modified xsi:type="dcterms:W3CDTF">2026-08-15T16:45:35Z</dcterms:modified>
</cp:coreProperties>
</file>