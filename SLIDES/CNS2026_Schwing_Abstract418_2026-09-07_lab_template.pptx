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3" r:id="rId1"/>
  </p:sldMasterIdLst>
  <p:notesMasterIdLst>
    <p:notesMasterId r:id="rId27"/>
  </p:notesMasterIdLst>
  <p:sldIdLst>
    <p:sldId id="542" r:id="rId33"/>
    <p:sldId id="543" r:id="rId34"/>
    <p:sldId id="544" r:id="rId35"/>
    <p:sldId id="545" r:id="rId36"/>
    <p:sldId id="546" r:id="rId37"/>
    <p:sldId id="547" r:id="rId38"/>
    <p:sldId id="548" r:id="rId39"/>
    <p:sldId id="549" r:id="rId40"/>
    <p:sldId id="550" r:id="rId41"/>
    <p:sldId id="551" r:id="rId42"/>
    <p:sldId id="552" r:id="rId43"/>
    <p:sldId id="553" r:id="rId44"/>
    <p:sldId id="554" r:id="rId45"/>
    <p:sldId id="555" r:id="rId46"/>
    <p:sldId id="556" r:id="rId47"/>
    <p:sldId id="557" r:id="rId48"/>
    <p:sldId id="558"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rian Niebuhr" initials="BN" lastIdx="1" clrIdx="0">
    <p:extLst>
      <p:ext uri="{19B8F6BF-5375-455C-9EA6-DF929625EA0E}">
        <p15:presenceInfo xmlns:p15="http://schemas.microsoft.com/office/powerpoint/2012/main" userId="917d2e0bc700af26"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D198"/>
    <a:srgbClr val="095945"/>
    <a:srgbClr val="4B1774"/>
    <a:srgbClr val="C17945"/>
    <a:srgbClr val="700806"/>
    <a:srgbClr val="FED07C"/>
    <a:srgbClr val="1E4576"/>
    <a:srgbClr val="71AD47"/>
    <a:srgbClr val="0D5946"/>
    <a:srgbClr val="0F5E5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974" autoAdjust="0"/>
    <p:restoredTop sz="73382" autoAdjust="0"/>
  </p:normalViewPr>
  <p:slideViewPr>
    <p:cSldViewPr snapToGrid="0" snapToObjects="1">
      <p:cViewPr varScale="1">
        <p:scale>
          <a:sx n="66" d="100"/>
          <a:sy n="66" d="100"/>
        </p:scale>
        <p:origin x="1702" y="19"/>
      </p:cViewPr>
      <p:guideLst>
        <p:guide orient="horz" pos="2160"/>
        <p:guide pos="3840"/>
      </p:guideLst>
    </p:cSldViewPr>
  </p:slideViewPr>
  <p:outlineViewPr>
    <p:cViewPr>
      <p:scale>
        <a:sx n="50" d="100"/>
        <a:sy n="50" d="100"/>
      </p:scale>
      <p:origin x="0" y="0"/>
    </p:cViewPr>
  </p:outlineViewPr>
  <p:notesTextViewPr>
    <p:cViewPr>
      <p:scale>
        <a:sx n="229" d="100"/>
        <a:sy n="229"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7" Type="http://schemas.openxmlformats.org/officeDocument/2006/relationships/notesMaster" Target="notesMasters/notesMaster1.xml"/><Relationship Id="rId28" Type="http://schemas.openxmlformats.org/officeDocument/2006/relationships/commentAuthors" Target="commentAuthors.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31081B4-569A-4AA1-A563-F003F93DAA35}" type="datetimeFigureOut">
              <a:rPr lang="en-US" smtClean="0"/>
              <a:t>8/14/2026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A1C4F4F-5A6B-4D80-995B-29AA582F85C3}" type="slidenum">
              <a:rPr lang="en-US" smtClean="0"/>
              <a:t>‹#›</a:t>
            </a:fld>
            <a:endParaRPr lang="en-US"/>
          </a:p>
        </p:txBody>
      </p:sp>
    </p:spTree>
    <p:extLst>
      <p:ext uri="{BB962C8B-B14F-4D97-AF65-F5344CB8AC3E}">
        <p14:creationId xmlns:p14="http://schemas.microsoft.com/office/powerpoint/2010/main" val="18326905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0:00-0:12  Title. Name, institutions, and that this is a rat model of MRI-guided LITT. Do not read the title aloud.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0:12-0:22  Disclosures. Read Dr Lee's Medtronic and Monteris agreements out loud - Monteris makes the LITT system, so the room will want to hear it named.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0:22-0:40  Roadmap. Five beats, ten seconds. Do not linger.</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0:40-1:10  Background. The one idea to land: LITT kills the core, but the cells that come back sat in the sublethal margin. Point at the diagram once.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1:10-1:35  The gap. The vessels and the immune side of that margin have been described; the tumor cells' own state has not. End on the question and pause.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1:35-2:00  The model. Move fast. The one thing to stress is that the graft is human and the host is rat, which is what makes the tumor compartment separable.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2:00-2:25  The analysis. Enrichment was permuted on gene-set membership, not on samples, because n = 3. If someone challenges the statistics later, this slide is the answer. Mention the GEO accession is already public.</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2:25-2:50  Global structure. The arms separate on PC1. Say the PERMANOVA p = 0.10 out loud - do not let someone find it in the supplement. Frame it as: the effect is large, the sample is small.</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2:50-3:10  Differential expression. Only 35 genes. Walk the table once, do not read it: the six biggest fold changes are readthrough transcripts, a U6 snRNA and two unannotated loci, all on double-digit counts. That is what justifies the pivot to gene sets, and it pre-empts the reviewer who asks why you did not chase the top hit. Do not dwell on individual genes.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3:10-3:45  The core result. Every leading down-regulated set is translation or amino-acid stress. The top set clears FDR; the next five are nominally significant and directionally identical. Say both halves. Then the right-hand panel: the same direction runs across mTORC1, MYC, ribosome biogenesis, glycolysis and OXPHOS, while the TCA cycle does not move. The point to land is that this is the biosynthetic machinery being switched off, not core carbon flux - a cell that has stopped building, not one that has stopped burning.</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3:45-4:10  The one-sidedness. This is the strongest slide - 8,869 sets tested, six clear q &lt; 0.25, all six on the same side and all six the same theme. Nothing on the up side is interpretable.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4:10-4:35  Subtypes. These are the ten published Neftel and Garofano signatures, scored per sample by GSVA over the full 39-to-50-gene sets - say that, because using the published definitions rather than a hand-picked panel is the defence. One transition is significant: loss of the astrocyte-like state, p = 0.007. The mitochondrial signature moves the same way as the OXPHOS and mitochondrial-translation sets on the enrichment slide - point back to that slide, because two independent computations agreeing is the argument. If pressed on the mitochondrial call: 34 of its 35 measurable genes are lower in recurrence, and the result is stable across three levels of symbol mapping, 35/50 up to 49/50.</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4:35-4:55  Hubs. Do not read the table - point at the sign column. Everything structural in the matrix goes down; the calcium and presynaptic genes (CALB1, RYR2, PCLO) go up. Offer the neuron-glioma synapse as a question, not a claim, and say plainly that six animals cannot separate it from a change in which cells survived. This is the slide most likely to draw a question, so know the two Nature 2019 papers. CUT THIS SLIDE FIRST if you are running long.</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4:55-5:25  Therapeutics. Explain the score in one sentence: how strongly the drug signature reverses the tumor signature, weighted by predicted BBB penetration from ADMET-AI. Lead with the filter, because it is the honest part: only 54 of 93 DSigDB hits ever reached a clinic - the rest include oxygen, ozone and a flame retardant - and that filter removes LY-294002 and DMOG, which are laboratory probes, not candidates. Ciclopirox is what survives: approved, ranked first with and without the permeability weight, and both BBB models agree on it. It chelates iron. Then the delivery point: LITT opens the barrier at the margin for weeks. Deliver the caveat sentence exactly as written; this is where a reviewer will push.</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5:25-5:45  Conclusions. Four beats, then the convergence line. No new material. The closing argument is the internal consistency - translational, anabolic, respiratory and hypoxic arms all moving together - not any single q value. Say that sentence and stop.</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5:45-5:55  Limitations and next steps. SECOND SLIDE TO CUT - the limitations are already stated on the results slides. Anticipated questions: why not more animals; why gene-set permutation; has any drug been tested (no).</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5:55-6:00  Thanks. Name the Henry Ford group. Leave the GEO accession on screen during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62DCA-494B-4843-88A4-6F1841A6344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6AFC6A1-64EF-4BEF-B69C-03B5B0F0C9A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516AB28-1609-4157-B6A5-C3CF7F834B5C}"/>
              </a:ext>
            </a:extLst>
          </p:cNvPr>
          <p:cNvSpPr>
            <a:spLocks noGrp="1"/>
          </p:cNvSpPr>
          <p:nvPr>
            <p:ph type="dt" sz="half" idx="10"/>
          </p:nvPr>
        </p:nvSpPr>
        <p:spPr/>
        <p:txBody>
          <a:bodyPr/>
          <a:lstStyle/>
          <a:p>
            <a:fld id="{83284890-85D2-4D7B-8EF5-15A9C1DB8F42}" type="datetimeFigureOut">
              <a:rPr lang="en-US" smtClean="0"/>
              <a:t>8/14/2026</a:t>
            </a:fld>
            <a:endParaRPr lang="en-US" dirty="0"/>
          </a:p>
        </p:txBody>
      </p:sp>
      <p:sp>
        <p:nvSpPr>
          <p:cNvPr id="5" name="Footer Placeholder 4">
            <a:extLst>
              <a:ext uri="{FF2B5EF4-FFF2-40B4-BE49-F238E27FC236}">
                <a16:creationId xmlns:a16="http://schemas.microsoft.com/office/drawing/2014/main" id="{62273D0A-6D71-488A-949F-1FDC8E58BF10}"/>
              </a:ext>
            </a:extLst>
          </p:cNvPr>
          <p:cNvSpPr>
            <a:spLocks noGrp="1"/>
          </p:cNvSpPr>
          <p:nvPr>
            <p:ph type="ftr" sz="quarter" idx="11"/>
          </p:nvPr>
        </p:nvSpPr>
        <p:spPr/>
        <p:txBody>
          <a:bodyPr/>
          <a:lstStyle/>
          <a:p>
            <a:pPr algn="l"/>
            <a:r>
              <a:rPr lang="en-US"/>
              <a:t>Click to add reference(s)</a:t>
            </a:r>
            <a:endParaRPr lang="en-US" dirty="0"/>
          </a:p>
        </p:txBody>
      </p:sp>
      <p:sp>
        <p:nvSpPr>
          <p:cNvPr id="6" name="Slide Number Placeholder 5">
            <a:extLst>
              <a:ext uri="{FF2B5EF4-FFF2-40B4-BE49-F238E27FC236}">
                <a16:creationId xmlns:a16="http://schemas.microsoft.com/office/drawing/2014/main" id="{FB5CA8AA-270B-4D7E-8402-D9FB0DFDC5A5}"/>
              </a:ext>
            </a:extLst>
          </p:cNvPr>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2193606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F92E7-E0AB-487D-97F4-3E2F83AF795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66A00F-6B93-4590-AC16-E6A88A97736D}"/>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C35487-6274-4BB8-9EA0-EB8A65B04BEB}"/>
              </a:ext>
            </a:extLst>
          </p:cNvPr>
          <p:cNvSpPr>
            <a:spLocks noGrp="1"/>
          </p:cNvSpPr>
          <p:nvPr>
            <p:ph type="dt" sz="half" idx="10"/>
          </p:nvPr>
        </p:nvSpPr>
        <p:spPr/>
        <p:txBody>
          <a:bodyPr/>
          <a:lstStyle/>
          <a:p>
            <a:fld id="{82F5661D-6934-4B32-B92C-470368BF1EC6}" type="datetimeFigureOut">
              <a:rPr lang="en-US" smtClean="0"/>
              <a:t>8/14/2026</a:t>
            </a:fld>
            <a:endParaRPr lang="en-US" dirty="0"/>
          </a:p>
        </p:txBody>
      </p:sp>
      <p:sp>
        <p:nvSpPr>
          <p:cNvPr id="5" name="Footer Placeholder 4">
            <a:extLst>
              <a:ext uri="{FF2B5EF4-FFF2-40B4-BE49-F238E27FC236}">
                <a16:creationId xmlns:a16="http://schemas.microsoft.com/office/drawing/2014/main" id="{63785C0A-92D0-42D5-B6AF-276D985D0394}"/>
              </a:ext>
            </a:extLst>
          </p:cNvPr>
          <p:cNvSpPr>
            <a:spLocks noGrp="1"/>
          </p:cNvSpPr>
          <p:nvPr>
            <p:ph type="ftr" sz="quarter" idx="11"/>
          </p:nvPr>
        </p:nvSpPr>
        <p:spPr/>
        <p:txBody>
          <a:bodyPr/>
          <a:lstStyle/>
          <a:p>
            <a:r>
              <a:rPr lang="en-US"/>
              <a:t>Click to add reference(s)</a:t>
            </a:r>
            <a:endParaRPr lang="en-US" dirty="0"/>
          </a:p>
        </p:txBody>
      </p:sp>
      <p:sp>
        <p:nvSpPr>
          <p:cNvPr id="6" name="Slide Number Placeholder 5">
            <a:extLst>
              <a:ext uri="{FF2B5EF4-FFF2-40B4-BE49-F238E27FC236}">
                <a16:creationId xmlns:a16="http://schemas.microsoft.com/office/drawing/2014/main" id="{59807826-0403-4F2B-B388-BE3FC7C7CDA1}"/>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3898260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DBFAC-CC1C-4B67-BF96-80502E3AE43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7ABC17F-70E1-4D95-A248-873AAF8DEDF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C57E7D28-9361-456E-BF7A-E3FE302BAF2E}"/>
              </a:ext>
            </a:extLst>
          </p:cNvPr>
          <p:cNvSpPr>
            <a:spLocks noGrp="1"/>
          </p:cNvSpPr>
          <p:nvPr>
            <p:ph type="dt" sz="half" idx="10"/>
          </p:nvPr>
        </p:nvSpPr>
        <p:spPr/>
        <p:txBody>
          <a:bodyPr/>
          <a:lstStyle/>
          <a:p>
            <a:fld id="{C6F822A4-8DA6-4447-9B1F-C5DB58435268}" type="datetimeFigureOut">
              <a:rPr lang="en-US" smtClean="0"/>
              <a:t>8/14/2026</a:t>
            </a:fld>
            <a:endParaRPr lang="en-US" dirty="0"/>
          </a:p>
        </p:txBody>
      </p:sp>
      <p:sp>
        <p:nvSpPr>
          <p:cNvPr id="5" name="Footer Placeholder 4">
            <a:extLst>
              <a:ext uri="{FF2B5EF4-FFF2-40B4-BE49-F238E27FC236}">
                <a16:creationId xmlns:a16="http://schemas.microsoft.com/office/drawing/2014/main" id="{B2A23F8A-484E-475B-A6A6-3121262BD166}"/>
              </a:ext>
            </a:extLst>
          </p:cNvPr>
          <p:cNvSpPr>
            <a:spLocks noGrp="1"/>
          </p:cNvSpPr>
          <p:nvPr>
            <p:ph type="ftr" sz="quarter" idx="11"/>
          </p:nvPr>
        </p:nvSpPr>
        <p:spPr/>
        <p:txBody>
          <a:bodyPr/>
          <a:lstStyle/>
          <a:p>
            <a:pPr algn="l"/>
            <a:r>
              <a:rPr lang="en-US"/>
              <a:t>Click to add reference(s)</a:t>
            </a:r>
            <a:endParaRPr lang="en-US" dirty="0"/>
          </a:p>
        </p:txBody>
      </p:sp>
      <p:sp>
        <p:nvSpPr>
          <p:cNvPr id="6" name="Slide Number Placeholder 5">
            <a:extLst>
              <a:ext uri="{FF2B5EF4-FFF2-40B4-BE49-F238E27FC236}">
                <a16:creationId xmlns:a16="http://schemas.microsoft.com/office/drawing/2014/main" id="{9A75A0A2-C033-47F6-AF47-AAD188285B17}"/>
              </a:ext>
            </a:extLst>
          </p:cNvPr>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7696872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07885-AC70-4CD8-BE7C-323AD79D9C5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A117AC9-50CA-481B-BF0B-3711C9847E39}"/>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FF72A54-CC47-4F05-B76D-8B52291885BB}"/>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7FECECF-1C9E-46F2-A291-E32E1AF93199}"/>
              </a:ext>
            </a:extLst>
          </p:cNvPr>
          <p:cNvSpPr>
            <a:spLocks noGrp="1"/>
          </p:cNvSpPr>
          <p:nvPr>
            <p:ph type="dt" sz="half" idx="10"/>
          </p:nvPr>
        </p:nvSpPr>
        <p:spPr/>
        <p:txBody>
          <a:bodyPr/>
          <a:lstStyle/>
          <a:p>
            <a:fld id="{E548D31E-DCDA-41A7-9C67-C4B11B94D21D}" type="datetimeFigureOut">
              <a:rPr lang="en-US" smtClean="0"/>
              <a:t>8/14/2026</a:t>
            </a:fld>
            <a:endParaRPr lang="en-US" dirty="0"/>
          </a:p>
        </p:txBody>
      </p:sp>
      <p:sp>
        <p:nvSpPr>
          <p:cNvPr id="6" name="Footer Placeholder 5">
            <a:extLst>
              <a:ext uri="{FF2B5EF4-FFF2-40B4-BE49-F238E27FC236}">
                <a16:creationId xmlns:a16="http://schemas.microsoft.com/office/drawing/2014/main" id="{2050B02E-BB8D-4B85-9D79-8E59152B8D97}"/>
              </a:ext>
            </a:extLst>
          </p:cNvPr>
          <p:cNvSpPr>
            <a:spLocks noGrp="1"/>
          </p:cNvSpPr>
          <p:nvPr>
            <p:ph type="ftr" sz="quarter" idx="11"/>
          </p:nvPr>
        </p:nvSpPr>
        <p:spPr/>
        <p:txBody>
          <a:bodyPr/>
          <a:lstStyle/>
          <a:p>
            <a:r>
              <a:rPr lang="en-US"/>
              <a:t>Click to add reference(s)</a:t>
            </a:r>
            <a:endParaRPr lang="en-US" dirty="0"/>
          </a:p>
        </p:txBody>
      </p:sp>
      <p:sp>
        <p:nvSpPr>
          <p:cNvPr id="7" name="Slide Number Placeholder 6">
            <a:extLst>
              <a:ext uri="{FF2B5EF4-FFF2-40B4-BE49-F238E27FC236}">
                <a16:creationId xmlns:a16="http://schemas.microsoft.com/office/drawing/2014/main" id="{33367BC7-EC39-4BE2-8B8F-50A27FC798C2}"/>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3506972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5FD09-7386-4291-9369-5BC88FE77F2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226FD6D-F8CE-49EF-9B23-A0F9D1BF85D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238CF869-F722-4F28-8B39-DF75D812A7CD}"/>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7FF81EB-E2AE-4146-B8F9-E57B22B4F8C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35E92264-B567-4AC7-8641-6896FB0C7158}"/>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26B8ED5-FB44-4999-B150-3DA59F232D5C}"/>
              </a:ext>
            </a:extLst>
          </p:cNvPr>
          <p:cNvSpPr>
            <a:spLocks noGrp="1"/>
          </p:cNvSpPr>
          <p:nvPr>
            <p:ph type="dt" sz="half" idx="10"/>
          </p:nvPr>
        </p:nvSpPr>
        <p:spPr/>
        <p:txBody>
          <a:bodyPr/>
          <a:lstStyle/>
          <a:p>
            <a:fld id="{9B3762C0-B258-48F1-ADE6-176B4174CCDD}" type="datetimeFigureOut">
              <a:rPr lang="en-US" smtClean="0"/>
              <a:t>8/14/2026</a:t>
            </a:fld>
            <a:endParaRPr lang="en-US" dirty="0"/>
          </a:p>
        </p:txBody>
      </p:sp>
      <p:sp>
        <p:nvSpPr>
          <p:cNvPr id="8" name="Footer Placeholder 7">
            <a:extLst>
              <a:ext uri="{FF2B5EF4-FFF2-40B4-BE49-F238E27FC236}">
                <a16:creationId xmlns:a16="http://schemas.microsoft.com/office/drawing/2014/main" id="{D2DF199A-20D9-4A3B-AB7D-8626A95D40F0}"/>
              </a:ext>
            </a:extLst>
          </p:cNvPr>
          <p:cNvSpPr>
            <a:spLocks noGrp="1"/>
          </p:cNvSpPr>
          <p:nvPr>
            <p:ph type="ftr" sz="quarter" idx="11"/>
          </p:nvPr>
        </p:nvSpPr>
        <p:spPr/>
        <p:txBody>
          <a:bodyPr/>
          <a:lstStyle/>
          <a:p>
            <a:r>
              <a:rPr lang="en-US"/>
              <a:t>Click to add reference(s)</a:t>
            </a:r>
            <a:endParaRPr lang="en-US" dirty="0"/>
          </a:p>
        </p:txBody>
      </p:sp>
      <p:sp>
        <p:nvSpPr>
          <p:cNvPr id="9" name="Slide Number Placeholder 8">
            <a:extLst>
              <a:ext uri="{FF2B5EF4-FFF2-40B4-BE49-F238E27FC236}">
                <a16:creationId xmlns:a16="http://schemas.microsoft.com/office/drawing/2014/main" id="{A7DD7A8D-3AC4-4ADE-8685-F9F093FB885C}"/>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6930525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5762C-C9D4-47A5-9E80-D40BD882999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3EF8910-477F-4E9F-8223-A421E208AC5F}"/>
              </a:ext>
            </a:extLst>
          </p:cNvPr>
          <p:cNvSpPr>
            <a:spLocks noGrp="1"/>
          </p:cNvSpPr>
          <p:nvPr>
            <p:ph type="dt" sz="half" idx="10"/>
          </p:nvPr>
        </p:nvSpPr>
        <p:spPr/>
        <p:txBody>
          <a:bodyPr/>
          <a:lstStyle/>
          <a:p>
            <a:fld id="{677919A6-33EB-49BD-A62F-1FA56B9F9712}" type="datetimeFigureOut">
              <a:rPr lang="en-US" smtClean="0"/>
              <a:t>8/14/2026</a:t>
            </a:fld>
            <a:endParaRPr lang="en-US" dirty="0"/>
          </a:p>
        </p:txBody>
      </p:sp>
      <p:sp>
        <p:nvSpPr>
          <p:cNvPr id="4" name="Footer Placeholder 3">
            <a:extLst>
              <a:ext uri="{FF2B5EF4-FFF2-40B4-BE49-F238E27FC236}">
                <a16:creationId xmlns:a16="http://schemas.microsoft.com/office/drawing/2014/main" id="{F8316E5C-97F7-4AB2-B352-BC185279A7C8}"/>
              </a:ext>
            </a:extLst>
          </p:cNvPr>
          <p:cNvSpPr>
            <a:spLocks noGrp="1"/>
          </p:cNvSpPr>
          <p:nvPr>
            <p:ph type="ftr" sz="quarter" idx="11"/>
          </p:nvPr>
        </p:nvSpPr>
        <p:spPr/>
        <p:txBody>
          <a:bodyPr/>
          <a:lstStyle/>
          <a:p>
            <a:pPr algn="l"/>
            <a:r>
              <a:rPr lang="en-US"/>
              <a:t>Click to add reference(s)</a:t>
            </a:r>
            <a:endParaRPr lang="en-US" dirty="0"/>
          </a:p>
        </p:txBody>
      </p:sp>
      <p:sp>
        <p:nvSpPr>
          <p:cNvPr id="5" name="Slide Number Placeholder 4">
            <a:extLst>
              <a:ext uri="{FF2B5EF4-FFF2-40B4-BE49-F238E27FC236}">
                <a16:creationId xmlns:a16="http://schemas.microsoft.com/office/drawing/2014/main" id="{802C3FE0-483F-4FE8-8145-52CE71C6B55D}"/>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3585976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3706266-1B59-4F00-84B2-5C176FC7EC48}"/>
              </a:ext>
            </a:extLst>
          </p:cNvPr>
          <p:cNvSpPr>
            <a:spLocks noGrp="1"/>
          </p:cNvSpPr>
          <p:nvPr>
            <p:ph type="dt" sz="half" idx="10"/>
          </p:nvPr>
        </p:nvSpPr>
        <p:spPr/>
        <p:txBody>
          <a:bodyPr/>
          <a:lstStyle/>
          <a:p>
            <a:fld id="{CA4E7D1B-D673-4CF6-8672-009D42ABD2A0}" type="datetimeFigureOut">
              <a:rPr lang="en-US" smtClean="0"/>
              <a:t>8/14/2026</a:t>
            </a:fld>
            <a:endParaRPr lang="en-US" dirty="0"/>
          </a:p>
        </p:txBody>
      </p:sp>
      <p:sp>
        <p:nvSpPr>
          <p:cNvPr id="3" name="Footer Placeholder 2">
            <a:extLst>
              <a:ext uri="{FF2B5EF4-FFF2-40B4-BE49-F238E27FC236}">
                <a16:creationId xmlns:a16="http://schemas.microsoft.com/office/drawing/2014/main" id="{E383CBD8-94A1-46C0-9CD6-B7207BEA749F}"/>
              </a:ext>
            </a:extLst>
          </p:cNvPr>
          <p:cNvSpPr>
            <a:spLocks noGrp="1"/>
          </p:cNvSpPr>
          <p:nvPr>
            <p:ph type="ftr" sz="quarter" idx="11"/>
          </p:nvPr>
        </p:nvSpPr>
        <p:spPr/>
        <p:txBody>
          <a:bodyPr/>
          <a:lstStyle/>
          <a:p>
            <a:pPr algn="l"/>
            <a:r>
              <a:rPr lang="en-US"/>
              <a:t>Click to add reference(s)</a:t>
            </a:r>
            <a:endParaRPr lang="en-US" dirty="0"/>
          </a:p>
        </p:txBody>
      </p:sp>
      <p:sp>
        <p:nvSpPr>
          <p:cNvPr id="4" name="Slide Number Placeholder 3">
            <a:extLst>
              <a:ext uri="{FF2B5EF4-FFF2-40B4-BE49-F238E27FC236}">
                <a16:creationId xmlns:a16="http://schemas.microsoft.com/office/drawing/2014/main" id="{63B4D725-7000-41BF-BBAA-3867CDF1CC6B}"/>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1021946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53EE2-AA7F-46B8-8F7D-CFDBBB4425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566BAE1-CE7C-4A98-9A69-D7F2F3074DB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7295F62-6FBA-48D9-80B5-0C4E223A76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8BB8661-C7B6-498F-9995-34F8025B9545}"/>
              </a:ext>
            </a:extLst>
          </p:cNvPr>
          <p:cNvSpPr>
            <a:spLocks noGrp="1"/>
          </p:cNvSpPr>
          <p:nvPr>
            <p:ph type="dt" sz="half" idx="10"/>
          </p:nvPr>
        </p:nvSpPr>
        <p:spPr/>
        <p:txBody>
          <a:bodyPr/>
          <a:lstStyle/>
          <a:p>
            <a:fld id="{DA16AA21-1863-4931-97CB-99D0A168701B}" type="datetimeFigureOut">
              <a:rPr lang="en-US" smtClean="0"/>
              <a:t>8/14/2026</a:t>
            </a:fld>
            <a:endParaRPr lang="en-US" dirty="0"/>
          </a:p>
        </p:txBody>
      </p:sp>
      <p:sp>
        <p:nvSpPr>
          <p:cNvPr id="6" name="Footer Placeholder 5">
            <a:extLst>
              <a:ext uri="{FF2B5EF4-FFF2-40B4-BE49-F238E27FC236}">
                <a16:creationId xmlns:a16="http://schemas.microsoft.com/office/drawing/2014/main" id="{0CCE11FD-26C7-4BEE-A271-A21C6A775B9D}"/>
              </a:ext>
            </a:extLst>
          </p:cNvPr>
          <p:cNvSpPr>
            <a:spLocks noGrp="1"/>
          </p:cNvSpPr>
          <p:nvPr>
            <p:ph type="ftr" sz="quarter" idx="11"/>
          </p:nvPr>
        </p:nvSpPr>
        <p:spPr/>
        <p:txBody>
          <a:bodyPr/>
          <a:lstStyle/>
          <a:p>
            <a:pPr algn="l"/>
            <a:r>
              <a:rPr lang="en-US"/>
              <a:t>Click to add reference(s)</a:t>
            </a:r>
            <a:endParaRPr lang="en-US" dirty="0"/>
          </a:p>
        </p:txBody>
      </p:sp>
      <p:sp>
        <p:nvSpPr>
          <p:cNvPr id="7" name="Slide Number Placeholder 6">
            <a:extLst>
              <a:ext uri="{FF2B5EF4-FFF2-40B4-BE49-F238E27FC236}">
                <a16:creationId xmlns:a16="http://schemas.microsoft.com/office/drawing/2014/main" id="{84B2009C-DC8F-4BFD-996E-F1516F359BB8}"/>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5893243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F491C-9550-40F9-B0A9-7318409A54A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8B89A0F-D1B8-47D1-958E-389F11854ED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E9D025E-F59F-47D0-B9D6-E6E8E24CFF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9AD214C-A86E-489E-940A-9FE058A1552C}"/>
              </a:ext>
            </a:extLst>
          </p:cNvPr>
          <p:cNvSpPr>
            <a:spLocks noGrp="1"/>
          </p:cNvSpPr>
          <p:nvPr>
            <p:ph type="dt" sz="half" idx="10"/>
          </p:nvPr>
        </p:nvSpPr>
        <p:spPr/>
        <p:txBody>
          <a:bodyPr/>
          <a:lstStyle/>
          <a:p>
            <a:fld id="{3772C379-9A7C-4C87-A116-CBE9F58B04C5}" type="datetimeFigureOut">
              <a:rPr lang="en-US" smtClean="0"/>
              <a:t>8/14/2026</a:t>
            </a:fld>
            <a:endParaRPr lang="en-US" dirty="0"/>
          </a:p>
        </p:txBody>
      </p:sp>
      <p:sp>
        <p:nvSpPr>
          <p:cNvPr id="6" name="Footer Placeholder 5">
            <a:extLst>
              <a:ext uri="{FF2B5EF4-FFF2-40B4-BE49-F238E27FC236}">
                <a16:creationId xmlns:a16="http://schemas.microsoft.com/office/drawing/2014/main" id="{321A7F4C-351E-4988-98D0-AE42FE1463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3B9EF8D-6582-4D21-AA61-C78BB65EC24C}"/>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9104475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1438B3-1680-4C05-8CC4-E895BEED060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2D96378-8D56-4963-918F-716A01BDFC9E}"/>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C5B2B3-03CC-4D79-89DA-B5AED0FB7FB8}"/>
              </a:ext>
            </a:extLst>
          </p:cNvPr>
          <p:cNvSpPr>
            <a:spLocks noGrp="1"/>
          </p:cNvSpPr>
          <p:nvPr>
            <p:ph type="dt" sz="half" idx="10"/>
          </p:nvPr>
        </p:nvSpPr>
        <p:spPr/>
        <p:txBody>
          <a:bodyPr/>
          <a:lstStyle/>
          <a:p>
            <a:fld id="{87157CC2-0FC8-4686-B024-99790E0F5162}" type="datetimeFigureOut">
              <a:rPr lang="en-US" smtClean="0"/>
              <a:t>8/14/2026</a:t>
            </a:fld>
            <a:endParaRPr lang="en-US" dirty="0"/>
          </a:p>
        </p:txBody>
      </p:sp>
      <p:sp>
        <p:nvSpPr>
          <p:cNvPr id="5" name="Footer Placeholder 4">
            <a:extLst>
              <a:ext uri="{FF2B5EF4-FFF2-40B4-BE49-F238E27FC236}">
                <a16:creationId xmlns:a16="http://schemas.microsoft.com/office/drawing/2014/main" id="{34E19FD2-C25C-4BB2-8754-641D845DDF96}"/>
              </a:ext>
            </a:extLst>
          </p:cNvPr>
          <p:cNvSpPr>
            <a:spLocks noGrp="1"/>
          </p:cNvSpPr>
          <p:nvPr>
            <p:ph type="ftr" sz="quarter" idx="11"/>
          </p:nvPr>
        </p:nvSpPr>
        <p:spPr/>
        <p:txBody>
          <a:bodyPr/>
          <a:lstStyle/>
          <a:p>
            <a:pPr algn="l"/>
            <a:r>
              <a:rPr lang="en-US"/>
              <a:t>Click to add reference(s)</a:t>
            </a:r>
            <a:endParaRPr lang="en-US" dirty="0"/>
          </a:p>
        </p:txBody>
      </p:sp>
      <p:sp>
        <p:nvSpPr>
          <p:cNvPr id="6" name="Slide Number Placeholder 5">
            <a:extLst>
              <a:ext uri="{FF2B5EF4-FFF2-40B4-BE49-F238E27FC236}">
                <a16:creationId xmlns:a16="http://schemas.microsoft.com/office/drawing/2014/main" id="{6083E9F7-7A91-43E8-BE89-63E45B1ECFC5}"/>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3027467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E4C3D66-5258-471A-A4E4-F8BDC30A8A7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304A3E5-09D0-45A8-963E-C375A6C8FBD6}"/>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14EABD-A5DB-43C1-8F0F-07AC3FEBBECD}"/>
              </a:ext>
            </a:extLst>
          </p:cNvPr>
          <p:cNvSpPr>
            <a:spLocks noGrp="1"/>
          </p:cNvSpPr>
          <p:nvPr>
            <p:ph type="dt" sz="half" idx="10"/>
          </p:nvPr>
        </p:nvSpPr>
        <p:spPr/>
        <p:txBody>
          <a:bodyPr/>
          <a:lstStyle/>
          <a:p>
            <a:fld id="{F6764DA5-CD3D-4590-A511-FCD3BC7A793E}" type="datetimeFigureOut">
              <a:rPr lang="en-US" smtClean="0"/>
              <a:t>8/14/2026</a:t>
            </a:fld>
            <a:endParaRPr lang="en-US" dirty="0"/>
          </a:p>
        </p:txBody>
      </p:sp>
      <p:sp>
        <p:nvSpPr>
          <p:cNvPr id="5" name="Footer Placeholder 4">
            <a:extLst>
              <a:ext uri="{FF2B5EF4-FFF2-40B4-BE49-F238E27FC236}">
                <a16:creationId xmlns:a16="http://schemas.microsoft.com/office/drawing/2014/main" id="{D3EE2292-216E-4185-A986-67EF6FA193C3}"/>
              </a:ext>
            </a:extLst>
          </p:cNvPr>
          <p:cNvSpPr>
            <a:spLocks noGrp="1"/>
          </p:cNvSpPr>
          <p:nvPr>
            <p:ph type="ftr" sz="quarter" idx="11"/>
          </p:nvPr>
        </p:nvSpPr>
        <p:spPr/>
        <p:txBody>
          <a:bodyPr/>
          <a:lstStyle/>
          <a:p>
            <a:pPr algn="l"/>
            <a:r>
              <a:rPr lang="en-US"/>
              <a:t>Click to add reference(s)</a:t>
            </a:r>
            <a:endParaRPr lang="en-US" dirty="0"/>
          </a:p>
        </p:txBody>
      </p:sp>
      <p:sp>
        <p:nvSpPr>
          <p:cNvPr id="6" name="Slide Number Placeholder 5">
            <a:extLst>
              <a:ext uri="{FF2B5EF4-FFF2-40B4-BE49-F238E27FC236}">
                <a16:creationId xmlns:a16="http://schemas.microsoft.com/office/drawing/2014/main" id="{2D02FC95-D546-4DEC-B632-0CD58CE9A2ED}"/>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8829377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p>
            <a:pPr algn="l"/>
            <a:r>
              <a:rPr lang="en-US"/>
              <a:t>Click to add reference(s)</a:t>
            </a:r>
            <a:endParaRPr lang="en-US" dirty="0"/>
          </a:p>
        </p:txBody>
      </p:sp>
    </p:spTree>
    <p:extLst>
      <p:ext uri="{BB962C8B-B14F-4D97-AF65-F5344CB8AC3E}">
        <p14:creationId xmlns:p14="http://schemas.microsoft.com/office/powerpoint/2010/main" val="7915078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rgbClr val="0F315A"/>
        </a:solidFill>
        <a:effectLst/>
      </p:bgPr>
    </p:bg>
    <p:spTree>
      <p:nvGrpSpPr>
        <p:cNvPr id="1" name=""/>
        <p:cNvGrpSpPr/>
        <p:nvPr/>
      </p:nvGrpSpPr>
      <p:grpSpPr>
        <a:xfrm>
          <a:off x="0" y="0"/>
          <a:ext cx="0" cy="0"/>
          <a:chOff x="0" y="0"/>
          <a:chExt cx="0" cy="0"/>
        </a:xfrm>
      </p:grpSpPr>
      <p:sp>
        <p:nvSpPr>
          <p:cNvPr id="2" name="Footer Placeholder 4"/>
          <p:cNvSpPr>
            <a:spLocks noGrp="1"/>
          </p:cNvSpPr>
          <p:nvPr>
            <p:ph type="ftr" sz="quarter" idx="11"/>
          </p:nvPr>
        </p:nvSpPr>
        <p:spPr>
          <a:xfrm>
            <a:off x="838200" y="6356350"/>
            <a:ext cx="10515600" cy="365125"/>
          </a:xfrm>
        </p:spPr>
        <p:txBody>
          <a:bodyPr/>
          <a:lstStyle>
            <a:lvl1pPr algn="l">
              <a:defRPr/>
            </a:lvl1pPr>
          </a:lstStyle>
          <a:p>
            <a:r>
              <a:rPr lang="en-US" dirty="0"/>
              <a:t>Click to add reference(s)</a:t>
            </a:r>
          </a:p>
        </p:txBody>
      </p:sp>
    </p:spTree>
    <p:extLst>
      <p:ext uri="{BB962C8B-B14F-4D97-AF65-F5344CB8AC3E}">
        <p14:creationId xmlns:p14="http://schemas.microsoft.com/office/powerpoint/2010/main" val="25212845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End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433867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11A9A0-90FE-43C2-84D1-C71FE68D673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2AC6306-49B0-44D7-B626-1CB4B488901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C6F3B8-125D-4382-8ECC-06215C9DA63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664C608-40B1-4030-A28D-5B74BC98ADCE}" type="datetimeFigureOut">
              <a:rPr lang="en-US" smtClean="0"/>
              <a:t>8/14/2026</a:t>
            </a:fld>
            <a:endParaRPr lang="en-US" dirty="0"/>
          </a:p>
        </p:txBody>
      </p:sp>
      <p:sp>
        <p:nvSpPr>
          <p:cNvPr id="5" name="Footer Placeholder 4">
            <a:extLst>
              <a:ext uri="{FF2B5EF4-FFF2-40B4-BE49-F238E27FC236}">
                <a16:creationId xmlns:a16="http://schemas.microsoft.com/office/drawing/2014/main" id="{0D3A798C-4BCC-4954-9F71-3C2198BC30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lgn="l"/>
            <a:r>
              <a:rPr lang="en-US"/>
              <a:t>Click to add reference(s)</a:t>
            </a:r>
            <a:endParaRPr lang="en-US" dirty="0"/>
          </a:p>
        </p:txBody>
      </p:sp>
      <p:sp>
        <p:nvSpPr>
          <p:cNvPr id="6" name="Slide Number Placeholder 5">
            <a:extLst>
              <a:ext uri="{FF2B5EF4-FFF2-40B4-BE49-F238E27FC236}">
                <a16:creationId xmlns:a16="http://schemas.microsoft.com/office/drawing/2014/main" id="{9B0E49EC-C902-4CC6-B228-D81CBD43BA1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921028890"/>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59" r:id="rId12"/>
    <p:sldLayoutId id="2147483660" r:id="rId13"/>
    <p:sldLayoutId id="2147483655"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hyperlink" Target="https://www.jacr.org/article/S1546-1440(26)00293-0/fulltext" TargetMode="External"/><Relationship Id="rId4" Type="http://schemas.openxmlformats.org/officeDocument/2006/relationships/hyperlink" Target="https://my.clevelandclinic.org/health/diseases/21966-myelopathy" TargetMode="External"/><Relationship Id="rId5" Type="http://schemas.openxmlformats.org/officeDocument/2006/relationships/image" Target="../media/image5.png"/><Relationship Id="rId6" Type="http://schemas.openxmlformats.org/officeDocument/2006/relationships/image" Target="../media/image10.jpeg"/><Relationship Id="rId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hyperlink" Target="https://www.jacr.org/article/S1546-1440(26)00293-0/fulltext" TargetMode="External"/><Relationship Id="rId4" Type="http://schemas.openxmlformats.org/officeDocument/2006/relationships/hyperlink" Target="https://my.clevelandclinic.org/health/diseases/21966-myelopathy" TargetMode="External"/><Relationship Id="rId5" Type="http://schemas.openxmlformats.org/officeDocument/2006/relationships/image" Target="../media/image5.png"/><Relationship Id="rId6" Type="http://schemas.openxmlformats.org/officeDocument/2006/relationships/image" Target="../media/image10.jpeg"/><Relationship Id="rId7"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hyperlink" Target="https://www.jacr.org/article/S1546-1440(26)00293-0/fulltext" TargetMode="External"/><Relationship Id="rId4" Type="http://schemas.openxmlformats.org/officeDocument/2006/relationships/hyperlink" Target="https://my.clevelandclinic.org/health/diseases/21966-myelopathy" TargetMode="External"/><Relationship Id="rId5" Type="http://schemas.openxmlformats.org/officeDocument/2006/relationships/image" Target="../media/image5.png"/><Relationship Id="rId6" Type="http://schemas.openxmlformats.org/officeDocument/2006/relationships/image" Target="../media/image10.jpeg"/><Relationship Id="rId7"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hyperlink" Target="https://www.jacr.org/article/S1546-1440(26)00293-0/fulltext" TargetMode="External"/><Relationship Id="rId4" Type="http://schemas.openxmlformats.org/officeDocument/2006/relationships/hyperlink" Target="https://my.clevelandclinic.org/health/diseases/21966-myelopathy" TargetMode="External"/><Relationship Id="rId5" Type="http://schemas.openxmlformats.org/officeDocument/2006/relationships/image" Target="../media/image5.png"/><Relationship Id="rId6" Type="http://schemas.openxmlformats.org/officeDocument/2006/relationships/image" Target="../media/image10.jpeg"/><Relationship Id="rId7"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hyperlink" Target="https://www.jacr.org/article/S1546-1440(26)00293-0/fulltext" TargetMode="External"/><Relationship Id="rId4" Type="http://schemas.openxmlformats.org/officeDocument/2006/relationships/hyperlink" Target="https://my.clevelandclinic.org/health/diseases/21966-myelopathy" TargetMode="External"/><Relationship Id="rId5" Type="http://schemas.openxmlformats.org/officeDocument/2006/relationships/image" Target="../media/image5.png"/><Relationship Id="rId6" Type="http://schemas.openxmlformats.org/officeDocument/2006/relationships/image" Target="../media/image10.jpeg"/><Relationship Id="rId7"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hyperlink" Target="https://www.jacr.org/article/S1546-1440(26)00293-0/fulltext" TargetMode="External"/><Relationship Id="rId4" Type="http://schemas.openxmlformats.org/officeDocument/2006/relationships/hyperlink" Target="https://my.clevelandclinic.org/health/diseases/21966-myelopathy" TargetMode="External"/><Relationship Id="rId5" Type="http://schemas.openxmlformats.org/officeDocument/2006/relationships/image" Target="../media/image5.png"/><Relationship Id="rId6" Type="http://schemas.openxmlformats.org/officeDocument/2006/relationships/image" Target="../media/image10.jpeg"/><Relationship Id="rId7"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hyperlink" Target="https://www.jacr.org/article/S1546-1440(26)00293-0/fulltext" TargetMode="External"/><Relationship Id="rId4" Type="http://schemas.openxmlformats.org/officeDocument/2006/relationships/hyperlink" Target="https://my.clevelandclinic.org/health/diseases/21966-myelopathy" TargetMode="External"/><Relationship Id="rId5" Type="http://schemas.openxmlformats.org/officeDocument/2006/relationships/image" Target="../media/image5.png"/><Relationship Id="rId6" Type="http://schemas.openxmlformats.org/officeDocument/2006/relationships/image" Target="../media/image10.jpeg"/><Relationship Id="rId7" Type="http://schemas.openxmlformats.org/officeDocument/2006/relationships/image" Target="../media/image25.png"/><Relationship Id="rId8"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hyperlink" Target="https://www.jacr.org/article/S1546-1440(26)00293-0/fulltext" TargetMode="External"/><Relationship Id="rId4" Type="http://schemas.openxmlformats.org/officeDocument/2006/relationships/hyperlink" Target="https://my.clevelandclinic.org/health/diseases/21966-myelopathy" TargetMode="External"/><Relationship Id="rId5" Type="http://schemas.openxmlformats.org/officeDocument/2006/relationships/image" Target="../media/image5.png"/><Relationship Id="rId6" Type="http://schemas.openxmlformats.org/officeDocument/2006/relationships/image" Target="../media/image10.jpeg"/><Relationship Id="rId7" Type="http://schemas.openxmlformats.org/officeDocument/2006/relationships/image" Target="../media/image26.png"/><Relationship Id="rId8"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hyperlink" Target="https://www.jacr.org/article/S1546-1440(26)00293-0/fulltext" TargetMode="External"/><Relationship Id="rId4" Type="http://schemas.openxmlformats.org/officeDocument/2006/relationships/hyperlink" Target="https://my.clevelandclinic.org/health/diseases/21966-myelopathy" TargetMode="External"/><Relationship Id="rId5" Type="http://schemas.openxmlformats.org/officeDocument/2006/relationships/image" Target="../media/image5.png"/><Relationship Id="rId6" Type="http://schemas.openxmlformats.org/officeDocument/2006/relationships/image" Target="../media/image10.jpeg"/><Relationship Id="rId7" Type="http://schemas.openxmlformats.org/officeDocument/2006/relationships/image" Target="../media/image27.png"/><Relationship Id="rId8"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hyperlink" Target="https://www.jacr.org/article/S1546-1440(26)00293-0/fulltext" TargetMode="External"/><Relationship Id="rId4" Type="http://schemas.openxmlformats.org/officeDocument/2006/relationships/hyperlink" Target="https://my.clevelandclinic.org/health/diseases/21966-myelopathy" TargetMode="External"/><Relationship Id="rId5" Type="http://schemas.openxmlformats.org/officeDocument/2006/relationships/image" Target="../media/image5.png"/><Relationship Id="rId6" Type="http://schemas.openxmlformats.org/officeDocument/2006/relationships/image" Target="../media/image10.jpeg"/><Relationship Id="rId7" Type="http://schemas.openxmlformats.org/officeDocument/2006/relationships/image" Target="../media/image28.png"/><Relationship Id="rId8"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hyperlink" Target="https://www.jacr.org/article/S1546-1440(26)00293-0/fulltext" TargetMode="External"/><Relationship Id="rId4" Type="http://schemas.openxmlformats.org/officeDocument/2006/relationships/hyperlink" Target="https://my.clevelandclinic.org/health/diseases/21966-myelopathy" TargetMode="External"/><Relationship Id="rId5" Type="http://schemas.openxmlformats.org/officeDocument/2006/relationships/image" Target="../media/image5.png"/><Relationship Id="rId6" Type="http://schemas.openxmlformats.org/officeDocument/2006/relationships/image" Target="../media/image10.jpeg"/><Relationship Id="rId7" Type="http://schemas.openxmlformats.org/officeDocument/2006/relationships/image" Target="../media/image29.png"/><Relationship Id="rId8"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hyperlink" Target="https://www.jacr.org/article/S1546-1440(26)00293-0/fulltext" TargetMode="External"/><Relationship Id="rId4" Type="http://schemas.openxmlformats.org/officeDocument/2006/relationships/hyperlink" Target="https://my.clevelandclinic.org/health/diseases/21966-myelopathy" TargetMode="External"/><Relationship Id="rId5" Type="http://schemas.openxmlformats.org/officeDocument/2006/relationships/image" Target="../media/image5.png"/><Relationship Id="rId6" Type="http://schemas.openxmlformats.org/officeDocument/2006/relationships/image" Target="../media/image10.jpeg"/><Relationship Id="rId7" Type="http://schemas.openxmlformats.org/officeDocument/2006/relationships/image" Target="../media/image30.png"/><Relationship Id="rId8"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hyperlink" Target="https://www.jacr.org/article/S1546-1440(26)00293-0/fulltext" TargetMode="External"/><Relationship Id="rId4" Type="http://schemas.openxmlformats.org/officeDocument/2006/relationships/hyperlink" Target="https://my.clevelandclinic.org/health/diseases/21966-myelopathy" TargetMode="External"/><Relationship Id="rId5" Type="http://schemas.openxmlformats.org/officeDocument/2006/relationships/image" Target="../media/image5.png"/><Relationship Id="rId6" Type="http://schemas.openxmlformats.org/officeDocument/2006/relationships/image" Target="../media/image10.jpeg"/><Relationship Id="rId7" Type="http://schemas.openxmlformats.org/officeDocument/2006/relationships/image" Target="../media/image31.png"/><Relationship Id="rId8"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hyperlink" Target="https://www.jacr.org/article/S1546-1440(26)00293-0/fulltext" TargetMode="External"/><Relationship Id="rId4" Type="http://schemas.openxmlformats.org/officeDocument/2006/relationships/hyperlink" Target="https://my.clevelandclinic.org/health/diseases/21966-myelopathy" TargetMode="External"/><Relationship Id="rId5" Type="http://schemas.openxmlformats.org/officeDocument/2006/relationships/image" Target="../media/image5.png"/><Relationship Id="rId6" Type="http://schemas.openxmlformats.org/officeDocument/2006/relationships/image" Target="../media/image10.jpeg"/><Relationship Id="rId7"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hyperlink" Target="https://www.jacr.org/article/S1546-1440(26)00293-0/fulltext" TargetMode="External"/><Relationship Id="rId4" Type="http://schemas.openxmlformats.org/officeDocument/2006/relationships/hyperlink" Target="https://my.clevelandclinic.org/health/diseases/21966-myelopathy" TargetMode="External"/><Relationship Id="rId5" Type="http://schemas.openxmlformats.org/officeDocument/2006/relationships/image" Target="../media/image5.png"/><Relationship Id="rId6" Type="http://schemas.openxmlformats.org/officeDocument/2006/relationships/image" Target="../media/image10.jpeg"/><Relationship Id="rId7"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hyperlink" Target="https://www.jacr.org/article/S1546-1440(26)00293-0/fulltext" TargetMode="External"/><Relationship Id="rId4" Type="http://schemas.openxmlformats.org/officeDocument/2006/relationships/hyperlink" Target="https://my.clevelandclinic.org/health/diseases/21966-myelopathy" TargetMode="External"/><Relationship Id="rId5" Type="http://schemas.openxmlformats.org/officeDocument/2006/relationships/image" Target="../media/image5.png"/><Relationship Id="rId6" Type="http://schemas.openxmlformats.org/officeDocument/2006/relationships/image" Target="../media/image10.jpeg"/><Relationship Id="rId7" Type="http://schemas.openxmlformats.org/officeDocument/2006/relationships/notesSlide" Target="../notesSlides/notesSlide42.xml"/></Relationships>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B85330E8-EBD5-E3EF-A7E9-10B9D5517609}"/>
              </a:ext>
            </a:extLst>
          </p:cNvPr>
          <p:cNvSpPr/>
          <p:nvPr/>
        </p:nvSpPr>
        <p:spPr>
          <a:xfrm>
            <a:off x="5211" y="6350602"/>
            <a:ext cx="12192000" cy="516194"/>
          </a:xfrm>
          <a:prstGeom prst="rect">
            <a:avLst/>
          </a:prstGeom>
          <a:solidFill>
            <a:srgbClr val="0068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57BC3B59-ED30-4972-72A3-9A9E36EA5F87}"/>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400" b="0">
                <a:solidFill>
                  <a:srgbClr val="000000"/>
                </a:solidFill>
                <a:latin typeface="Arial"/>
              </a:rPr>
              <a:t>Detroit Medical Center / Wayne State University  ·  Henry Ford Health</a:t>
            </a:r>
          </a:p>
        </p:txBody>
      </p:sp>
      <p:sp>
        <p:nvSpPr>
          <p:cNvPr id="23" name="Rectangle 22">
            <a:extLst>
              <a:ext uri="{FF2B5EF4-FFF2-40B4-BE49-F238E27FC236}">
                <a16:creationId xmlns:a16="http://schemas.microsoft.com/office/drawing/2014/main" id="{C54B485E-510E-22C3-11CF-149ACC4F3158}"/>
              </a:ext>
            </a:extLst>
          </p:cNvPr>
          <p:cNvSpPr/>
          <p:nvPr/>
        </p:nvSpPr>
        <p:spPr>
          <a:xfrm>
            <a:off x="530694" y="-41047"/>
            <a:ext cx="635230" cy="917347"/>
          </a:xfrm>
          <a:prstGeom prst="rect">
            <a:avLst/>
          </a:prstGeom>
          <a:solidFill>
            <a:srgbClr val="0F5E56"/>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Connector 3">
            <a:extLst>
              <a:ext uri="{FF2B5EF4-FFF2-40B4-BE49-F238E27FC236}">
                <a16:creationId xmlns:a16="http://schemas.microsoft.com/office/drawing/2014/main" id="{84BF3321-14AD-5805-94C8-25DA20493824}"/>
              </a:ext>
            </a:extLst>
          </p:cNvPr>
          <p:cNvCxnSpPr>
            <a:cxnSpLocks/>
          </p:cNvCxnSpPr>
          <p:nvPr/>
        </p:nvCxnSpPr>
        <p:spPr>
          <a:xfrm>
            <a:off x="2877671" y="3832412"/>
            <a:ext cx="6427694" cy="0"/>
          </a:xfrm>
          <a:prstGeom prst="line">
            <a:avLst/>
          </a:prstGeom>
          <a:ln w="19050">
            <a:solidFill>
              <a:srgbClr val="0368A6"/>
            </a:solidFill>
          </a:ln>
        </p:spPr>
        <p:style>
          <a:lnRef idx="1">
            <a:schemeClr val="accent1"/>
          </a:lnRef>
          <a:fillRef idx="0">
            <a:schemeClr val="accent1"/>
          </a:fillRef>
          <a:effectRef idx="0">
            <a:schemeClr val="accent1"/>
          </a:effectRef>
          <a:fontRef idx="minor">
            <a:schemeClr val="tx1"/>
          </a:fontRef>
        </p:style>
      </p:cxnSp>
      <p:pic>
        <p:nvPicPr>
          <p:cNvPr id="1026" name="Picture 2">
            <a:extLst>
              <a:ext uri="{FF2B5EF4-FFF2-40B4-BE49-F238E27FC236}">
                <a16:creationId xmlns:a16="http://schemas.microsoft.com/office/drawing/2014/main" id="{16BA32AA-53AA-8ABA-8E56-8DA18720DB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97790" y="5647997"/>
            <a:ext cx="1092809" cy="53544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ome - Wayne State University: School of Medicine">
            <a:extLst>
              <a:ext uri="{FF2B5EF4-FFF2-40B4-BE49-F238E27FC236}">
                <a16:creationId xmlns:a16="http://schemas.microsoft.com/office/drawing/2014/main" id="{D766B862-DB9F-39EF-F06F-2C15C3EDBA2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5271"/>
          <a:stretch/>
        </p:blipFill>
        <p:spPr bwMode="auto">
          <a:xfrm>
            <a:off x="8454770" y="5455564"/>
            <a:ext cx="1507716" cy="74706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Connector 4">
            <a:extLst>
              <a:ext uri="{FF2B5EF4-FFF2-40B4-BE49-F238E27FC236}">
                <a16:creationId xmlns:a16="http://schemas.microsoft.com/office/drawing/2014/main" id="{E73562F5-032C-EB92-2F5E-843286394E34}"/>
              </a:ext>
            </a:extLst>
          </p:cNvPr>
          <p:cNvCxnSpPr>
            <a:cxnSpLocks/>
          </p:cNvCxnSpPr>
          <p:nvPr/>
        </p:nvCxnSpPr>
        <p:spPr>
          <a:xfrm flipV="1">
            <a:off x="7658100" y="6055502"/>
            <a:ext cx="804247" cy="842503"/>
          </a:xfrm>
          <a:prstGeom prst="line">
            <a:avLst/>
          </a:prstGeom>
          <a:ln w="19050">
            <a:solidFill>
              <a:srgbClr val="0D5946"/>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1654831-EC24-D390-6562-0FA10D631A7D}"/>
              </a:ext>
            </a:extLst>
          </p:cNvPr>
          <p:cNvCxnSpPr>
            <a:cxnSpLocks/>
          </p:cNvCxnSpPr>
          <p:nvPr/>
        </p:nvCxnSpPr>
        <p:spPr>
          <a:xfrm>
            <a:off x="9957596" y="6055502"/>
            <a:ext cx="2234404" cy="0"/>
          </a:xfrm>
          <a:prstGeom prst="line">
            <a:avLst/>
          </a:prstGeom>
          <a:ln w="19050">
            <a:solidFill>
              <a:srgbClr val="0D5946"/>
            </a:solidFill>
          </a:ln>
        </p:spPr>
        <p:style>
          <a:lnRef idx="1">
            <a:schemeClr val="accent1"/>
          </a:lnRef>
          <a:fillRef idx="0">
            <a:schemeClr val="accent1"/>
          </a:fillRef>
          <a:effectRef idx="0">
            <a:schemeClr val="accent1"/>
          </a:effectRef>
          <a:fontRef idx="minor">
            <a:schemeClr val="tx1"/>
          </a:fontRef>
        </p:style>
      </p:cxnSp>
      <p:sp>
        <p:nvSpPr>
          <p:cNvPr id="12" name="Right Triangle 11">
            <a:extLst>
              <a:ext uri="{FF2B5EF4-FFF2-40B4-BE49-F238E27FC236}">
                <a16:creationId xmlns:a16="http://schemas.microsoft.com/office/drawing/2014/main" id="{8165F6EB-C626-54BA-C18C-6E72FD3E959E}"/>
              </a:ext>
            </a:extLst>
          </p:cNvPr>
          <p:cNvSpPr/>
          <p:nvPr/>
        </p:nvSpPr>
        <p:spPr>
          <a:xfrm rot="16200000">
            <a:off x="7768462" y="6362468"/>
            <a:ext cx="516194" cy="489797"/>
          </a:xfrm>
          <a:prstGeom prst="rtTriangle">
            <a:avLst/>
          </a:prstGeom>
          <a:solidFill>
            <a:srgbClr val="0D59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2FC642B-8A98-DD4E-39DC-8A6DBB57D2F8}"/>
              </a:ext>
            </a:extLst>
          </p:cNvPr>
          <p:cNvSpPr/>
          <p:nvPr/>
        </p:nvSpPr>
        <p:spPr>
          <a:xfrm>
            <a:off x="8271455" y="6346894"/>
            <a:ext cx="3920545" cy="518570"/>
          </a:xfrm>
          <a:prstGeom prst="rect">
            <a:avLst/>
          </a:prstGeom>
          <a:solidFill>
            <a:srgbClr val="0D59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30" name="Picture 6">
            <a:extLst>
              <a:ext uri="{FF2B5EF4-FFF2-40B4-BE49-F238E27FC236}">
                <a16:creationId xmlns:a16="http://schemas.microsoft.com/office/drawing/2014/main" id="{28982041-4308-4F17-3AE4-9D4E8E97E4C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3804" y="352393"/>
            <a:ext cx="434409" cy="397090"/>
          </a:xfrm>
          <a:prstGeom prst="rect">
            <a:avLst/>
          </a:prstGeom>
          <a:noFill/>
          <a:extLst>
            <a:ext uri="{909E8E84-426E-40DD-AFC4-6F175D3DCCD1}">
              <a14:hiddenFill xmlns:a14="http://schemas.microsoft.com/office/drawing/2010/main">
                <a:solidFill>
                  <a:srgbClr val="FFFFFF"/>
                </a:solidFill>
              </a14:hiddenFill>
            </a:ext>
          </a:extLst>
        </p:spPr>
      </p:pic>
      <p:sp>
        <p:nvSpPr>
          <p:cNvPr id="14" name="Parallelogram 13">
            <a:extLst>
              <a:ext uri="{FF2B5EF4-FFF2-40B4-BE49-F238E27FC236}">
                <a16:creationId xmlns:a16="http://schemas.microsoft.com/office/drawing/2014/main" id="{8EB89D12-F0B2-FB53-36D2-EFD489FEA3CB}"/>
              </a:ext>
            </a:extLst>
          </p:cNvPr>
          <p:cNvSpPr/>
          <p:nvPr/>
        </p:nvSpPr>
        <p:spPr>
          <a:xfrm>
            <a:off x="7785710" y="6349269"/>
            <a:ext cx="522680" cy="516195"/>
          </a:xfrm>
          <a:prstGeom prst="parallelogram">
            <a:avLst>
              <a:gd name="adj" fmla="val 94827"/>
            </a:avLst>
          </a:prstGeom>
          <a:solidFill>
            <a:srgbClr val="FED0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Connector 25">
            <a:extLst>
              <a:ext uri="{FF2B5EF4-FFF2-40B4-BE49-F238E27FC236}">
                <a16:creationId xmlns:a16="http://schemas.microsoft.com/office/drawing/2014/main" id="{18A8CDE3-EE10-106D-A267-A1418C473B5A}"/>
              </a:ext>
            </a:extLst>
          </p:cNvPr>
          <p:cNvCxnSpPr>
            <a:cxnSpLocks/>
          </p:cNvCxnSpPr>
          <p:nvPr/>
        </p:nvCxnSpPr>
        <p:spPr>
          <a:xfrm>
            <a:off x="8274856" y="6357952"/>
            <a:ext cx="409581" cy="0"/>
          </a:xfrm>
          <a:prstGeom prst="line">
            <a:avLst/>
          </a:prstGeom>
          <a:ln w="28575">
            <a:solidFill>
              <a:srgbClr val="FED07C"/>
            </a:solidFill>
          </a:ln>
        </p:spPr>
        <p:style>
          <a:lnRef idx="1">
            <a:schemeClr val="accent1"/>
          </a:lnRef>
          <a:fillRef idx="0">
            <a:schemeClr val="accent1"/>
          </a:fillRef>
          <a:effectRef idx="0">
            <a:schemeClr val="accent1"/>
          </a:effectRef>
          <a:fontRef idx="minor">
            <a:schemeClr val="tx1"/>
          </a:fontRef>
        </p:style>
      </p:cxnSp>
      <p:sp>
        <p:nvSpPr>
          <p:cNvPr id="30" name="Parallelogram 29">
            <a:extLst>
              <a:ext uri="{FF2B5EF4-FFF2-40B4-BE49-F238E27FC236}">
                <a16:creationId xmlns:a16="http://schemas.microsoft.com/office/drawing/2014/main" id="{B35AF966-733A-072C-4499-16A2F93909DB}"/>
              </a:ext>
            </a:extLst>
          </p:cNvPr>
          <p:cNvSpPr/>
          <p:nvPr/>
        </p:nvSpPr>
        <p:spPr>
          <a:xfrm>
            <a:off x="8046757" y="6343569"/>
            <a:ext cx="522680" cy="516195"/>
          </a:xfrm>
          <a:prstGeom prst="parallelogram">
            <a:avLst>
              <a:gd name="adj" fmla="val 94827"/>
            </a:avLst>
          </a:prstGeom>
          <a:solidFill>
            <a:srgbClr val="0D59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Parallelogram 30">
            <a:extLst>
              <a:ext uri="{FF2B5EF4-FFF2-40B4-BE49-F238E27FC236}">
                <a16:creationId xmlns:a16="http://schemas.microsoft.com/office/drawing/2014/main" id="{7C06F1E4-30FF-F38D-0417-1F70EE71B466}"/>
              </a:ext>
            </a:extLst>
          </p:cNvPr>
          <p:cNvSpPr/>
          <p:nvPr/>
        </p:nvSpPr>
        <p:spPr>
          <a:xfrm>
            <a:off x="8126586" y="6345343"/>
            <a:ext cx="522680" cy="516195"/>
          </a:xfrm>
          <a:prstGeom prst="parallelogram">
            <a:avLst>
              <a:gd name="adj" fmla="val 94827"/>
            </a:avLst>
          </a:prstGeom>
          <a:solidFill>
            <a:srgbClr val="0D59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Parallelogram 32">
            <a:extLst>
              <a:ext uri="{FF2B5EF4-FFF2-40B4-BE49-F238E27FC236}">
                <a16:creationId xmlns:a16="http://schemas.microsoft.com/office/drawing/2014/main" id="{3A46F8B2-72CE-6AAC-6D61-E072ECEDED25}"/>
              </a:ext>
            </a:extLst>
          </p:cNvPr>
          <p:cNvSpPr/>
          <p:nvPr/>
        </p:nvSpPr>
        <p:spPr>
          <a:xfrm>
            <a:off x="8190600" y="6346894"/>
            <a:ext cx="522680" cy="516195"/>
          </a:xfrm>
          <a:prstGeom prst="parallelogram">
            <a:avLst>
              <a:gd name="adj" fmla="val 94827"/>
            </a:avLst>
          </a:prstGeom>
          <a:solidFill>
            <a:srgbClr val="0D59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Parallelogram 24">
            <a:extLst>
              <a:ext uri="{FF2B5EF4-FFF2-40B4-BE49-F238E27FC236}">
                <a16:creationId xmlns:a16="http://schemas.microsoft.com/office/drawing/2014/main" id="{CE36FEDF-B37F-18E5-F2E3-CD3E91088C74}"/>
              </a:ext>
            </a:extLst>
          </p:cNvPr>
          <p:cNvSpPr/>
          <p:nvPr/>
        </p:nvSpPr>
        <p:spPr>
          <a:xfrm>
            <a:off x="7952465" y="6346579"/>
            <a:ext cx="522680" cy="516195"/>
          </a:xfrm>
          <a:prstGeom prst="parallelogram">
            <a:avLst>
              <a:gd name="adj" fmla="val 94827"/>
            </a:avLst>
          </a:prstGeom>
          <a:solidFill>
            <a:srgbClr val="0D59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1" name="TextBox 1030"/>
          <p:cNvSpPr txBox="1"/>
          <p:nvPr/>
        </p:nvSpPr>
        <p:spPr>
          <a:xfrm>
            <a:off x="502920" y="2395728"/>
            <a:ext cx="11155680" cy="1280160"/>
          </a:xfrm>
          <a:prstGeom prst="rect">
            <a:avLst/>
          </a:prstGeom>
          <a:noFill/>
        </p:spPr>
        <p:txBody>
          <a:bodyPr wrap="square" anchor="t" lIns="0" rIns="0" tIns="0" bIns="0">
            <a:spAutoFit/>
          </a:bodyPr>
          <a:lstStyle/>
          <a:p>
            <a:pPr algn="ctr">
              <a:spcBef>
                <a:spcPts val="0"/>
              </a:spcBef>
              <a:spcAft>
                <a:spcPts val="0"/>
              </a:spcAft>
            </a:pPr>
            <a:r>
              <a:rPr sz="3000" b="1" i="0">
                <a:solidFill>
                  <a:srgbClr val="000000"/>
                </a:solidFill>
                <a:latin typeface="Arial"/>
              </a:rPr>
              <a:t>Characterizing the Transcriptomic Recurrence Signature of Glioblastoma Following Laser Interstitial Thermal Therapy</a:t>
            </a:r>
          </a:p>
        </p:txBody>
      </p:sp>
      <p:sp>
        <p:nvSpPr>
          <p:cNvPr id="1032" name="TextBox 1031"/>
          <p:cNvSpPr txBox="1"/>
          <p:nvPr/>
        </p:nvSpPr>
        <p:spPr>
          <a:xfrm>
            <a:off x="530352" y="3968496"/>
            <a:ext cx="10607040" cy="457200"/>
          </a:xfrm>
          <a:prstGeom prst="rect">
            <a:avLst/>
          </a:prstGeom>
          <a:noFill/>
        </p:spPr>
        <p:txBody>
          <a:bodyPr wrap="square" anchor="t" lIns="0" rIns="0" tIns="0" bIns="0">
            <a:spAutoFit/>
          </a:bodyPr>
          <a:lstStyle/>
          <a:p>
            <a:pPr algn="l">
              <a:spcBef>
                <a:spcPts val="0"/>
              </a:spcBef>
              <a:spcAft>
                <a:spcPts val="600"/>
              </a:spcAft>
            </a:pPr>
            <a:r>
              <a:rPr sz="1500" b="0" i="0">
                <a:solidFill>
                  <a:srgbClr val="000000"/>
                </a:solidFill>
                <a:latin typeface="Arial"/>
              </a:rPr>
              <a:t>Gregory J. Schwing, MD, PhD¹   ·   Tavarekere N. Nagaraja, PhD²   ·   Indrani Datta, DHI²   ·   Ian Y. Lee, MD²</a:t>
            </a:r>
          </a:p>
        </p:txBody>
      </p:sp>
      <p:sp>
        <p:nvSpPr>
          <p:cNvPr id="1033" name="TextBox 1032"/>
          <p:cNvSpPr txBox="1"/>
          <p:nvPr/>
        </p:nvSpPr>
        <p:spPr>
          <a:xfrm>
            <a:off x="530352" y="4626864"/>
            <a:ext cx="7955279" cy="685800"/>
          </a:xfrm>
          <a:prstGeom prst="rect">
            <a:avLst/>
          </a:prstGeom>
          <a:noFill/>
        </p:spPr>
        <p:txBody>
          <a:bodyPr wrap="square" anchor="t" lIns="0" rIns="0" tIns="0" bIns="0">
            <a:spAutoFit/>
          </a:bodyPr>
          <a:lstStyle/>
          <a:p>
            <a:pPr algn="l">
              <a:spcBef>
                <a:spcPts val="0"/>
              </a:spcBef>
              <a:spcAft>
                <a:spcPts val="200"/>
              </a:spcAft>
            </a:pPr>
            <a:r>
              <a:rPr sz="1150" b="0" i="0">
                <a:solidFill>
                  <a:srgbClr val="595959"/>
                </a:solidFill>
                <a:latin typeface="Arial"/>
              </a:rPr>
              <a:t>¹ Department of General Surgery, Detroit Medical Center / Wayne State University, Detroit, MI</a:t>
            </a:r>
          </a:p>
          <a:p>
            <a:pPr algn="l">
              <a:spcBef>
                <a:spcPts val="0"/>
              </a:spcBef>
              <a:spcAft>
                <a:spcPts val="0"/>
              </a:spcAft>
            </a:pPr>
            <a:r>
              <a:rPr sz="1150" b="0" i="0">
                <a:solidFill>
                  <a:srgbClr val="595959"/>
                </a:solidFill>
                <a:latin typeface="Arial"/>
              </a:rPr>
              <a:t>² Department of Neurosurgery, Hermelin Brain Tumor Center, Henry Ford Health, Detroit, MI</a:t>
            </a:r>
          </a:p>
        </p:txBody>
      </p:sp>
      <p:sp>
        <p:nvSpPr>
          <p:cNvPr id="1034" name="TextBox 1033"/>
          <p:cNvSpPr txBox="1"/>
          <p:nvPr/>
        </p:nvSpPr>
        <p:spPr>
          <a:xfrm>
            <a:off x="530352" y="5504688"/>
            <a:ext cx="6309360" cy="640080"/>
          </a:xfrm>
          <a:prstGeom prst="rect">
            <a:avLst/>
          </a:prstGeom>
          <a:noFill/>
        </p:spPr>
        <p:txBody>
          <a:bodyPr wrap="square" anchor="t" lIns="0" rIns="0" tIns="0" bIns="0">
            <a:spAutoFit/>
          </a:bodyPr>
          <a:lstStyle/>
          <a:p>
            <a:pPr algn="l">
              <a:spcBef>
                <a:spcPts val="0"/>
              </a:spcBef>
              <a:spcAft>
                <a:spcPts val="200"/>
              </a:spcAft>
            </a:pPr>
            <a:r>
              <a:rPr sz="1300" b="1" i="0">
                <a:solidFill>
                  <a:srgbClr val="095945"/>
                </a:solidFill>
                <a:latin typeface="Arial"/>
              </a:rPr>
              <a:t>Abstract 418   ·   Sunrise Science Session – Tumor 2</a:t>
            </a:r>
          </a:p>
          <a:p>
            <a:pPr algn="l">
              <a:spcBef>
                <a:spcPts val="0"/>
              </a:spcBef>
              <a:spcAft>
                <a:spcPts val="0"/>
              </a:spcAft>
            </a:pPr>
            <a:r>
              <a:rPr sz="1300" b="0" i="0">
                <a:solidFill>
                  <a:srgbClr val="095945"/>
                </a:solidFill>
                <a:latin typeface="Arial"/>
              </a:rPr>
              <a:t>Monday, November 2, 2026   ·   7:00 AM</a:t>
            </a:r>
          </a:p>
        </p:txBody>
      </p:sp>
      <p:sp>
        <p:nvSpPr>
          <p:cNvPr id="1035" name="TextBox 1034"/>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b="0" i="0">
                <a:solidFill>
                  <a:srgbClr val="FFFFFF"/>
                </a:solidFill>
                <a:latin typeface="Arial"/>
              </a:rPr>
              <a:t>CNS 2026  ·  Washington, DC  ·  Abstract 418</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b="0">
                <a:solidFill>
                  <a:srgbClr val="000000"/>
                </a:solidFill>
                <a:latin typeface="Arial"/>
              </a:rPr>
              <a:t>Disclosures</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b="0">
                <a:solidFill>
                  <a:srgbClr val="000000"/>
                </a:solidFill>
                <a:latin typeface="Arial"/>
              </a:rPr>
              <a:t>Disclosures</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5"/>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b="0" i="0">
                <a:solidFill>
                  <a:srgbClr val="FFFFFF"/>
                </a:solidFill>
                <a:latin typeface="Arial"/>
              </a:rPr>
              <a:t>CNS 2026  ·  Washington, DC  ·  Abstract 418</a:t>
            </a:r>
          </a:p>
        </p:txBody>
      </p:sp>
      <p:sp>
        <p:nvSpPr>
          <p:cNvPr id="25" name="TextBox 24"/>
          <p:cNvSpPr txBox="1"/>
          <p:nvPr/>
        </p:nvSpPr>
        <p:spPr>
          <a:xfrm>
            <a:off x="256032" y="1371600"/>
            <a:ext cx="10881360" cy="3108960"/>
          </a:xfrm>
          <a:prstGeom prst="rect">
            <a:avLst/>
          </a:prstGeom>
          <a:noFill/>
        </p:spPr>
        <p:txBody>
          <a:bodyPr wrap="square" anchor="t" lIns="0" rIns="0" tIns="0" bIns="0">
            <a:spAutoFit/>
          </a:bodyPr>
          <a:lstStyle/>
          <a:p>
            <a:pPr algn="l">
              <a:spcBef>
                <a:spcPts val="0"/>
              </a:spcBef>
              <a:spcAft>
                <a:spcPts val="1400"/>
              </a:spcAft>
            </a:pPr>
            <a:r>
              <a:rPr sz="1800" b="1" i="0">
                <a:solidFill>
                  <a:srgbClr val="000000"/>
                </a:solidFill>
                <a:latin typeface="Arial"/>
              </a:rPr>
              <a:t>I.Y.L.</a:t>
            </a:r>
            <a:r>
              <a:rPr sz="1800" b="0" i="0">
                <a:solidFill>
                  <a:srgbClr val="000000"/>
                </a:solidFill>
                <a:latin typeface="Arial"/>
              </a:rPr>
              <a:t> has consulting agreements with Medtronic, Inc. (Minneapolis, MN) and Monteris Medical, Inc. (Plymouth, MN).</a:t>
            </a:r>
          </a:p>
          <a:p>
            <a:pPr algn="l">
              <a:spcBef>
                <a:spcPts val="0"/>
              </a:spcBef>
              <a:spcAft>
                <a:spcPts val="2600"/>
              </a:spcAft>
            </a:pPr>
            <a:r>
              <a:rPr sz="1800" b="0" i="0">
                <a:solidFill>
                  <a:srgbClr val="000000"/>
                </a:solidFill>
                <a:latin typeface="Arial"/>
              </a:rPr>
              <a:t>All other authors declare no conflicts of interest.</a:t>
            </a:r>
          </a:p>
          <a:p>
            <a:pPr algn="l">
              <a:spcBef>
                <a:spcPts val="0"/>
              </a:spcBef>
              <a:spcAft>
                <a:spcPts val="1400"/>
              </a:spcAft>
            </a:pPr>
            <a:r>
              <a:rPr sz="1600" b="0" i="0">
                <a:solidFill>
                  <a:srgbClr val="595959"/>
                </a:solidFill>
                <a:latin typeface="Arial"/>
              </a:rPr>
              <a:t>Supported by a Henry Ford Health Physician Scientist Award A20050 (I.Y.L.). No commercial support was received for this analysis.</a:t>
            </a:r>
          </a:p>
          <a:p>
            <a:pPr algn="l">
              <a:spcBef>
                <a:spcPts val="0"/>
              </a:spcBef>
              <a:spcAft>
                <a:spcPts val="0"/>
              </a:spcAft>
            </a:pPr>
            <a:r>
              <a:rPr sz="1600" b="0" i="0">
                <a:solidFill>
                  <a:srgbClr val="595959"/>
                </a:solidFill>
                <a:latin typeface="Arial"/>
              </a:rPr>
              <a:t>Drug candidates discussed here are computational predictions. No agent named in this talk is approved or under study for this indication.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b="0">
                <a:solidFill>
                  <a:srgbClr val="000000"/>
                </a:solidFill>
                <a:latin typeface="Arial"/>
              </a:rPr>
              <a:t>Overview</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b="0">
                <a:solidFill>
                  <a:srgbClr val="000000"/>
                </a:solidFill>
                <a:latin typeface="Arial"/>
              </a:rPr>
              <a:t>Where this is going</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5"/>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b="0" i="0">
                <a:solidFill>
                  <a:srgbClr val="FFFFFF"/>
                </a:solidFill>
                <a:latin typeface="Arial"/>
              </a:rPr>
              <a:t>CNS 2026  ·  Washington, DC  ·  Abstract 418</a:t>
            </a:r>
          </a:p>
        </p:txBody>
      </p:sp>
      <p:sp>
        <p:nvSpPr>
          <p:cNvPr id="25" name="Rectangle 24"/>
          <p:cNvSpPr/>
          <p:nvPr/>
        </p:nvSpPr>
        <p:spPr>
          <a:xfrm>
            <a:off x="274320" y="1481328"/>
            <a:ext cx="475488" cy="475488"/>
          </a:xfrm>
          <a:prstGeom prst="rect">
            <a:avLst/>
          </a:prstGeom>
          <a:solidFill>
            <a:srgbClr val="0959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0"/>
              </a:spcAft>
            </a:pPr>
            <a:r>
              <a:rPr sz="1700" b="1">
                <a:solidFill>
                  <a:srgbClr val="FFFFFF"/>
                </a:solidFill>
                <a:latin typeface="Arial"/>
              </a:rPr>
              <a:t>1</a:t>
            </a:r>
          </a:p>
        </p:txBody>
      </p:sp>
      <p:sp>
        <p:nvSpPr>
          <p:cNvPr id="26" name="TextBox 25"/>
          <p:cNvSpPr txBox="1"/>
          <p:nvPr/>
        </p:nvSpPr>
        <p:spPr>
          <a:xfrm>
            <a:off x="932688" y="1453896"/>
            <a:ext cx="10332720" cy="777240"/>
          </a:xfrm>
          <a:prstGeom prst="rect">
            <a:avLst/>
          </a:prstGeom>
          <a:noFill/>
        </p:spPr>
        <p:txBody>
          <a:bodyPr wrap="square" anchor="t" lIns="0" rIns="0" tIns="0" bIns="0">
            <a:spAutoFit/>
          </a:bodyPr>
          <a:lstStyle/>
          <a:p>
            <a:pPr algn="l">
              <a:spcBef>
                <a:spcPts val="0"/>
              </a:spcBef>
              <a:spcAft>
                <a:spcPts val="0"/>
              </a:spcAft>
            </a:pPr>
            <a:r>
              <a:rPr sz="1800" b="1" i="0">
                <a:solidFill>
                  <a:srgbClr val="000000"/>
                </a:solidFill>
                <a:latin typeface="Arial"/>
              </a:rPr>
              <a:t>The problem</a:t>
            </a:r>
            <a:r>
              <a:rPr sz="1800" b="0" i="0">
                <a:solidFill>
                  <a:srgbClr val="000000"/>
                </a:solidFill>
                <a:latin typeface="Arial"/>
              </a:rPr>
              <a:t> — LITT kills the core; the cells that come back sat in the sublethal margin</a:t>
            </a:r>
          </a:p>
        </p:txBody>
      </p:sp>
      <p:sp>
        <p:nvSpPr>
          <p:cNvPr id="27" name="Rectangle 26"/>
          <p:cNvSpPr/>
          <p:nvPr/>
        </p:nvSpPr>
        <p:spPr>
          <a:xfrm>
            <a:off x="274320" y="2340864"/>
            <a:ext cx="475488" cy="475488"/>
          </a:xfrm>
          <a:prstGeom prst="rect">
            <a:avLst/>
          </a:prstGeom>
          <a:solidFill>
            <a:srgbClr val="0959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0"/>
              </a:spcAft>
            </a:pPr>
            <a:r>
              <a:rPr sz="1700" b="1">
                <a:solidFill>
                  <a:srgbClr val="FFFFFF"/>
                </a:solidFill>
                <a:latin typeface="Arial"/>
              </a:rPr>
              <a:t>2</a:t>
            </a:r>
          </a:p>
        </p:txBody>
      </p:sp>
      <p:sp>
        <p:nvSpPr>
          <p:cNvPr id="28" name="TextBox 27"/>
          <p:cNvSpPr txBox="1"/>
          <p:nvPr/>
        </p:nvSpPr>
        <p:spPr>
          <a:xfrm>
            <a:off x="932688" y="2313432"/>
            <a:ext cx="10332720" cy="777240"/>
          </a:xfrm>
          <a:prstGeom prst="rect">
            <a:avLst/>
          </a:prstGeom>
          <a:noFill/>
        </p:spPr>
        <p:txBody>
          <a:bodyPr wrap="square" anchor="t" lIns="0" rIns="0" tIns="0" bIns="0">
            <a:spAutoFit/>
          </a:bodyPr>
          <a:lstStyle/>
          <a:p>
            <a:pPr algn="l">
              <a:spcBef>
                <a:spcPts val="0"/>
              </a:spcBef>
              <a:spcAft>
                <a:spcPts val="0"/>
              </a:spcAft>
            </a:pPr>
            <a:r>
              <a:rPr sz="1800" b="1" i="0">
                <a:solidFill>
                  <a:srgbClr val="000000"/>
                </a:solidFill>
                <a:latin typeface="Arial"/>
              </a:rPr>
              <a:t>The model</a:t>
            </a:r>
            <a:r>
              <a:rPr sz="1800" b="0" i="0">
                <a:solidFill>
                  <a:srgbClr val="000000"/>
                </a:solidFill>
                <a:latin typeface="Arial"/>
              </a:rPr>
              <a:t> — MRI-guided LITT in an orthotopic rat xenograft, primary and recurrent tumors matched</a:t>
            </a:r>
          </a:p>
        </p:txBody>
      </p:sp>
      <p:sp>
        <p:nvSpPr>
          <p:cNvPr id="29" name="Rectangle 28"/>
          <p:cNvSpPr/>
          <p:nvPr/>
        </p:nvSpPr>
        <p:spPr>
          <a:xfrm>
            <a:off x="274320" y="3200400"/>
            <a:ext cx="475488" cy="475488"/>
          </a:xfrm>
          <a:prstGeom prst="rect">
            <a:avLst/>
          </a:prstGeom>
          <a:solidFill>
            <a:srgbClr val="0959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0"/>
              </a:spcAft>
            </a:pPr>
            <a:r>
              <a:rPr sz="1700" b="1">
                <a:solidFill>
                  <a:srgbClr val="FFFFFF"/>
                </a:solidFill>
                <a:latin typeface="Arial"/>
              </a:rPr>
              <a:t>3</a:t>
            </a:r>
          </a:p>
        </p:txBody>
      </p:sp>
      <p:sp>
        <p:nvSpPr>
          <p:cNvPr id="30" name="TextBox 29"/>
          <p:cNvSpPr txBox="1"/>
          <p:nvPr/>
        </p:nvSpPr>
        <p:spPr>
          <a:xfrm>
            <a:off x="932688" y="3172968"/>
            <a:ext cx="10332720" cy="777240"/>
          </a:xfrm>
          <a:prstGeom prst="rect">
            <a:avLst/>
          </a:prstGeom>
          <a:noFill/>
        </p:spPr>
        <p:txBody>
          <a:bodyPr wrap="square" anchor="t" lIns="0" rIns="0" tIns="0" bIns="0">
            <a:spAutoFit/>
          </a:bodyPr>
          <a:lstStyle/>
          <a:p>
            <a:pPr algn="l">
              <a:spcBef>
                <a:spcPts val="0"/>
              </a:spcBef>
              <a:spcAft>
                <a:spcPts val="0"/>
              </a:spcAft>
            </a:pPr>
            <a:r>
              <a:rPr sz="1800" b="1" i="0">
                <a:solidFill>
                  <a:srgbClr val="000000"/>
                </a:solidFill>
                <a:latin typeface="Arial"/>
              </a:rPr>
              <a:t>The finding</a:t>
            </a:r>
            <a:r>
              <a:rPr sz="1800" b="0" i="0">
                <a:solidFill>
                  <a:srgbClr val="000000"/>
                </a:solidFill>
                <a:latin typeface="Arial"/>
              </a:rPr>
              <a:t> — the recurrent transcriptome switches protein synthesis off</a:t>
            </a:r>
          </a:p>
        </p:txBody>
      </p:sp>
      <p:sp>
        <p:nvSpPr>
          <p:cNvPr id="31" name="Rectangle 30"/>
          <p:cNvSpPr/>
          <p:nvPr/>
        </p:nvSpPr>
        <p:spPr>
          <a:xfrm>
            <a:off x="274320" y="4059935"/>
            <a:ext cx="475488" cy="475488"/>
          </a:xfrm>
          <a:prstGeom prst="rect">
            <a:avLst/>
          </a:prstGeom>
          <a:solidFill>
            <a:srgbClr val="0959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0"/>
              </a:spcAft>
            </a:pPr>
            <a:r>
              <a:rPr sz="1700" b="1">
                <a:solidFill>
                  <a:srgbClr val="FFFFFF"/>
                </a:solidFill>
                <a:latin typeface="Arial"/>
              </a:rPr>
              <a:t>4</a:t>
            </a:r>
          </a:p>
        </p:txBody>
      </p:sp>
      <p:sp>
        <p:nvSpPr>
          <p:cNvPr id="32" name="TextBox 31"/>
          <p:cNvSpPr txBox="1"/>
          <p:nvPr/>
        </p:nvSpPr>
        <p:spPr>
          <a:xfrm>
            <a:off x="932688" y="4032503"/>
            <a:ext cx="10332720" cy="777240"/>
          </a:xfrm>
          <a:prstGeom prst="rect">
            <a:avLst/>
          </a:prstGeom>
          <a:noFill/>
        </p:spPr>
        <p:txBody>
          <a:bodyPr wrap="square" anchor="t" lIns="0" rIns="0" tIns="0" bIns="0">
            <a:spAutoFit/>
          </a:bodyPr>
          <a:lstStyle/>
          <a:p>
            <a:pPr algn="l">
              <a:spcBef>
                <a:spcPts val="0"/>
              </a:spcBef>
              <a:spcAft>
                <a:spcPts val="0"/>
              </a:spcAft>
            </a:pPr>
            <a:r>
              <a:rPr sz="1800" b="1" i="0">
                <a:solidFill>
                  <a:srgbClr val="000000"/>
                </a:solidFill>
                <a:latin typeface="Arial"/>
              </a:rPr>
              <a:t>The convergence</a:t>
            </a:r>
            <a:r>
              <a:rPr sz="1800" b="0" i="0">
                <a:solidFill>
                  <a:srgbClr val="000000"/>
                </a:solidFill>
                <a:latin typeface="Arial"/>
              </a:rPr>
              <a:t> — subtype scores and network hubs point the same way</a:t>
            </a:r>
          </a:p>
        </p:txBody>
      </p:sp>
      <p:sp>
        <p:nvSpPr>
          <p:cNvPr id="33" name="Rectangle 32"/>
          <p:cNvSpPr/>
          <p:nvPr/>
        </p:nvSpPr>
        <p:spPr>
          <a:xfrm>
            <a:off x="274320" y="4919472"/>
            <a:ext cx="475488" cy="475488"/>
          </a:xfrm>
          <a:prstGeom prst="rect">
            <a:avLst/>
          </a:prstGeom>
          <a:solidFill>
            <a:srgbClr val="0959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0"/>
              </a:spcAft>
            </a:pPr>
            <a:r>
              <a:rPr sz="1700" b="1">
                <a:solidFill>
                  <a:srgbClr val="FFFFFF"/>
                </a:solidFill>
                <a:latin typeface="Arial"/>
              </a:rPr>
              <a:t>5</a:t>
            </a:r>
          </a:p>
        </p:txBody>
      </p:sp>
      <p:sp>
        <p:nvSpPr>
          <p:cNvPr id="34" name="TextBox 33"/>
          <p:cNvSpPr txBox="1"/>
          <p:nvPr/>
        </p:nvSpPr>
        <p:spPr>
          <a:xfrm>
            <a:off x="932688" y="4892040"/>
            <a:ext cx="10332720" cy="777240"/>
          </a:xfrm>
          <a:prstGeom prst="rect">
            <a:avLst/>
          </a:prstGeom>
          <a:noFill/>
        </p:spPr>
        <p:txBody>
          <a:bodyPr wrap="square" anchor="t" lIns="0" rIns="0" tIns="0" bIns="0">
            <a:spAutoFit/>
          </a:bodyPr>
          <a:lstStyle/>
          <a:p>
            <a:pPr algn="l">
              <a:spcBef>
                <a:spcPts val="0"/>
              </a:spcBef>
              <a:spcAft>
                <a:spcPts val="0"/>
              </a:spcAft>
            </a:pPr>
            <a:r>
              <a:rPr sz="1800" b="1" i="0">
                <a:solidFill>
                  <a:srgbClr val="000000"/>
                </a:solidFill>
                <a:latin typeface="Arial"/>
              </a:rPr>
              <a:t>The opening</a:t>
            </a:r>
            <a:r>
              <a:rPr sz="1800" b="0" i="0">
                <a:solidFill>
                  <a:srgbClr val="000000"/>
                </a:solidFill>
                <a:latin typeface="Arial"/>
              </a:rPr>
              <a:t> — which existing, brain-penetrant drugs oppose that state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b="0">
                <a:solidFill>
                  <a:srgbClr val="000000"/>
                </a:solidFill>
                <a:latin typeface="Arial"/>
              </a:rPr>
              <a:t>Background</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b="0">
                <a:solidFill>
                  <a:srgbClr val="000000"/>
                </a:solidFill>
                <a:latin typeface="Arial"/>
              </a:rPr>
              <a:t>LITT ablates the core; recurrence starts at the margin</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5"/>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b="0" i="0">
                <a:solidFill>
                  <a:srgbClr val="FFFFFF"/>
                </a:solidFill>
                <a:latin typeface="Arial"/>
              </a:rPr>
              <a:t>CNS 2026  ·  Washington, DC  ·  Abstract 418</a:t>
            </a:r>
          </a:p>
        </p:txBody>
      </p:sp>
      <p:sp>
        <p:nvSpPr>
          <p:cNvPr id="25" name="TextBox 24"/>
          <p:cNvSpPr txBox="1"/>
          <p:nvPr/>
        </p:nvSpPr>
        <p:spPr>
          <a:xfrm>
            <a:off x="256032" y="1371600"/>
            <a:ext cx="6492240" cy="3840480"/>
          </a:xfrm>
          <a:prstGeom prst="rect">
            <a:avLst/>
          </a:prstGeom>
          <a:noFill/>
        </p:spPr>
        <p:txBody>
          <a:bodyPr wrap="square" anchor="t" lIns="0" rIns="0" tIns="0" bIns="0">
            <a:spAutoFit/>
          </a:bodyPr>
          <a:lstStyle/>
          <a:p>
            <a:pPr algn="l">
              <a:spcBef>
                <a:spcPts val="0"/>
              </a:spcBef>
              <a:spcAft>
                <a:spcPts val="1800"/>
              </a:spcAft>
            </a:pPr>
            <a:r>
              <a:rPr sz="1800" b="0" i="0">
                <a:solidFill>
                  <a:srgbClr val="000000"/>
                </a:solidFill>
                <a:latin typeface="Arial"/>
              </a:rPr>
              <a:t>LITT is increasingly used for deep-seated and recurrent glioblastoma, where open resection carries high morbidity.¹</a:t>
            </a:r>
          </a:p>
          <a:p>
            <a:pPr algn="l">
              <a:spcBef>
                <a:spcPts val="0"/>
              </a:spcBef>
              <a:spcAft>
                <a:spcPts val="1800"/>
              </a:spcAft>
            </a:pPr>
            <a:r>
              <a:rPr sz="1800" b="0" i="0">
                <a:solidFill>
                  <a:srgbClr val="000000"/>
                </a:solidFill>
                <a:latin typeface="Arial"/>
              </a:rPr>
              <a:t>Thermal dose falls off with distance from the fiber. Beyond the ablative threshold lies a </a:t>
            </a:r>
            <a:r>
              <a:rPr sz="1800" b="1" i="0">
                <a:solidFill>
                  <a:srgbClr val="000000"/>
                </a:solidFill>
                <a:latin typeface="Arial"/>
              </a:rPr>
              <a:t>sublethal margin</a:t>
            </a:r>
            <a:r>
              <a:rPr sz="1800" b="0" i="0">
                <a:solidFill>
                  <a:srgbClr val="000000"/>
                </a:solidFill>
                <a:latin typeface="Arial"/>
              </a:rPr>
              <a:t>.</a:t>
            </a:r>
          </a:p>
          <a:p>
            <a:pPr algn="l">
              <a:spcBef>
                <a:spcPts val="0"/>
              </a:spcBef>
              <a:spcAft>
                <a:spcPts val="0"/>
              </a:spcAft>
            </a:pPr>
            <a:r>
              <a:rPr sz="1900" b="1" i="0">
                <a:solidFill>
                  <a:srgbClr val="095945"/>
                </a:solidFill>
                <a:latin typeface="Arial"/>
              </a:rPr>
              <a:t>The cells that seed recurrence are the ones that survive there.</a:t>
            </a:r>
          </a:p>
        </p:txBody>
      </p:sp>
      <p:sp>
        <p:nvSpPr>
          <p:cNvPr id="26" name="Oval 25"/>
          <p:cNvSpPr/>
          <p:nvPr/>
        </p:nvSpPr>
        <p:spPr>
          <a:xfrm>
            <a:off x="7178040" y="1828800"/>
            <a:ext cx="4572000" cy="3474720"/>
          </a:xfrm>
          <a:prstGeom prst="ellipse">
            <a:avLst/>
          </a:prstGeom>
          <a:solidFill>
            <a:srgbClr val="F4F7F6"/>
          </a:solidFill>
          <a:ln w="12700">
            <a:solidFill>
              <a:srgbClr val="C8D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32419" y="2423160"/>
            <a:ext cx="3063240" cy="2286000"/>
          </a:xfrm>
          <a:prstGeom prst="ellipse">
            <a:avLst/>
          </a:prstGeom>
          <a:solidFill>
            <a:srgbClr val="C3D8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732519" y="3040380"/>
            <a:ext cx="1463040" cy="1051560"/>
          </a:xfrm>
          <a:prstGeom prst="ellipse">
            <a:avLst/>
          </a:prstGeom>
          <a:solidFill>
            <a:srgbClr val="095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732519" y="3447288"/>
            <a:ext cx="1463040" cy="274320"/>
          </a:xfrm>
          <a:prstGeom prst="rect">
            <a:avLst/>
          </a:prstGeom>
          <a:noFill/>
        </p:spPr>
        <p:txBody>
          <a:bodyPr wrap="square" anchor="t" lIns="0" rIns="0" tIns="0" bIns="0">
            <a:spAutoFit/>
          </a:bodyPr>
          <a:lstStyle/>
          <a:p>
            <a:pPr algn="ctr">
              <a:spcBef>
                <a:spcPts val="0"/>
              </a:spcBef>
              <a:spcAft>
                <a:spcPts val="0"/>
              </a:spcAft>
            </a:pPr>
            <a:r>
              <a:rPr sz="1200" b="1" i="0">
                <a:solidFill>
                  <a:srgbClr val="FFFFFF"/>
                </a:solidFill>
                <a:latin typeface="Arial"/>
              </a:rPr>
              <a:t>ablation core</a:t>
            </a:r>
          </a:p>
        </p:txBody>
      </p:sp>
      <p:sp>
        <p:nvSpPr>
          <p:cNvPr id="30" name="TextBox 29"/>
          <p:cNvSpPr txBox="1"/>
          <p:nvPr/>
        </p:nvSpPr>
        <p:spPr>
          <a:xfrm>
            <a:off x="7927848" y="2596896"/>
            <a:ext cx="3072384" cy="274320"/>
          </a:xfrm>
          <a:prstGeom prst="rect">
            <a:avLst/>
          </a:prstGeom>
          <a:noFill/>
        </p:spPr>
        <p:txBody>
          <a:bodyPr wrap="square" anchor="t" lIns="0" rIns="0" tIns="0" bIns="0">
            <a:spAutoFit/>
          </a:bodyPr>
          <a:lstStyle/>
          <a:p>
            <a:pPr algn="ctr">
              <a:spcBef>
                <a:spcPts val="0"/>
              </a:spcBef>
              <a:spcAft>
                <a:spcPts val="0"/>
              </a:spcAft>
            </a:pPr>
            <a:r>
              <a:rPr sz="1250" b="1" i="0">
                <a:solidFill>
                  <a:srgbClr val="095945"/>
                </a:solidFill>
                <a:latin typeface="Arial"/>
              </a:rPr>
              <a:t>sublethal margin</a:t>
            </a:r>
          </a:p>
        </p:txBody>
      </p:sp>
      <p:sp>
        <p:nvSpPr>
          <p:cNvPr id="31" name="TextBox 30"/>
          <p:cNvSpPr txBox="1"/>
          <p:nvPr/>
        </p:nvSpPr>
        <p:spPr>
          <a:xfrm>
            <a:off x="7178040" y="1956815"/>
            <a:ext cx="4572000" cy="274320"/>
          </a:xfrm>
          <a:prstGeom prst="rect">
            <a:avLst/>
          </a:prstGeom>
          <a:noFill/>
        </p:spPr>
        <p:txBody>
          <a:bodyPr wrap="square" anchor="t" lIns="0" rIns="0" tIns="0" bIns="0">
            <a:spAutoFit/>
          </a:bodyPr>
          <a:lstStyle/>
          <a:p>
            <a:pPr algn="ctr">
              <a:spcBef>
                <a:spcPts val="0"/>
              </a:spcBef>
              <a:spcAft>
                <a:spcPts val="0"/>
              </a:spcAft>
            </a:pPr>
            <a:r>
              <a:rPr sz="1200" b="0" i="0">
                <a:solidFill>
                  <a:srgbClr val="595959"/>
                </a:solidFill>
                <a:latin typeface="Arial"/>
              </a:rPr>
              <a:t>peritumoral brain</a:t>
            </a:r>
          </a:p>
        </p:txBody>
      </p:sp>
      <p:sp>
        <p:nvSpPr>
          <p:cNvPr id="32" name="TextBox 31"/>
          <p:cNvSpPr txBox="1"/>
          <p:nvPr/>
        </p:nvSpPr>
        <p:spPr>
          <a:xfrm>
            <a:off x="1325880" y="5989320"/>
            <a:ext cx="10424160" cy="365760"/>
          </a:xfrm>
          <a:prstGeom prst="rect">
            <a:avLst/>
          </a:prstGeom>
          <a:noFill/>
        </p:spPr>
        <p:txBody>
          <a:bodyPr wrap="square" anchor="t" lIns="0" rIns="0" tIns="0" bIns="0">
            <a:spAutoFit/>
          </a:bodyPr>
          <a:lstStyle/>
          <a:p>
            <a:pPr algn="l">
              <a:spcBef>
                <a:spcPts val="0"/>
              </a:spcBef>
              <a:spcAft>
                <a:spcPts val="100"/>
              </a:spcAft>
            </a:pPr>
            <a:r>
              <a:rPr sz="900" b="0" i="0">
                <a:solidFill>
                  <a:srgbClr val="595959"/>
                </a:solidFill>
                <a:latin typeface="Arial"/>
              </a:rPr>
              <a:t>1. Chen C, et al. J Neurooncol 2021;151:429–442.</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b="0">
                <a:solidFill>
                  <a:srgbClr val="000000"/>
                </a:solidFill>
                <a:latin typeface="Arial"/>
              </a:rPr>
              <a:t>Background</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b="0">
                <a:solidFill>
                  <a:srgbClr val="000000"/>
                </a:solidFill>
                <a:latin typeface="Arial"/>
              </a:rPr>
              <a:t>What that margin is known to do — and what it is not</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5"/>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b="0" i="0">
                <a:solidFill>
                  <a:srgbClr val="FFFFFF"/>
                </a:solidFill>
                <a:latin typeface="Arial"/>
              </a:rPr>
              <a:t>CNS 2026  ·  Washington, DC  ·  Abstract 418</a:t>
            </a:r>
          </a:p>
        </p:txBody>
      </p:sp>
      <p:sp>
        <p:nvSpPr>
          <p:cNvPr id="25" name="Rounded Rectangle 24"/>
          <p:cNvSpPr/>
          <p:nvPr/>
        </p:nvSpPr>
        <p:spPr>
          <a:xfrm>
            <a:off x="274320" y="1371600"/>
            <a:ext cx="5623560" cy="457200"/>
          </a:xfrm>
          <a:prstGeom prst="roundRect">
            <a:avLst/>
          </a:prstGeom>
          <a:solidFill>
            <a:srgbClr val="E8F0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spcAft>
                <a:spcPts val="0"/>
              </a:spcAft>
            </a:pPr>
            <a:r>
              <a:rPr sz="1500" b="1">
                <a:solidFill>
                  <a:srgbClr val="095945"/>
                </a:solidFill>
                <a:latin typeface="Arial"/>
              </a:rPr>
              <a:t>Already described</a:t>
            </a:r>
          </a:p>
        </p:txBody>
      </p:sp>
      <p:sp>
        <p:nvSpPr>
          <p:cNvPr id="26" name="TextBox 25"/>
          <p:cNvSpPr txBox="1"/>
          <p:nvPr/>
        </p:nvSpPr>
        <p:spPr>
          <a:xfrm>
            <a:off x="274320" y="2011680"/>
            <a:ext cx="5623560" cy="2377440"/>
          </a:xfrm>
          <a:prstGeom prst="rect">
            <a:avLst/>
          </a:prstGeom>
          <a:noFill/>
        </p:spPr>
        <p:txBody>
          <a:bodyPr wrap="square" anchor="t" lIns="0" rIns="0" tIns="0" bIns="0">
            <a:spAutoFit/>
          </a:bodyPr>
          <a:lstStyle/>
          <a:p>
            <a:pPr algn="l">
              <a:spcBef>
                <a:spcPts val="0"/>
              </a:spcBef>
              <a:spcAft>
                <a:spcPts val="1600"/>
              </a:spcAft>
            </a:pPr>
            <a:r>
              <a:rPr sz="1700" b="0" i="0">
                <a:solidFill>
                  <a:srgbClr val="000000"/>
                </a:solidFill>
                <a:latin typeface="Arial"/>
              </a:rPr>
              <a:t>Peri-ablation vessels transiently open the blood–brain barrier after ablation.²</a:t>
            </a:r>
          </a:p>
          <a:p>
            <a:pPr algn="l">
              <a:spcBef>
                <a:spcPts val="0"/>
              </a:spcBef>
              <a:spcAft>
                <a:spcPts val="0"/>
              </a:spcAft>
            </a:pPr>
            <a:r>
              <a:rPr sz="1700" b="0" i="0">
                <a:solidFill>
                  <a:srgbClr val="000000"/>
                </a:solidFill>
                <a:latin typeface="Arial"/>
              </a:rPr>
              <a:t>The immune microenvironment of the sublethal zone has been profiled in a rodent model.³</a:t>
            </a:r>
          </a:p>
        </p:txBody>
      </p:sp>
      <p:sp>
        <p:nvSpPr>
          <p:cNvPr id="27" name="Rounded Rectangle 26"/>
          <p:cNvSpPr/>
          <p:nvPr/>
        </p:nvSpPr>
        <p:spPr>
          <a:xfrm>
            <a:off x="6309360" y="1371600"/>
            <a:ext cx="5623560" cy="457200"/>
          </a:xfrm>
          <a:prstGeom prst="roundRect">
            <a:avLst/>
          </a:prstGeom>
          <a:solidFill>
            <a:srgbClr val="0959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spcAft>
                <a:spcPts val="0"/>
              </a:spcAft>
            </a:pPr>
            <a:r>
              <a:rPr sz="1500" b="1">
                <a:solidFill>
                  <a:srgbClr val="FFFFFF"/>
                </a:solidFill>
                <a:latin typeface="Arial"/>
              </a:rPr>
              <a:t>Not described</a:t>
            </a:r>
          </a:p>
        </p:txBody>
      </p:sp>
      <p:sp>
        <p:nvSpPr>
          <p:cNvPr id="28" name="TextBox 27"/>
          <p:cNvSpPr txBox="1"/>
          <p:nvPr/>
        </p:nvSpPr>
        <p:spPr>
          <a:xfrm>
            <a:off x="6309360" y="2011680"/>
            <a:ext cx="5623560" cy="2377440"/>
          </a:xfrm>
          <a:prstGeom prst="rect">
            <a:avLst/>
          </a:prstGeom>
          <a:noFill/>
        </p:spPr>
        <p:txBody>
          <a:bodyPr wrap="square" anchor="t" lIns="0" rIns="0" tIns="0" bIns="0">
            <a:spAutoFit/>
          </a:bodyPr>
          <a:lstStyle/>
          <a:p>
            <a:pPr algn="l">
              <a:spcBef>
                <a:spcPts val="0"/>
              </a:spcBef>
              <a:spcAft>
                <a:spcPts val="1600"/>
              </a:spcAft>
            </a:pPr>
            <a:r>
              <a:rPr sz="1700" b="1" i="0">
                <a:solidFill>
                  <a:srgbClr val="000000"/>
                </a:solidFill>
                <a:latin typeface="Arial"/>
              </a:rPr>
              <a:t>The cell-intrinsic transcriptional state of the residual tumor cells that survive ablation and repopulate the lesion.</a:t>
            </a:r>
          </a:p>
          <a:p>
            <a:pPr algn="l">
              <a:spcBef>
                <a:spcPts val="0"/>
              </a:spcBef>
              <a:spcAft>
                <a:spcPts val="0"/>
              </a:spcAft>
            </a:pPr>
            <a:r>
              <a:rPr sz="1700" b="0" i="0">
                <a:solidFill>
                  <a:srgbClr val="595959"/>
                </a:solidFill>
                <a:latin typeface="Arial"/>
              </a:rPr>
              <a:t>That is the gap this analysis addresses.</a:t>
            </a:r>
          </a:p>
        </p:txBody>
      </p:sp>
      <p:sp>
        <p:nvSpPr>
          <p:cNvPr id="29" name="Rounded Rectangle 28"/>
          <p:cNvSpPr/>
          <p:nvPr/>
        </p:nvSpPr>
        <p:spPr>
          <a:xfrm>
            <a:off x="274320" y="4663440"/>
            <a:ext cx="11658600" cy="868680"/>
          </a:xfrm>
          <a:prstGeom prst="roundRect">
            <a:avLst/>
          </a:prstGeom>
          <a:solidFill>
            <a:srgbClr val="E8F0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0"/>
              </a:spcAft>
            </a:pPr>
            <a:r>
              <a:rPr sz="1900" b="1">
                <a:solidFill>
                  <a:srgbClr val="095945"/>
                </a:solidFill>
                <a:latin typeface="Arial"/>
              </a:rPr>
              <a:t>Does post-LITT recurrence carry its own transcriptional program — and does that program point to a drug?</a:t>
            </a:r>
          </a:p>
        </p:txBody>
      </p:sp>
      <p:sp>
        <p:nvSpPr>
          <p:cNvPr id="30" name="TextBox 29"/>
          <p:cNvSpPr txBox="1"/>
          <p:nvPr/>
        </p:nvSpPr>
        <p:spPr>
          <a:xfrm>
            <a:off x="1325880" y="5989320"/>
            <a:ext cx="10424160" cy="365760"/>
          </a:xfrm>
          <a:prstGeom prst="rect">
            <a:avLst/>
          </a:prstGeom>
          <a:noFill/>
        </p:spPr>
        <p:txBody>
          <a:bodyPr wrap="square" anchor="t" lIns="0" rIns="0" tIns="0" bIns="0">
            <a:spAutoFit/>
          </a:bodyPr>
          <a:lstStyle/>
          <a:p>
            <a:pPr algn="l">
              <a:spcBef>
                <a:spcPts val="0"/>
              </a:spcBef>
              <a:spcAft>
                <a:spcPts val="100"/>
              </a:spcAft>
            </a:pPr>
            <a:r>
              <a:rPr sz="900" b="0" i="0">
                <a:solidFill>
                  <a:srgbClr val="595959"/>
                </a:solidFill>
                <a:latin typeface="Arial"/>
              </a:rPr>
              <a:t>2. Cleary RT, et al. Neuro Oncol 2026;28:1649–1661.    3. Tao R, et al. J Immunol 2026;215:vkaf327.</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b="0">
                <a:solidFill>
                  <a:srgbClr val="000000"/>
                </a:solidFill>
                <a:latin typeface="Arial"/>
              </a:rPr>
              <a:t>Methods</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b="0">
                <a:solidFill>
                  <a:srgbClr val="000000"/>
                </a:solidFill>
                <a:latin typeface="Arial"/>
              </a:rPr>
              <a:t>The model</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5"/>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b="0" i="0">
                <a:solidFill>
                  <a:srgbClr val="FFFFFF"/>
                </a:solidFill>
                <a:latin typeface="Arial"/>
              </a:rPr>
              <a:t>CNS 2026  ·  Washington, DC  ·  Abstract 418</a:t>
            </a:r>
          </a:p>
        </p:txBody>
      </p:sp>
      <p:sp>
        <p:nvSpPr>
          <p:cNvPr id="25" name="TextBox 24"/>
          <p:cNvSpPr txBox="1"/>
          <p:nvPr/>
        </p:nvSpPr>
        <p:spPr>
          <a:xfrm>
            <a:off x="256032" y="1298448"/>
            <a:ext cx="11430000" cy="365760"/>
          </a:xfrm>
          <a:prstGeom prst="rect">
            <a:avLst/>
          </a:prstGeom>
          <a:noFill/>
        </p:spPr>
        <p:txBody>
          <a:bodyPr wrap="square" anchor="t" lIns="0" rIns="0" tIns="0" bIns="0">
            <a:spAutoFit/>
          </a:bodyPr>
          <a:lstStyle/>
          <a:p>
            <a:pPr algn="l">
              <a:spcBef>
                <a:spcPts val="0"/>
              </a:spcBef>
              <a:spcAft>
                <a:spcPts val="0"/>
              </a:spcAft>
            </a:pPr>
            <a:r>
              <a:rPr sz="1700" b="0" i="0">
                <a:solidFill>
                  <a:srgbClr val="595959"/>
                </a:solidFill>
                <a:latin typeface="Arial"/>
              </a:rPr>
              <a:t>An orthotopic U251N glioblastoma xenograft in the athymic RNU/RNU rat, ablated under MRI guidance — a model our group established and characterized previously.⁴˒⁵</a:t>
            </a:r>
          </a:p>
        </p:txBody>
      </p:sp>
      <p:sp>
        <p:nvSpPr>
          <p:cNvPr id="26" name="Rounded Rectangle 25"/>
          <p:cNvSpPr/>
          <p:nvPr/>
        </p:nvSpPr>
        <p:spPr>
          <a:xfrm>
            <a:off x="502920" y="2103120"/>
            <a:ext cx="3429000" cy="1005840"/>
          </a:xfrm>
          <a:prstGeom prst="roundRect">
            <a:avLst/>
          </a:prstGeom>
          <a:solidFill>
            <a:srgbClr val="E8F0EE"/>
          </a:solidFill>
          <a:ln w="15875">
            <a:solidFill>
              <a:srgbClr val="095945"/>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0"/>
              </a:spcAft>
            </a:pPr>
            <a:r>
              <a:rPr sz="1600" b="1">
                <a:solidFill>
                  <a:srgbClr val="095945"/>
                </a:solidFill>
                <a:latin typeface="Arial"/>
              </a:rPr>
              <a:t>Orthotopic</a:t>
            </a:r>
          </a:p>
          <a:p>
            <a:pPr algn="ctr">
              <a:spcAft>
                <a:spcPts val="0"/>
              </a:spcAft>
            </a:pPr>
            <a:r>
              <a:rPr sz="1600" b="0">
                <a:solidFill>
                  <a:srgbClr val="095945"/>
                </a:solidFill>
                <a:latin typeface="Arial"/>
              </a:rPr>
              <a:t>U251N xenograft</a:t>
            </a:r>
          </a:p>
        </p:txBody>
      </p:sp>
      <p:sp>
        <p:nvSpPr>
          <p:cNvPr id="27" name="TextBox 26"/>
          <p:cNvSpPr txBox="1"/>
          <p:nvPr/>
        </p:nvSpPr>
        <p:spPr>
          <a:xfrm>
            <a:off x="502920" y="3236976"/>
            <a:ext cx="3429000" cy="822960"/>
          </a:xfrm>
          <a:prstGeom prst="rect">
            <a:avLst/>
          </a:prstGeom>
          <a:noFill/>
        </p:spPr>
        <p:txBody>
          <a:bodyPr wrap="square" anchor="t" lIns="0" rIns="0" tIns="0" bIns="0">
            <a:spAutoFit/>
          </a:bodyPr>
          <a:lstStyle/>
          <a:p>
            <a:pPr algn="ctr">
              <a:spcBef>
                <a:spcPts val="0"/>
              </a:spcBef>
              <a:spcAft>
                <a:spcPts val="100"/>
              </a:spcAft>
            </a:pPr>
            <a:r>
              <a:rPr sz="1300" b="0" i="0">
                <a:solidFill>
                  <a:srgbClr val="595959"/>
                </a:solidFill>
                <a:latin typeface="Arial"/>
              </a:rPr>
              <a:t>human glioblastoma line</a:t>
            </a:r>
          </a:p>
          <a:p>
            <a:pPr algn="ctr">
              <a:spcBef>
                <a:spcPts val="0"/>
              </a:spcBef>
              <a:spcAft>
                <a:spcPts val="100"/>
              </a:spcAft>
            </a:pPr>
            <a:r>
              <a:rPr sz="1300" b="0" i="0">
                <a:solidFill>
                  <a:srgbClr val="595959"/>
                </a:solidFill>
                <a:latin typeface="Arial"/>
              </a:rPr>
              <a:t>in the athymic RNU/RNU rat</a:t>
            </a:r>
          </a:p>
        </p:txBody>
      </p:sp>
      <p:sp>
        <p:nvSpPr>
          <p:cNvPr id="28" name="Isosceles Triangle 27"/>
          <p:cNvSpPr/>
          <p:nvPr/>
        </p:nvSpPr>
        <p:spPr>
          <a:xfrm rot="5400000">
            <a:off x="4023359" y="2514599"/>
            <a:ext cx="182880" cy="182880"/>
          </a:xfrm>
          <a:prstGeom prst="triangle">
            <a:avLst/>
          </a:prstGeom>
          <a:solidFill>
            <a:srgbClr val="6E9E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4434840" y="2103120"/>
            <a:ext cx="3429000" cy="1005840"/>
          </a:xfrm>
          <a:prstGeom prst="roundRect">
            <a:avLst/>
          </a:prstGeom>
          <a:solidFill>
            <a:srgbClr val="E8F0EE"/>
          </a:solidFill>
          <a:ln w="15875">
            <a:solidFill>
              <a:srgbClr val="095945"/>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0"/>
              </a:spcAft>
            </a:pPr>
            <a:r>
              <a:rPr sz="1600" b="1">
                <a:solidFill>
                  <a:srgbClr val="095945"/>
                </a:solidFill>
                <a:latin typeface="Arial"/>
              </a:rPr>
              <a:t>MRI-guided</a:t>
            </a:r>
          </a:p>
          <a:p>
            <a:pPr algn="ctr">
              <a:spcAft>
                <a:spcPts val="0"/>
              </a:spcAft>
            </a:pPr>
            <a:r>
              <a:rPr sz="1600" b="0">
                <a:solidFill>
                  <a:srgbClr val="095945"/>
                </a:solidFill>
                <a:latin typeface="Arial"/>
              </a:rPr>
              <a:t>LITT</a:t>
            </a:r>
          </a:p>
        </p:txBody>
      </p:sp>
      <p:sp>
        <p:nvSpPr>
          <p:cNvPr id="30" name="TextBox 29"/>
          <p:cNvSpPr txBox="1"/>
          <p:nvPr/>
        </p:nvSpPr>
        <p:spPr>
          <a:xfrm>
            <a:off x="4434840" y="3236976"/>
            <a:ext cx="3429000" cy="822960"/>
          </a:xfrm>
          <a:prstGeom prst="rect">
            <a:avLst/>
          </a:prstGeom>
          <a:noFill/>
        </p:spPr>
        <p:txBody>
          <a:bodyPr wrap="square" anchor="t" lIns="0" rIns="0" tIns="0" bIns="0">
            <a:spAutoFit/>
          </a:bodyPr>
          <a:lstStyle/>
          <a:p>
            <a:pPr algn="ctr">
              <a:spcBef>
                <a:spcPts val="0"/>
              </a:spcBef>
              <a:spcAft>
                <a:spcPts val="100"/>
              </a:spcAft>
            </a:pPr>
            <a:r>
              <a:rPr sz="1300" b="0" i="0">
                <a:solidFill>
                  <a:srgbClr val="595959"/>
                </a:solidFill>
                <a:latin typeface="Arial"/>
              </a:rPr>
              <a:t>thermal ablation of the</a:t>
            </a:r>
          </a:p>
          <a:p>
            <a:pPr algn="ctr">
              <a:spcBef>
                <a:spcPts val="0"/>
              </a:spcBef>
              <a:spcAft>
                <a:spcPts val="100"/>
              </a:spcAft>
            </a:pPr>
            <a:r>
              <a:rPr sz="1300" b="0" i="0">
                <a:solidFill>
                  <a:srgbClr val="595959"/>
                </a:solidFill>
                <a:latin typeface="Arial"/>
              </a:rPr>
              <a:t>primary tumor under</a:t>
            </a:r>
          </a:p>
          <a:p>
            <a:pPr algn="ctr">
              <a:spcBef>
                <a:spcPts val="0"/>
              </a:spcBef>
              <a:spcAft>
                <a:spcPts val="100"/>
              </a:spcAft>
            </a:pPr>
            <a:r>
              <a:rPr sz="1300" b="0" i="0">
                <a:solidFill>
                  <a:srgbClr val="595959"/>
                </a:solidFill>
                <a:latin typeface="Arial"/>
              </a:rPr>
              <a:t>real-time MR thermometry</a:t>
            </a:r>
          </a:p>
        </p:txBody>
      </p:sp>
      <p:sp>
        <p:nvSpPr>
          <p:cNvPr id="31" name="Isosceles Triangle 30"/>
          <p:cNvSpPr/>
          <p:nvPr/>
        </p:nvSpPr>
        <p:spPr>
          <a:xfrm rot="5400000">
            <a:off x="7955279" y="2514599"/>
            <a:ext cx="182880" cy="182880"/>
          </a:xfrm>
          <a:prstGeom prst="triangle">
            <a:avLst/>
          </a:prstGeom>
          <a:solidFill>
            <a:srgbClr val="6E9E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366760" y="2103120"/>
            <a:ext cx="3429000" cy="1005840"/>
          </a:xfrm>
          <a:prstGeom prst="roundRect">
            <a:avLst/>
          </a:prstGeom>
          <a:solidFill>
            <a:srgbClr val="E8F0EE"/>
          </a:solidFill>
          <a:ln w="15875">
            <a:solidFill>
              <a:srgbClr val="095945"/>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0"/>
              </a:spcAft>
            </a:pPr>
            <a:r>
              <a:rPr sz="1600" b="1">
                <a:solidFill>
                  <a:srgbClr val="095945"/>
                </a:solidFill>
                <a:latin typeface="Arial"/>
              </a:rPr>
              <a:t>Matched tumors</a:t>
            </a:r>
          </a:p>
          <a:p>
            <a:pPr algn="ctr">
              <a:spcAft>
                <a:spcPts val="0"/>
              </a:spcAft>
            </a:pPr>
            <a:r>
              <a:rPr sz="1600" b="0">
                <a:solidFill>
                  <a:srgbClr val="095945"/>
                </a:solidFill>
                <a:latin typeface="Arial"/>
              </a:rPr>
              <a:t>re-harvested</a:t>
            </a:r>
          </a:p>
        </p:txBody>
      </p:sp>
      <p:sp>
        <p:nvSpPr>
          <p:cNvPr id="33" name="TextBox 32"/>
          <p:cNvSpPr txBox="1"/>
          <p:nvPr/>
        </p:nvSpPr>
        <p:spPr>
          <a:xfrm>
            <a:off x="8366760" y="3236976"/>
            <a:ext cx="3429000" cy="822960"/>
          </a:xfrm>
          <a:prstGeom prst="rect">
            <a:avLst/>
          </a:prstGeom>
          <a:noFill/>
        </p:spPr>
        <p:txBody>
          <a:bodyPr wrap="square" anchor="t" lIns="0" rIns="0" tIns="0" bIns="0">
            <a:spAutoFit/>
          </a:bodyPr>
          <a:lstStyle/>
          <a:p>
            <a:pPr algn="ctr">
              <a:spcBef>
                <a:spcPts val="0"/>
              </a:spcBef>
              <a:spcAft>
                <a:spcPts val="100"/>
              </a:spcAft>
            </a:pPr>
            <a:r>
              <a:rPr sz="1300" b="0" i="0">
                <a:solidFill>
                  <a:srgbClr val="595959"/>
                </a:solidFill>
                <a:latin typeface="Arial"/>
              </a:rPr>
              <a:t>primary (pre-LITT) and</a:t>
            </a:r>
          </a:p>
          <a:p>
            <a:pPr algn="ctr">
              <a:spcBef>
                <a:spcPts val="0"/>
              </a:spcBef>
              <a:spcAft>
                <a:spcPts val="100"/>
              </a:spcAft>
            </a:pPr>
            <a:r>
              <a:rPr sz="1300" b="0" i="0">
                <a:solidFill>
                  <a:srgbClr val="595959"/>
                </a:solidFill>
                <a:latin typeface="Arial"/>
              </a:rPr>
              <a:t>recurrent (post-LITT)</a:t>
            </a:r>
          </a:p>
          <a:p>
            <a:pPr algn="ctr">
              <a:spcBef>
                <a:spcPts val="0"/>
              </a:spcBef>
              <a:spcAft>
                <a:spcPts val="100"/>
              </a:spcAft>
            </a:pPr>
            <a:r>
              <a:rPr sz="1300" b="0" i="0">
                <a:solidFill>
                  <a:srgbClr val="595959"/>
                </a:solidFill>
                <a:latin typeface="Arial"/>
              </a:rPr>
              <a:t>n = 3 per arm</a:t>
            </a:r>
          </a:p>
        </p:txBody>
      </p:sp>
      <p:sp>
        <p:nvSpPr>
          <p:cNvPr id="34" name="TextBox 33"/>
          <p:cNvSpPr txBox="1"/>
          <p:nvPr/>
        </p:nvSpPr>
        <p:spPr>
          <a:xfrm>
            <a:off x="256032" y="4709160"/>
            <a:ext cx="11521440" cy="1097280"/>
          </a:xfrm>
          <a:prstGeom prst="rect">
            <a:avLst/>
          </a:prstGeom>
          <a:noFill/>
        </p:spPr>
        <p:txBody>
          <a:bodyPr wrap="square" anchor="t" lIns="0" rIns="0" tIns="0" bIns="0">
            <a:spAutoFit/>
          </a:bodyPr>
          <a:lstStyle/>
          <a:p>
            <a:pPr algn="l">
              <a:spcBef>
                <a:spcPts val="0"/>
              </a:spcBef>
              <a:spcAft>
                <a:spcPts val="0"/>
              </a:spcAft>
            </a:pPr>
            <a:r>
              <a:rPr sz="1700" b="0" i="0">
                <a:solidFill>
                  <a:srgbClr val="000000"/>
                </a:solidFill>
                <a:latin typeface="Arial"/>
              </a:rPr>
              <a:t>The graft is human and the host is rat, which is the point: every read can be assigned to a species, so the tumor compartment can be read on its own.</a:t>
            </a:r>
          </a:p>
        </p:txBody>
      </p:sp>
      <p:sp>
        <p:nvSpPr>
          <p:cNvPr id="35" name="TextBox 34"/>
          <p:cNvSpPr txBox="1"/>
          <p:nvPr/>
        </p:nvSpPr>
        <p:spPr>
          <a:xfrm>
            <a:off x="1325880" y="5989320"/>
            <a:ext cx="10424160" cy="365760"/>
          </a:xfrm>
          <a:prstGeom prst="rect">
            <a:avLst/>
          </a:prstGeom>
          <a:noFill/>
        </p:spPr>
        <p:txBody>
          <a:bodyPr wrap="square" anchor="t" lIns="0" rIns="0" tIns="0" bIns="0">
            <a:spAutoFit/>
          </a:bodyPr>
          <a:lstStyle/>
          <a:p>
            <a:pPr algn="l">
              <a:spcBef>
                <a:spcPts val="0"/>
              </a:spcBef>
              <a:spcAft>
                <a:spcPts val="100"/>
              </a:spcAft>
            </a:pPr>
            <a:r>
              <a:rPr sz="900" b="0" i="0">
                <a:solidFill>
                  <a:srgbClr val="595959"/>
                </a:solidFill>
                <a:latin typeface="Arial"/>
              </a:rPr>
              <a:t>4. Nagaraja TN, et al. Acta Neurochir 2021;163:3455–3463.    5. Nagaraja TN, et al. J Neurosurg 2026:1–14.</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b="0">
                <a:solidFill>
                  <a:srgbClr val="000000"/>
                </a:solidFill>
                <a:latin typeface="Arial"/>
              </a:rPr>
              <a:t>Methods</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b="0">
                <a:solidFill>
                  <a:srgbClr val="000000"/>
                </a:solidFill>
                <a:latin typeface="Arial"/>
              </a:rPr>
              <a:t>The analysis</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5"/>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b="0" i="0">
                <a:solidFill>
                  <a:srgbClr val="FFFFFF"/>
                </a:solidFill>
                <a:latin typeface="Arial"/>
              </a:rPr>
              <a:t>CNS 2026  ·  Washington, DC  ·  Abstract 418</a:t>
            </a:r>
          </a:p>
        </p:txBody>
      </p:sp>
      <p:sp>
        <p:nvSpPr>
          <p:cNvPr id="25" name="Rounded Rectangle 24"/>
          <p:cNvSpPr/>
          <p:nvPr/>
        </p:nvSpPr>
        <p:spPr>
          <a:xfrm>
            <a:off x="502920" y="1417320"/>
            <a:ext cx="3429000" cy="960120"/>
          </a:xfrm>
          <a:prstGeom prst="roundRect">
            <a:avLst/>
          </a:prstGeom>
          <a:solidFill>
            <a:srgbClr val="E8F0EE"/>
          </a:solidFill>
          <a:ln w="15875">
            <a:solidFill>
              <a:srgbClr val="095945"/>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0"/>
              </a:spcAft>
            </a:pPr>
            <a:r>
              <a:rPr sz="1600" b="1">
                <a:solidFill>
                  <a:srgbClr val="095945"/>
                </a:solidFill>
                <a:latin typeface="Arial"/>
              </a:rPr>
              <a:t>xengsort</a:t>
            </a:r>
          </a:p>
        </p:txBody>
      </p:sp>
      <p:sp>
        <p:nvSpPr>
          <p:cNvPr id="26" name="TextBox 25"/>
          <p:cNvSpPr txBox="1"/>
          <p:nvPr/>
        </p:nvSpPr>
        <p:spPr>
          <a:xfrm>
            <a:off x="502920" y="2505456"/>
            <a:ext cx="3429000" cy="822960"/>
          </a:xfrm>
          <a:prstGeom prst="rect">
            <a:avLst/>
          </a:prstGeom>
          <a:noFill/>
        </p:spPr>
        <p:txBody>
          <a:bodyPr wrap="square" anchor="t" lIns="0" rIns="0" tIns="0" bIns="0">
            <a:spAutoFit/>
          </a:bodyPr>
          <a:lstStyle/>
          <a:p>
            <a:pPr algn="ctr">
              <a:spcBef>
                <a:spcPts val="0"/>
              </a:spcBef>
              <a:spcAft>
                <a:spcPts val="100"/>
              </a:spcAft>
            </a:pPr>
            <a:r>
              <a:rPr sz="1300" b="0" i="0">
                <a:solidFill>
                  <a:srgbClr val="595959"/>
                </a:solidFill>
                <a:latin typeface="Arial"/>
              </a:rPr>
              <a:t>human graft reads sorted</a:t>
            </a:r>
          </a:p>
          <a:p>
            <a:pPr algn="ctr">
              <a:spcBef>
                <a:spcPts val="0"/>
              </a:spcBef>
              <a:spcAft>
                <a:spcPts val="100"/>
              </a:spcAft>
            </a:pPr>
            <a:r>
              <a:rPr sz="1300" b="0" i="0">
                <a:solidFill>
                  <a:srgbClr val="595959"/>
                </a:solidFill>
                <a:latin typeface="Arial"/>
              </a:rPr>
              <a:t>from rat host reads, k = 25</a:t>
            </a:r>
          </a:p>
        </p:txBody>
      </p:sp>
      <p:sp>
        <p:nvSpPr>
          <p:cNvPr id="27" name="Isosceles Triangle 26"/>
          <p:cNvSpPr/>
          <p:nvPr/>
        </p:nvSpPr>
        <p:spPr>
          <a:xfrm rot="5400000">
            <a:off x="4023359" y="1805940"/>
            <a:ext cx="182880" cy="182880"/>
          </a:xfrm>
          <a:prstGeom prst="triangle">
            <a:avLst/>
          </a:prstGeom>
          <a:solidFill>
            <a:srgbClr val="6E9E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4434840" y="1417320"/>
            <a:ext cx="3429000" cy="960120"/>
          </a:xfrm>
          <a:prstGeom prst="roundRect">
            <a:avLst/>
          </a:prstGeom>
          <a:solidFill>
            <a:srgbClr val="E8F0EE"/>
          </a:solidFill>
          <a:ln w="15875">
            <a:solidFill>
              <a:srgbClr val="095945"/>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0"/>
              </a:spcAft>
            </a:pPr>
            <a:r>
              <a:rPr sz="1600" b="1">
                <a:solidFill>
                  <a:srgbClr val="095945"/>
                </a:solidFill>
                <a:latin typeface="Arial"/>
              </a:rPr>
              <a:t>DESeq2</a:t>
            </a:r>
          </a:p>
        </p:txBody>
      </p:sp>
      <p:sp>
        <p:nvSpPr>
          <p:cNvPr id="29" name="TextBox 28"/>
          <p:cNvSpPr txBox="1"/>
          <p:nvPr/>
        </p:nvSpPr>
        <p:spPr>
          <a:xfrm>
            <a:off x="4434840" y="2505456"/>
            <a:ext cx="3429000" cy="822960"/>
          </a:xfrm>
          <a:prstGeom prst="rect">
            <a:avLst/>
          </a:prstGeom>
          <a:noFill/>
        </p:spPr>
        <p:txBody>
          <a:bodyPr wrap="square" anchor="t" lIns="0" rIns="0" tIns="0" bIns="0">
            <a:spAutoFit/>
          </a:bodyPr>
          <a:lstStyle/>
          <a:p>
            <a:pPr algn="ctr">
              <a:spcBef>
                <a:spcPts val="0"/>
              </a:spcBef>
              <a:spcAft>
                <a:spcPts val="100"/>
              </a:spcAft>
            </a:pPr>
            <a:r>
              <a:rPr sz="1300" b="0" i="0">
                <a:solidFill>
                  <a:srgbClr val="595959"/>
                </a:solidFill>
                <a:latin typeface="Arial"/>
              </a:rPr>
              <a:t>Wald test, ashr shrinkage</a:t>
            </a:r>
          </a:p>
          <a:p>
            <a:pPr algn="ctr">
              <a:spcBef>
                <a:spcPts val="0"/>
              </a:spcBef>
              <a:spcAft>
                <a:spcPts val="100"/>
              </a:spcAft>
            </a:pPr>
            <a:r>
              <a:rPr sz="1300" b="0" i="0">
                <a:solidFill>
                  <a:srgbClr val="595959"/>
                </a:solidFill>
                <a:latin typeface="Arial"/>
              </a:rPr>
              <a:t>FDR &lt; 0.05, |log₂FC| &gt; 1</a:t>
            </a:r>
          </a:p>
        </p:txBody>
      </p:sp>
      <p:sp>
        <p:nvSpPr>
          <p:cNvPr id="30" name="Isosceles Triangle 29"/>
          <p:cNvSpPr/>
          <p:nvPr/>
        </p:nvSpPr>
        <p:spPr>
          <a:xfrm rot="5400000">
            <a:off x="7955279" y="1805940"/>
            <a:ext cx="182880" cy="182880"/>
          </a:xfrm>
          <a:prstGeom prst="triangle">
            <a:avLst/>
          </a:prstGeom>
          <a:solidFill>
            <a:srgbClr val="6E9E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366760" y="1417320"/>
            <a:ext cx="3429000" cy="960120"/>
          </a:xfrm>
          <a:prstGeom prst="roundRect">
            <a:avLst/>
          </a:prstGeom>
          <a:solidFill>
            <a:srgbClr val="E8F0EE"/>
          </a:solidFill>
          <a:ln w="15875">
            <a:solidFill>
              <a:srgbClr val="095945"/>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0"/>
              </a:spcAft>
            </a:pPr>
            <a:r>
              <a:rPr sz="1600" b="1">
                <a:solidFill>
                  <a:srgbClr val="095945"/>
                </a:solidFill>
                <a:latin typeface="Arial"/>
              </a:rPr>
              <a:t>Broad GSEA · subtypes</a:t>
            </a:r>
          </a:p>
          <a:p>
            <a:pPr algn="ctr">
              <a:spcAft>
                <a:spcPts val="0"/>
              </a:spcAft>
            </a:pPr>
            <a:r>
              <a:rPr sz="1600" b="0">
                <a:solidFill>
                  <a:srgbClr val="095945"/>
                </a:solidFill>
                <a:latin typeface="Arial"/>
              </a:rPr>
              <a:t>STRING · DSigDB</a:t>
            </a:r>
          </a:p>
        </p:txBody>
      </p:sp>
      <p:sp>
        <p:nvSpPr>
          <p:cNvPr id="32" name="TextBox 31"/>
          <p:cNvSpPr txBox="1"/>
          <p:nvPr/>
        </p:nvSpPr>
        <p:spPr>
          <a:xfrm>
            <a:off x="8366760" y="2505456"/>
            <a:ext cx="3429000" cy="822960"/>
          </a:xfrm>
          <a:prstGeom prst="rect">
            <a:avLst/>
          </a:prstGeom>
          <a:noFill/>
        </p:spPr>
        <p:txBody>
          <a:bodyPr wrap="square" anchor="t" lIns="0" rIns="0" tIns="0" bIns="0">
            <a:spAutoFit/>
          </a:bodyPr>
          <a:lstStyle/>
          <a:p>
            <a:pPr algn="ctr">
              <a:spcBef>
                <a:spcPts val="0"/>
              </a:spcBef>
              <a:spcAft>
                <a:spcPts val="100"/>
              </a:spcAft>
            </a:pPr>
            <a:r>
              <a:rPr sz="1300" b="0" i="0">
                <a:solidFill>
                  <a:srgbClr val="595959"/>
                </a:solidFill>
                <a:latin typeface="Arial"/>
              </a:rPr>
              <a:t>enrichment, subtypes,</a:t>
            </a:r>
          </a:p>
          <a:p>
            <a:pPr algn="ctr">
              <a:spcBef>
                <a:spcPts val="0"/>
              </a:spcBef>
              <a:spcAft>
                <a:spcPts val="100"/>
              </a:spcAft>
            </a:pPr>
            <a:r>
              <a:rPr sz="1300" b="0" i="0">
                <a:solidFill>
                  <a:srgbClr val="595959"/>
                </a:solidFill>
                <a:latin typeface="Arial"/>
              </a:rPr>
              <a:t>network and drug ranking</a:t>
            </a:r>
          </a:p>
        </p:txBody>
      </p:sp>
      <p:sp>
        <p:nvSpPr>
          <p:cNvPr id="33" name="TextBox 32"/>
          <p:cNvSpPr txBox="1"/>
          <p:nvPr/>
        </p:nvSpPr>
        <p:spPr>
          <a:xfrm>
            <a:off x="256032" y="3703320"/>
            <a:ext cx="11521440" cy="2011680"/>
          </a:xfrm>
          <a:prstGeom prst="rect">
            <a:avLst/>
          </a:prstGeom>
          <a:noFill/>
        </p:spPr>
        <p:txBody>
          <a:bodyPr wrap="square" anchor="t" lIns="0" rIns="0" tIns="0" bIns="0">
            <a:spAutoFit/>
          </a:bodyPr>
          <a:lstStyle/>
          <a:p>
            <a:pPr algn="l">
              <a:spcBef>
                <a:spcPts val="0"/>
              </a:spcBef>
              <a:spcAft>
                <a:spcPts val="1600"/>
              </a:spcAft>
            </a:pPr>
            <a:r>
              <a:rPr sz="1700" b="1" i="0">
                <a:solidFill>
                  <a:srgbClr val="000000"/>
                </a:solidFill>
                <a:latin typeface="Arial"/>
              </a:rPr>
              <a:t>Enrichment was permuted on gene-set membership, not on samples.</a:t>
            </a:r>
            <a:r>
              <a:rPr sz="1700" b="0" i="0">
                <a:solidFill>
                  <a:srgbClr val="000000"/>
                </a:solidFill>
                <a:latin typeface="Arial"/>
              </a:rPr>
              <a:t> At n = 3 per arm there are too few sample permutations to estimate significance, and gene-set permutation is substantially more reproducible at this size.⁶</a:t>
            </a:r>
          </a:p>
          <a:p>
            <a:pPr algn="l">
              <a:spcBef>
                <a:spcPts val="0"/>
              </a:spcBef>
              <a:spcAft>
                <a:spcPts val="1600"/>
              </a:spcAft>
            </a:pPr>
            <a:r>
              <a:rPr sz="1700" b="0" i="0">
                <a:solidFill>
                  <a:srgbClr val="000000"/>
                </a:solidFill>
                <a:latin typeface="Arial"/>
              </a:rPr>
              <a:t>Repurposing screened DSigDB, ranking each compound by how strongly its own signature countered the tumor signature (|NES|¹˙⁵), weighted by predicted blood–brain barrier permeability.</a:t>
            </a:r>
          </a:p>
          <a:p>
            <a:pPr algn="l">
              <a:spcBef>
                <a:spcPts val="0"/>
              </a:spcBef>
              <a:spcAft>
                <a:spcPts val="0"/>
              </a:spcAft>
            </a:pPr>
            <a:r>
              <a:rPr sz="1700" b="0" i="0">
                <a:solidFill>
                  <a:srgbClr val="000000"/>
                </a:solidFill>
                <a:latin typeface="Arial"/>
              </a:rPr>
              <a:t>Raw sequencing data are public: </a:t>
            </a:r>
            <a:r>
              <a:rPr sz="1700" b="1" i="0">
                <a:solidFill>
                  <a:srgbClr val="000000"/>
                </a:solidFill>
                <a:latin typeface="Arial"/>
              </a:rPr>
              <a:t>GEO accession GSE338105</a:t>
            </a:r>
            <a:r>
              <a:rPr sz="1700" b="0" i="0">
                <a:solidFill>
                  <a:srgbClr val="000000"/>
                </a:solidFill>
                <a:latin typeface="Arial"/>
              </a:rPr>
              <a:t>.</a:t>
            </a:r>
          </a:p>
        </p:txBody>
      </p:sp>
      <p:sp>
        <p:nvSpPr>
          <p:cNvPr id="34" name="TextBox 33"/>
          <p:cNvSpPr txBox="1"/>
          <p:nvPr/>
        </p:nvSpPr>
        <p:spPr>
          <a:xfrm>
            <a:off x="1325880" y="5989320"/>
            <a:ext cx="10424160" cy="365760"/>
          </a:xfrm>
          <a:prstGeom prst="rect">
            <a:avLst/>
          </a:prstGeom>
          <a:noFill/>
        </p:spPr>
        <p:txBody>
          <a:bodyPr wrap="square" anchor="t" lIns="0" rIns="0" tIns="0" bIns="0">
            <a:spAutoFit/>
          </a:bodyPr>
          <a:lstStyle/>
          <a:p>
            <a:pPr algn="l">
              <a:spcBef>
                <a:spcPts val="0"/>
              </a:spcBef>
              <a:spcAft>
                <a:spcPts val="100"/>
              </a:spcAft>
            </a:pPr>
            <a:r>
              <a:rPr sz="900" b="0" i="0">
                <a:solidFill>
                  <a:srgbClr val="595959"/>
                </a:solidFill>
                <a:latin typeface="Arial"/>
              </a:rPr>
              <a:t>6. Maleki F, et al. Hum Genomics 2019;13(Suppl 1):42.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b="0">
                <a:solidFill>
                  <a:srgbClr val="000000"/>
                </a:solidFill>
                <a:latin typeface="Arial"/>
              </a:rPr>
              <a:t>Results</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b="0">
                <a:solidFill>
                  <a:srgbClr val="000000"/>
                </a:solidFill>
                <a:latin typeface="Arial"/>
              </a:rPr>
              <a:t>Primary and recurrent tumors separate globally</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5"/>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b="0" i="0">
                <a:solidFill>
                  <a:srgbClr val="FFFFFF"/>
                </a:solidFill>
                <a:latin typeface="Arial"/>
              </a:rPr>
              <a:t>CNS 2026  ·  Washington, DC  ·  Abstract 418</a:t>
            </a:r>
          </a:p>
        </p:txBody>
      </p:sp>
      <p:pic>
        <p:nvPicPr>
          <p:cNvPr id="25" name="Picture 24" descr="chart_pca.png"/>
          <p:cNvPicPr>
            <a:picLocks noChangeAspect="1"/>
          </p:cNvPicPr>
          <p:nvPr/>
        </p:nvPicPr>
        <p:blipFill>
          <a:blip r:embed="rId7"/>
          <a:stretch>
            <a:fillRect/>
          </a:stretch>
        </p:blipFill>
        <p:spPr>
          <a:xfrm>
            <a:off x="411480" y="1371600"/>
            <a:ext cx="4737055" cy="4434840"/>
          </a:xfrm>
          <a:prstGeom prst="rect">
            <a:avLst/>
          </a:prstGeom>
        </p:spPr>
      </p:pic>
      <p:sp>
        <p:nvSpPr>
          <p:cNvPr id="26" name="TextBox 25"/>
          <p:cNvSpPr txBox="1"/>
          <p:nvPr/>
        </p:nvSpPr>
        <p:spPr>
          <a:xfrm>
            <a:off x="5806440" y="1554480"/>
            <a:ext cx="6126480" cy="3931920"/>
          </a:xfrm>
          <a:prstGeom prst="rect">
            <a:avLst/>
          </a:prstGeom>
          <a:noFill/>
        </p:spPr>
        <p:txBody>
          <a:bodyPr wrap="square" anchor="t" lIns="0" rIns="0" tIns="0" bIns="0">
            <a:spAutoFit/>
          </a:bodyPr>
          <a:lstStyle/>
          <a:p>
            <a:pPr algn="l">
              <a:spcBef>
                <a:spcPts val="0"/>
              </a:spcBef>
              <a:spcAft>
                <a:spcPts val="1800"/>
              </a:spcAft>
            </a:pPr>
            <a:r>
              <a:rPr sz="1800" b="0" i="0">
                <a:solidFill>
                  <a:srgbClr val="000000"/>
                </a:solidFill>
                <a:latin typeface="Arial"/>
              </a:rPr>
              <a:t>The two arms sit on opposite sides of PC1. </a:t>
            </a:r>
            <a:r>
              <a:rPr sz="1800" b="1" i="0">
                <a:solidFill>
                  <a:srgbClr val="000000"/>
                </a:solidFill>
                <a:latin typeface="Arial"/>
              </a:rPr>
              <a:t>41.8%</a:t>
            </a:r>
            <a:r>
              <a:rPr sz="1800" b="0" i="0">
                <a:solidFill>
                  <a:srgbClr val="000000"/>
                </a:solidFill>
                <a:latin typeface="Arial"/>
              </a:rPr>
              <a:t> of the variance is on that axis and </a:t>
            </a:r>
            <a:r>
              <a:rPr sz="1800" b="1" i="0">
                <a:solidFill>
                  <a:srgbClr val="000000"/>
                </a:solidFill>
                <a:latin typeface="Arial"/>
              </a:rPr>
              <a:t>26.2%</a:t>
            </a:r>
            <a:r>
              <a:rPr sz="1800" b="0" i="0">
                <a:solidFill>
                  <a:srgbClr val="000000"/>
                </a:solidFill>
                <a:latin typeface="Arial"/>
              </a:rPr>
              <a:t> on PC2.</a:t>
            </a:r>
          </a:p>
          <a:p>
            <a:pPr algn="l">
              <a:spcBef>
                <a:spcPts val="0"/>
              </a:spcBef>
              <a:spcAft>
                <a:spcPts val="1400"/>
              </a:spcAft>
            </a:pPr>
            <a:r>
              <a:rPr sz="1800" b="0" i="0">
                <a:solidFill>
                  <a:srgbClr val="000000"/>
                </a:solidFill>
                <a:latin typeface="Arial"/>
              </a:rPr>
              <a:t>PERMANOVA attributes </a:t>
            </a:r>
            <a:r>
              <a:rPr sz="1800" b="1" i="0">
                <a:solidFill>
                  <a:srgbClr val="000000"/>
                </a:solidFill>
                <a:latin typeface="Arial"/>
              </a:rPr>
              <a:t>R² = 0.278</a:t>
            </a:r>
            <a:r>
              <a:rPr sz="1800" b="0" i="0">
                <a:solidFill>
                  <a:srgbClr val="000000"/>
                </a:solidFill>
                <a:latin typeface="Arial"/>
              </a:rPr>
              <a:t> of transcriptome-wide variance to recurrence (F = 1.54, </a:t>
            </a:r>
            <a:r>
              <a:rPr sz="1800" b="1" i="0">
                <a:solidFill>
                  <a:srgbClr val="000000"/>
                </a:solidFill>
                <a:latin typeface="Arial"/>
              </a:rPr>
              <a:t>p = 0.10</a:t>
            </a:r>
            <a:r>
              <a:rPr sz="1800" b="0" i="0">
                <a:solidFill>
                  <a:srgbClr val="000000"/>
                </a:solidFill>
                <a:latin typeface="Arial"/>
              </a:rPr>
              <a:t>).</a:t>
            </a:r>
          </a:p>
          <a:p>
            <a:pPr algn="l">
              <a:spcBef>
                <a:spcPts val="0"/>
              </a:spcBef>
              <a:spcAft>
                <a:spcPts val="0"/>
              </a:spcAft>
            </a:pPr>
            <a:r>
              <a:rPr sz="1600" b="0" i="0">
                <a:solidFill>
                  <a:srgbClr val="595959"/>
                </a:solidFill>
                <a:latin typeface="Arial"/>
              </a:rPr>
              <a:t>A large effect that three animals per arm cannot make formally significant. Worth saying out loud rather than leaving in the supplement.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b="0">
                <a:solidFill>
                  <a:srgbClr val="000000"/>
                </a:solidFill>
                <a:latin typeface="Arial"/>
              </a:rPr>
              <a:t>Results</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b="0">
                <a:solidFill>
                  <a:srgbClr val="000000"/>
                </a:solidFill>
                <a:latin typeface="Arial"/>
              </a:rPr>
              <a:t>Only 35 genes move</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5"/>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b="0" i="0">
                <a:solidFill>
                  <a:srgbClr val="FFFFFF"/>
                </a:solidFill>
                <a:latin typeface="Arial"/>
              </a:rPr>
              <a:t>CNS 2026  ·  Washington, DC  ·  Abstract 418</a:t>
            </a:r>
          </a:p>
        </p:txBody>
      </p:sp>
      <p:pic>
        <p:nvPicPr>
          <p:cNvPr id="25" name="Picture 24" descr="chart_volcano.png"/>
          <p:cNvPicPr>
            <a:picLocks noChangeAspect="1"/>
          </p:cNvPicPr>
          <p:nvPr/>
        </p:nvPicPr>
        <p:blipFill>
          <a:blip r:embed="rId7"/>
          <a:stretch>
            <a:fillRect/>
          </a:stretch>
        </p:blipFill>
        <p:spPr>
          <a:xfrm>
            <a:off x="256032" y="1444752"/>
            <a:ext cx="6233160" cy="3730752"/>
          </a:xfrm>
          <a:prstGeom prst="rect">
            <a:avLst/>
          </a:prstGeom>
        </p:spPr>
      </p:pic>
      <p:sp>
        <p:nvSpPr>
          <p:cNvPr id="26" name="TextBox 25"/>
          <p:cNvSpPr txBox="1"/>
          <p:nvPr/>
        </p:nvSpPr>
        <p:spPr>
          <a:xfrm>
            <a:off x="6720840" y="1444752"/>
            <a:ext cx="5212080" cy="640080"/>
          </a:xfrm>
          <a:prstGeom prst="rect">
            <a:avLst/>
          </a:prstGeom>
          <a:noFill/>
        </p:spPr>
        <p:txBody>
          <a:bodyPr wrap="square" anchor="t" lIns="0" rIns="0" tIns="0" bIns="0">
            <a:spAutoFit/>
          </a:bodyPr>
          <a:lstStyle/>
          <a:p>
            <a:pPr algn="l">
              <a:spcBef>
                <a:spcPts val="0"/>
              </a:spcBef>
              <a:spcAft>
                <a:spcPts val="0"/>
              </a:spcAft>
            </a:pPr>
            <a:r>
              <a:rPr sz="1700" b="1" i="0">
                <a:solidFill>
                  <a:srgbClr val="000000"/>
                </a:solidFill>
                <a:latin typeface="Arial"/>
              </a:rPr>
              <a:t>35 genes</a:t>
            </a:r>
            <a:r>
              <a:rPr sz="1700" b="0" i="0">
                <a:solidFill>
                  <a:srgbClr val="000000"/>
                </a:solidFill>
                <a:latin typeface="Arial"/>
              </a:rPr>
              <a:t> clear FDR &lt; 0.05 with |log₂FC| &gt; 1 — </a:t>
            </a:r>
            <a:r>
              <a:rPr sz="1700" b="1" i="0">
                <a:solidFill>
                  <a:srgbClr val="000000"/>
                </a:solidFill>
                <a:latin typeface="Arial"/>
              </a:rPr>
              <a:t>23 up, 12 down</a:t>
            </a:r>
            <a:r>
              <a:rPr sz="1700" b="0" i="0">
                <a:solidFill>
                  <a:srgbClr val="000000"/>
                </a:solidFill>
                <a:latin typeface="Arial"/>
              </a:rPr>
              <a:t>; 27 are protein coding.</a:t>
            </a:r>
          </a:p>
        </p:txBody>
      </p:sp>
      <p:graphicFrame>
        <p:nvGraphicFramePr>
          <p:cNvPr id="27" name="Table 26"/>
          <p:cNvGraphicFramePr>
            <a:graphicFrameLocks noGrp="1"/>
          </p:cNvGraphicFramePr>
          <p:nvPr/>
        </p:nvGraphicFramePr>
        <p:xfrm>
          <a:off x="6720840" y="2139696"/>
          <a:ext cx="5212079" cy="1883664"/>
        </p:xfrm>
        <a:graphic>
          <a:graphicData uri="http://schemas.openxmlformats.org/drawingml/2006/table">
            <a:tbl>
              <a:tblPr firstRow="1" bandRow="0">
                <a:tableStyleId>{2D5ABB26-0587-4C30-8999-92F81FD0307C}</a:tableStyleId>
              </a:tblPr>
              <a:tblGrid>
                <a:gridCol w="1874519"/>
                <a:gridCol w="868680"/>
                <a:gridCol w="2468880"/>
              </a:tblGrid>
              <a:tr h="292608">
                <a:tc>
                  <a:txBody>
                    <a:bodyPr/>
                    <a:lstStyle/>
                    <a:p>
                      <a:pPr algn="l"/>
                      <a:r>
                        <a:rPr sz="1250" b="1">
                          <a:solidFill>
                            <a:srgbClr val="FFFFFF"/>
                          </a:solidFill>
                          <a:latin typeface="Arial"/>
                        </a:rPr>
                        <a:t>Largest fold changes</a:t>
                      </a:r>
                    </a:p>
                  </a:txBody>
                  <a:tcPr marL="82296" marR="82296" marT="18288" marB="18288" anchor="ctr">
                    <a:solidFill>
                      <a:srgbClr val="095945"/>
                    </a:solidFill>
                  </a:tcPr>
                </a:tc>
                <a:tc>
                  <a:txBody>
                    <a:bodyPr/>
                    <a:lstStyle/>
                    <a:p>
                      <a:pPr algn="r"/>
                      <a:r>
                        <a:rPr sz="1250" b="1">
                          <a:solidFill>
                            <a:srgbClr val="FFFFFF"/>
                          </a:solidFill>
                          <a:latin typeface="Arial"/>
                        </a:rPr>
                        <a:t>log₂FC</a:t>
                      </a:r>
                    </a:p>
                  </a:txBody>
                  <a:tcPr marL="82296" marR="82296" marT="18288" marB="18288" anchor="ctr">
                    <a:solidFill>
                      <a:srgbClr val="095945"/>
                    </a:solidFill>
                  </a:tcPr>
                </a:tc>
                <a:tc>
                  <a:txBody>
                    <a:bodyPr/>
                    <a:lstStyle/>
                    <a:p>
                      <a:pPr algn="r"/>
                      <a:r>
                        <a:rPr sz="1250" b="1">
                          <a:solidFill>
                            <a:srgbClr val="FFFFFF"/>
                          </a:solidFill>
                          <a:latin typeface="Arial"/>
                        </a:rPr>
                        <a:t>what the locus is</a:t>
                      </a:r>
                    </a:p>
                  </a:txBody>
                  <a:tcPr marL="82296" marR="82296" marT="18288" marB="18288" anchor="ctr">
                    <a:solidFill>
                      <a:srgbClr val="095945"/>
                    </a:solidFill>
                  </a:tcPr>
                </a:tc>
              </a:tr>
              <a:tr h="265176">
                <a:tc>
                  <a:txBody>
                    <a:bodyPr/>
                    <a:lstStyle/>
                    <a:p>
                      <a:pPr algn="l"/>
                      <a:r>
                        <a:rPr sz="1250" b="0">
                          <a:solidFill>
                            <a:srgbClr val="000000"/>
                          </a:solidFill>
                          <a:latin typeface="Arial"/>
                        </a:rPr>
                        <a:t>TMEM189-UBE2V1</a:t>
                      </a:r>
                    </a:p>
                  </a:txBody>
                  <a:tcPr marL="82296" marR="82296" marT="18288" marB="18288" anchor="ctr">
                    <a:solidFill>
                      <a:srgbClr val="FFFFFF"/>
                    </a:solidFill>
                  </a:tcPr>
                </a:tc>
                <a:tc>
                  <a:txBody>
                    <a:bodyPr/>
                    <a:lstStyle/>
                    <a:p>
                      <a:pPr algn="r"/>
                      <a:r>
                        <a:rPr sz="1250" b="0">
                          <a:solidFill>
                            <a:srgbClr val="000000"/>
                          </a:solidFill>
                          <a:latin typeface="Arial"/>
                        </a:rPr>
                        <a:t>−9.9</a:t>
                      </a:r>
                    </a:p>
                  </a:txBody>
                  <a:tcPr marL="82296" marR="82296" marT="18288" marB="18288" anchor="ctr">
                    <a:solidFill>
                      <a:srgbClr val="FFFFFF"/>
                    </a:solidFill>
                  </a:tcPr>
                </a:tc>
                <a:tc>
                  <a:txBody>
                    <a:bodyPr/>
                    <a:lstStyle/>
                    <a:p>
                      <a:pPr algn="r"/>
                      <a:r>
                        <a:rPr sz="1250" b="0">
                          <a:solidFill>
                            <a:srgbClr val="000000"/>
                          </a:solidFill>
                          <a:latin typeface="Arial"/>
                        </a:rPr>
                        <a:t>readthrough transcript</a:t>
                      </a:r>
                    </a:p>
                  </a:txBody>
                  <a:tcPr marL="82296" marR="82296" marT="18288" marB="18288" anchor="ctr">
                    <a:solidFill>
                      <a:srgbClr val="FFFFFF"/>
                    </a:solidFill>
                  </a:tcPr>
                </a:tc>
              </a:tr>
              <a:tr h="265176">
                <a:tc>
                  <a:txBody>
                    <a:bodyPr/>
                    <a:lstStyle/>
                    <a:p>
                      <a:pPr algn="l"/>
                      <a:r>
                        <a:rPr sz="1250" b="0">
                          <a:solidFill>
                            <a:srgbClr val="000000"/>
                          </a:solidFill>
                          <a:latin typeface="Arial"/>
                        </a:rPr>
                        <a:t>RNU6-9</a:t>
                      </a:r>
                    </a:p>
                  </a:txBody>
                  <a:tcPr marL="82296" marR="82296" marT="18288" marB="18288" anchor="ctr">
                    <a:solidFill>
                      <a:srgbClr val="E8F0EE"/>
                    </a:solidFill>
                  </a:tcPr>
                </a:tc>
                <a:tc>
                  <a:txBody>
                    <a:bodyPr/>
                    <a:lstStyle/>
                    <a:p>
                      <a:pPr algn="r"/>
                      <a:r>
                        <a:rPr sz="1250" b="0">
                          <a:solidFill>
                            <a:srgbClr val="000000"/>
                          </a:solidFill>
                          <a:latin typeface="Arial"/>
                        </a:rPr>
                        <a:t>+9.9</a:t>
                      </a:r>
                    </a:p>
                  </a:txBody>
                  <a:tcPr marL="82296" marR="82296" marT="18288" marB="18288" anchor="ctr">
                    <a:solidFill>
                      <a:srgbClr val="E8F0EE"/>
                    </a:solidFill>
                  </a:tcPr>
                </a:tc>
                <a:tc>
                  <a:txBody>
                    <a:bodyPr/>
                    <a:lstStyle/>
                    <a:p>
                      <a:pPr algn="r"/>
                      <a:r>
                        <a:rPr sz="1250" b="0">
                          <a:solidFill>
                            <a:srgbClr val="000000"/>
                          </a:solidFill>
                          <a:latin typeface="Arial"/>
                        </a:rPr>
                        <a:t>small nuclear RNA</a:t>
                      </a:r>
                    </a:p>
                  </a:txBody>
                  <a:tcPr marL="82296" marR="82296" marT="18288" marB="18288" anchor="ctr">
                    <a:solidFill>
                      <a:srgbClr val="E8F0EE"/>
                    </a:solidFill>
                  </a:tcPr>
                </a:tc>
              </a:tr>
              <a:tr h="265176">
                <a:tc>
                  <a:txBody>
                    <a:bodyPr/>
                    <a:lstStyle/>
                    <a:p>
                      <a:pPr algn="l"/>
                      <a:r>
                        <a:rPr sz="1250" b="0">
                          <a:solidFill>
                            <a:srgbClr val="000000"/>
                          </a:solidFill>
                          <a:latin typeface="Arial"/>
                        </a:rPr>
                        <a:t>RP11-577H5.5</a:t>
                      </a:r>
                    </a:p>
                  </a:txBody>
                  <a:tcPr marL="82296" marR="82296" marT="18288" marB="18288" anchor="ctr">
                    <a:solidFill>
                      <a:srgbClr val="FFFFFF"/>
                    </a:solidFill>
                  </a:tcPr>
                </a:tc>
                <a:tc>
                  <a:txBody>
                    <a:bodyPr/>
                    <a:lstStyle/>
                    <a:p>
                      <a:pPr algn="r"/>
                      <a:r>
                        <a:rPr sz="1250" b="0">
                          <a:solidFill>
                            <a:srgbClr val="000000"/>
                          </a:solidFill>
                          <a:latin typeface="Arial"/>
                        </a:rPr>
                        <a:t>+8.1</a:t>
                      </a:r>
                    </a:p>
                  </a:txBody>
                  <a:tcPr marL="82296" marR="82296" marT="18288" marB="18288" anchor="ctr">
                    <a:solidFill>
                      <a:srgbClr val="FFFFFF"/>
                    </a:solidFill>
                  </a:tcPr>
                </a:tc>
                <a:tc>
                  <a:txBody>
                    <a:bodyPr/>
                    <a:lstStyle/>
                    <a:p>
                      <a:pPr algn="r"/>
                      <a:r>
                        <a:rPr sz="1250" b="0">
                          <a:solidFill>
                            <a:srgbClr val="000000"/>
                          </a:solidFill>
                          <a:latin typeface="Arial"/>
                        </a:rPr>
                        <a:t>readthrough transcript</a:t>
                      </a:r>
                    </a:p>
                  </a:txBody>
                  <a:tcPr marL="82296" marR="82296" marT="18288" marB="18288" anchor="ctr">
                    <a:solidFill>
                      <a:srgbClr val="FFFFFF"/>
                    </a:solidFill>
                  </a:tcPr>
                </a:tc>
              </a:tr>
              <a:tr h="265176">
                <a:tc>
                  <a:txBody>
                    <a:bodyPr/>
                    <a:lstStyle/>
                    <a:p>
                      <a:pPr algn="l"/>
                      <a:r>
                        <a:rPr sz="1250" b="0">
                          <a:solidFill>
                            <a:srgbClr val="000000"/>
                          </a:solidFill>
                          <a:latin typeface="Arial"/>
                        </a:rPr>
                        <a:t>RP5-874C20.8</a:t>
                      </a:r>
                    </a:p>
                  </a:txBody>
                  <a:tcPr marL="82296" marR="82296" marT="18288" marB="18288" anchor="ctr">
                    <a:solidFill>
                      <a:srgbClr val="E8F0EE"/>
                    </a:solidFill>
                  </a:tcPr>
                </a:tc>
                <a:tc>
                  <a:txBody>
                    <a:bodyPr/>
                    <a:lstStyle/>
                    <a:p>
                      <a:pPr algn="r"/>
                      <a:r>
                        <a:rPr sz="1250" b="0">
                          <a:solidFill>
                            <a:srgbClr val="000000"/>
                          </a:solidFill>
                          <a:latin typeface="Arial"/>
                        </a:rPr>
                        <a:t>+5.6</a:t>
                      </a:r>
                    </a:p>
                  </a:txBody>
                  <a:tcPr marL="82296" marR="82296" marT="18288" marB="18288" anchor="ctr">
                    <a:solidFill>
                      <a:srgbClr val="E8F0EE"/>
                    </a:solidFill>
                  </a:tcPr>
                </a:tc>
                <a:tc>
                  <a:txBody>
                    <a:bodyPr/>
                    <a:lstStyle/>
                    <a:p>
                      <a:pPr algn="r"/>
                      <a:r>
                        <a:rPr sz="1250" b="0">
                          <a:solidFill>
                            <a:srgbClr val="000000"/>
                          </a:solidFill>
                          <a:latin typeface="Arial"/>
                        </a:rPr>
                        <a:t>unclassified locus</a:t>
                      </a:r>
                    </a:p>
                  </a:txBody>
                  <a:tcPr marL="82296" marR="82296" marT="18288" marB="18288" anchor="ctr">
                    <a:solidFill>
                      <a:srgbClr val="E8F0EE"/>
                    </a:solidFill>
                  </a:tcPr>
                </a:tc>
              </a:tr>
              <a:tr h="265176">
                <a:tc>
                  <a:txBody>
                    <a:bodyPr/>
                    <a:lstStyle/>
                    <a:p>
                      <a:pPr algn="l"/>
                      <a:r>
                        <a:rPr sz="1250" b="0">
                          <a:solidFill>
                            <a:srgbClr val="000000"/>
                          </a:solidFill>
                          <a:latin typeface="Arial"/>
                        </a:rPr>
                        <a:t>DYX1C1-CCPG1</a:t>
                      </a:r>
                    </a:p>
                  </a:txBody>
                  <a:tcPr marL="82296" marR="82296" marT="18288" marB="18288" anchor="ctr">
                    <a:solidFill>
                      <a:srgbClr val="FFFFFF"/>
                    </a:solidFill>
                  </a:tcPr>
                </a:tc>
                <a:tc>
                  <a:txBody>
                    <a:bodyPr/>
                    <a:lstStyle/>
                    <a:p>
                      <a:pPr algn="r"/>
                      <a:r>
                        <a:rPr sz="1250" b="0">
                          <a:solidFill>
                            <a:srgbClr val="000000"/>
                          </a:solidFill>
                          <a:latin typeface="Arial"/>
                        </a:rPr>
                        <a:t>+4.8</a:t>
                      </a:r>
                    </a:p>
                  </a:txBody>
                  <a:tcPr marL="82296" marR="82296" marT="18288" marB="18288" anchor="ctr">
                    <a:solidFill>
                      <a:srgbClr val="FFFFFF"/>
                    </a:solidFill>
                  </a:tcPr>
                </a:tc>
                <a:tc>
                  <a:txBody>
                    <a:bodyPr/>
                    <a:lstStyle/>
                    <a:p>
                      <a:pPr algn="r"/>
                      <a:r>
                        <a:rPr sz="1250" b="0">
                          <a:solidFill>
                            <a:srgbClr val="000000"/>
                          </a:solidFill>
                          <a:latin typeface="Arial"/>
                        </a:rPr>
                        <a:t>readthrough transcript</a:t>
                      </a:r>
                    </a:p>
                  </a:txBody>
                  <a:tcPr marL="82296" marR="82296" marT="18288" marB="18288" anchor="ctr">
                    <a:solidFill>
                      <a:srgbClr val="FFFFFF"/>
                    </a:solidFill>
                  </a:tcPr>
                </a:tc>
              </a:tr>
              <a:tr h="265176">
                <a:tc>
                  <a:txBody>
                    <a:bodyPr/>
                    <a:lstStyle/>
                    <a:p>
                      <a:pPr algn="l"/>
                      <a:r>
                        <a:rPr sz="1250" b="0">
                          <a:solidFill>
                            <a:srgbClr val="000000"/>
                          </a:solidFill>
                          <a:latin typeface="Arial"/>
                        </a:rPr>
                        <a:t>ENSG00000289697</a:t>
                      </a:r>
                    </a:p>
                  </a:txBody>
                  <a:tcPr marL="82296" marR="82296" marT="18288" marB="18288" anchor="ctr">
                    <a:solidFill>
                      <a:srgbClr val="E8F0EE"/>
                    </a:solidFill>
                  </a:tcPr>
                </a:tc>
                <a:tc>
                  <a:txBody>
                    <a:bodyPr/>
                    <a:lstStyle/>
                    <a:p>
                      <a:pPr algn="r"/>
                      <a:r>
                        <a:rPr sz="1250" b="0">
                          <a:solidFill>
                            <a:srgbClr val="000000"/>
                          </a:solidFill>
                          <a:latin typeface="Arial"/>
                        </a:rPr>
                        <a:t>+3.6</a:t>
                      </a:r>
                    </a:p>
                  </a:txBody>
                  <a:tcPr marL="82296" marR="82296" marT="18288" marB="18288" anchor="ctr">
                    <a:solidFill>
                      <a:srgbClr val="E8F0EE"/>
                    </a:solidFill>
                  </a:tcPr>
                </a:tc>
                <a:tc>
                  <a:txBody>
                    <a:bodyPr/>
                    <a:lstStyle/>
                    <a:p>
                      <a:pPr algn="r"/>
                      <a:r>
                        <a:rPr sz="1250" b="0">
                          <a:solidFill>
                            <a:srgbClr val="000000"/>
                          </a:solidFill>
                          <a:latin typeface="Arial"/>
                        </a:rPr>
                        <a:t>unclassified locus</a:t>
                      </a:r>
                    </a:p>
                  </a:txBody>
                  <a:tcPr marL="82296" marR="82296" marT="18288" marB="18288" anchor="ctr">
                    <a:solidFill>
                      <a:srgbClr val="E8F0EE"/>
                    </a:solidFill>
                  </a:tcPr>
                </a:tc>
              </a:tr>
            </a:tbl>
          </a:graphicData>
        </a:graphic>
      </p:graphicFrame>
      <p:sp>
        <p:nvSpPr>
          <p:cNvPr id="28" name="TextBox 27"/>
          <p:cNvSpPr txBox="1"/>
          <p:nvPr/>
        </p:nvSpPr>
        <p:spPr>
          <a:xfrm>
            <a:off x="6720840" y="4160520"/>
            <a:ext cx="5212080" cy="1645920"/>
          </a:xfrm>
          <a:prstGeom prst="rect">
            <a:avLst/>
          </a:prstGeom>
          <a:noFill/>
        </p:spPr>
        <p:txBody>
          <a:bodyPr wrap="square" anchor="t" lIns="0" rIns="0" tIns="0" bIns="0">
            <a:spAutoFit/>
          </a:bodyPr>
          <a:lstStyle/>
          <a:p>
            <a:pPr algn="l">
              <a:spcBef>
                <a:spcPts val="0"/>
              </a:spcBef>
              <a:spcAft>
                <a:spcPts val="1400"/>
              </a:spcAft>
            </a:pPr>
            <a:r>
              <a:rPr sz="1500" b="0" i="0">
                <a:solidFill>
                  <a:srgbClr val="595959"/>
                </a:solidFill>
                <a:latin typeface="Arial"/>
              </a:rPr>
              <a:t>Every one of the six is a readthrough transcript, a small nuclear RNA or an unannotated locus, on </a:t>
            </a:r>
            <a:r>
              <a:rPr sz="1500" b="1" i="0">
                <a:solidFill>
                  <a:srgbClr val="595959"/>
                </a:solidFill>
                <a:latin typeface="Arial"/>
              </a:rPr>
              <a:t>14–111 mean counts</a:t>
            </a:r>
            <a:r>
              <a:rPr sz="1500" b="0" i="0">
                <a:solidFill>
                  <a:srgbClr val="595959"/>
                </a:solidFill>
                <a:latin typeface="Arial"/>
              </a:rPr>
              <a:t> against a median of </a:t>
            </a:r>
            <a:r>
              <a:rPr sz="1500" b="1" i="0">
                <a:solidFill>
                  <a:srgbClr val="595959"/>
                </a:solidFill>
                <a:latin typeface="Arial"/>
              </a:rPr>
              <a:t>232</a:t>
            </a:r>
            <a:r>
              <a:rPr sz="1500" b="0" i="0">
                <a:solidFill>
                  <a:srgbClr val="595959"/>
                </a:solidFill>
                <a:latin typeface="Arial"/>
              </a:rPr>
              <a:t> — where a handful of reads makes a large ratio.</a:t>
            </a:r>
          </a:p>
          <a:p>
            <a:pPr algn="l">
              <a:spcBef>
                <a:spcPts val="0"/>
              </a:spcBef>
              <a:spcAft>
                <a:spcPts val="0"/>
              </a:spcAft>
            </a:pPr>
            <a:r>
              <a:rPr sz="1600" b="1" i="0">
                <a:solidFill>
                  <a:srgbClr val="095945"/>
                </a:solidFill>
                <a:latin typeface="Arial"/>
              </a:rPr>
              <a:t>A list this short does not carry the biology.</a:t>
            </a:r>
            <a:r>
              <a:rPr sz="1600" b="0" i="0">
                <a:solidFill>
                  <a:srgbClr val="095945"/>
                </a:solidFill>
                <a:latin typeface="Arial"/>
              </a:rPr>
              <a:t> The rest of the talk asks what the whole transcriptome is doing.</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b="0">
                <a:solidFill>
                  <a:srgbClr val="000000"/>
                </a:solidFill>
                <a:latin typeface="Arial"/>
              </a:rPr>
              <a:t>Results</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b="0">
                <a:solidFill>
                  <a:srgbClr val="000000"/>
                </a:solidFill>
                <a:latin typeface="Arial"/>
              </a:rPr>
              <a:t>One dominant theme: translation is switched off</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5"/>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b="0" i="0">
                <a:solidFill>
                  <a:srgbClr val="FFFFFF"/>
                </a:solidFill>
                <a:latin typeface="Arial"/>
              </a:rPr>
              <a:t>CNS 2026  ·  Washington, DC  ·  Abstract 418</a:t>
            </a:r>
          </a:p>
        </p:txBody>
      </p:sp>
      <p:pic>
        <p:nvPicPr>
          <p:cNvPr id="25" name="Picture 24" descr="chart_gsea.png"/>
          <p:cNvPicPr>
            <a:picLocks noChangeAspect="1"/>
          </p:cNvPicPr>
          <p:nvPr/>
        </p:nvPicPr>
        <p:blipFill>
          <a:blip r:embed="rId7"/>
          <a:stretch>
            <a:fillRect/>
          </a:stretch>
        </p:blipFill>
        <p:spPr>
          <a:xfrm>
            <a:off x="256032" y="1554480"/>
            <a:ext cx="8138160" cy="3530409"/>
          </a:xfrm>
          <a:prstGeom prst="rect">
            <a:avLst/>
          </a:prstGeom>
        </p:spPr>
      </p:pic>
      <p:sp>
        <p:nvSpPr>
          <p:cNvPr id="26" name="TextBox 25"/>
          <p:cNvSpPr txBox="1"/>
          <p:nvPr/>
        </p:nvSpPr>
        <p:spPr>
          <a:xfrm>
            <a:off x="8549640" y="1600200"/>
            <a:ext cx="3401568" cy="3931920"/>
          </a:xfrm>
          <a:prstGeom prst="rect">
            <a:avLst/>
          </a:prstGeom>
          <a:noFill/>
        </p:spPr>
        <p:txBody>
          <a:bodyPr wrap="square" anchor="t" lIns="0" rIns="0" tIns="0" bIns="0">
            <a:spAutoFit/>
          </a:bodyPr>
          <a:lstStyle/>
          <a:p>
            <a:pPr algn="l">
              <a:spcBef>
                <a:spcPts val="0"/>
              </a:spcBef>
              <a:spcAft>
                <a:spcPts val="1400"/>
              </a:spcAft>
            </a:pPr>
            <a:r>
              <a:rPr sz="1600" b="0" i="0">
                <a:solidFill>
                  <a:srgbClr val="000000"/>
                </a:solidFill>
                <a:latin typeface="Arial"/>
              </a:rPr>
              <a:t>Every leading down-regulated set is a translation or amino-acid-stress set.</a:t>
            </a:r>
          </a:p>
          <a:p>
            <a:pPr algn="l">
              <a:spcBef>
                <a:spcPts val="0"/>
              </a:spcBef>
              <a:spcAft>
                <a:spcPts val="1400"/>
              </a:spcAft>
            </a:pPr>
            <a:r>
              <a:rPr sz="1500" b="1" i="0">
                <a:solidFill>
                  <a:srgbClr val="000000"/>
                </a:solidFill>
                <a:latin typeface="Arial"/>
              </a:rPr>
              <a:t>The same direction runs across the whole anabolic programme:</a:t>
            </a:r>
            <a:r>
              <a:rPr sz="1500" b="0" i="0">
                <a:solidFill>
                  <a:srgbClr val="000000"/>
                </a:solidFill>
                <a:latin typeface="Arial"/>
              </a:rPr>
              <a:t> mTORC1 −1.46, MYC −1.29, ribosome biogenesis −1.62, glycolysis −1.57, OXPHOS −1.45.</a:t>
            </a:r>
          </a:p>
          <a:p>
            <a:pPr algn="l">
              <a:spcBef>
                <a:spcPts val="0"/>
              </a:spcBef>
              <a:spcAft>
                <a:spcPts val="0"/>
              </a:spcAft>
            </a:pPr>
            <a:r>
              <a:rPr sz="1500" b="0" i="0">
                <a:solidFill>
                  <a:srgbClr val="095945"/>
                </a:solidFill>
                <a:latin typeface="Arial"/>
              </a:rPr>
              <a:t>The TCA cycle is unchanged (−0.67) — this is the biosynthetic machinery, not core carbon flux.</a:t>
            </a:r>
          </a:p>
        </p:txBody>
      </p:sp>
      <p:sp>
        <p:nvSpPr>
          <p:cNvPr id="27" name="TextBox 26"/>
          <p:cNvSpPr txBox="1"/>
          <p:nvPr/>
        </p:nvSpPr>
        <p:spPr>
          <a:xfrm>
            <a:off x="1325880" y="5989320"/>
            <a:ext cx="10424160" cy="365760"/>
          </a:xfrm>
          <a:prstGeom prst="rect">
            <a:avLst/>
          </a:prstGeom>
          <a:noFill/>
        </p:spPr>
        <p:txBody>
          <a:bodyPr wrap="square" anchor="t" lIns="0" rIns="0" tIns="0" bIns="0">
            <a:spAutoFit/>
          </a:bodyPr>
          <a:lstStyle/>
          <a:p>
            <a:pPr algn="l">
              <a:spcBef>
                <a:spcPts val="0"/>
              </a:spcBef>
              <a:spcAft>
                <a:spcPts val="100"/>
              </a:spcAft>
            </a:pPr>
            <a:r>
              <a:rPr sz="900" b="0" i="0">
                <a:solidFill>
                  <a:srgbClr val="595959"/>
                </a:solidFill>
                <a:latin typeface="Arial"/>
              </a:rPr>
              <a:t>Broad GSEA, gene-set permutation, 1000 permutations, Diff_of_Classes. Nominal p is reported alongside FDR q because n = 3 per arm.</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b="0">
                <a:solidFill>
                  <a:srgbClr val="000000"/>
                </a:solidFill>
                <a:latin typeface="Arial"/>
              </a:rPr>
              <a:t>Results</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b="0">
                <a:solidFill>
                  <a:srgbClr val="000000"/>
                </a:solidFill>
                <a:latin typeface="Arial"/>
              </a:rPr>
              <a:t>The effect is strikingly one-sided</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5"/>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b="0" i="0">
                <a:solidFill>
                  <a:srgbClr val="FFFFFF"/>
                </a:solidFill>
                <a:latin typeface="Arial"/>
              </a:rPr>
              <a:t>CNS 2026  ·  Washington, DC  ·  Abstract 418</a:t>
            </a:r>
          </a:p>
        </p:txBody>
      </p:sp>
      <p:pic>
        <p:nvPicPr>
          <p:cNvPr id="25" name="Picture 24" descr="chart_gsea_landscape.png"/>
          <p:cNvPicPr>
            <a:picLocks noChangeAspect="1"/>
          </p:cNvPicPr>
          <p:nvPr/>
        </p:nvPicPr>
        <p:blipFill>
          <a:blip r:embed="rId7"/>
          <a:stretch>
            <a:fillRect/>
          </a:stretch>
        </p:blipFill>
        <p:spPr>
          <a:xfrm>
            <a:off x="274320" y="1508760"/>
            <a:ext cx="6720840" cy="3853955"/>
          </a:xfrm>
          <a:prstGeom prst="rect">
            <a:avLst/>
          </a:prstGeom>
        </p:spPr>
      </p:pic>
      <p:sp>
        <p:nvSpPr>
          <p:cNvPr id="26" name="TextBox 25"/>
          <p:cNvSpPr txBox="1"/>
          <p:nvPr/>
        </p:nvSpPr>
        <p:spPr>
          <a:xfrm>
            <a:off x="7223760" y="1572768"/>
            <a:ext cx="4709160" cy="3931920"/>
          </a:xfrm>
          <a:prstGeom prst="rect">
            <a:avLst/>
          </a:prstGeom>
          <a:noFill/>
        </p:spPr>
        <p:txBody>
          <a:bodyPr wrap="square" anchor="t" lIns="0" rIns="0" tIns="0" bIns="0">
            <a:spAutoFit/>
          </a:bodyPr>
          <a:lstStyle/>
          <a:p>
            <a:pPr algn="l">
              <a:spcBef>
                <a:spcPts val="0"/>
              </a:spcBef>
              <a:spcAft>
                <a:spcPts val="1800"/>
              </a:spcAft>
            </a:pPr>
            <a:r>
              <a:rPr sz="1800" b="0" i="0">
                <a:solidFill>
                  <a:srgbClr val="000000"/>
                </a:solidFill>
                <a:latin typeface="Arial"/>
              </a:rPr>
              <a:t>Across </a:t>
            </a:r>
            <a:r>
              <a:rPr sz="1800" b="1" i="0">
                <a:solidFill>
                  <a:srgbClr val="000000"/>
                </a:solidFill>
                <a:latin typeface="Arial"/>
              </a:rPr>
              <a:t>8,869 gene sets</a:t>
            </a:r>
            <a:r>
              <a:rPr sz="1800" b="0" i="0">
                <a:solidFill>
                  <a:srgbClr val="000000"/>
                </a:solidFill>
                <a:latin typeface="Arial"/>
              </a:rPr>
              <a:t>, six reach q &lt; 0.25. All six are down-regulated, and all six are translation or stress sets.</a:t>
            </a:r>
          </a:p>
          <a:p>
            <a:pPr algn="l">
              <a:spcBef>
                <a:spcPts val="0"/>
              </a:spcBef>
              <a:spcAft>
                <a:spcPts val="1800"/>
              </a:spcAft>
            </a:pPr>
            <a:r>
              <a:rPr sz="1800" b="0" i="0">
                <a:solidFill>
                  <a:srgbClr val="000000"/>
                </a:solidFill>
                <a:latin typeface="Arial"/>
              </a:rPr>
              <a:t>Nothing on the up-regulated side survives correction (best q = 0.61) or forms an interpretable group.</a:t>
            </a:r>
          </a:p>
          <a:p>
            <a:pPr algn="l">
              <a:spcBef>
                <a:spcPts val="0"/>
              </a:spcBef>
              <a:spcAft>
                <a:spcPts val="0"/>
              </a:spcAft>
            </a:pPr>
            <a:r>
              <a:rPr sz="1800" b="1" i="0">
                <a:solidFill>
                  <a:srgbClr val="095945"/>
                </a:solidFill>
                <a:latin typeface="Arial"/>
              </a:rPr>
              <a:t>The recurrent state is defined by what it switches off, not by a new program it switches on.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b="0">
                <a:solidFill>
                  <a:srgbClr val="000000"/>
                </a:solidFill>
                <a:latin typeface="Arial"/>
              </a:rPr>
              <a:t>Results</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b="0">
                <a:solidFill>
                  <a:srgbClr val="000000"/>
                </a:solidFill>
                <a:latin typeface="Arial"/>
              </a:rPr>
              <a:t>Scored against the published classifiers</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5"/>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b="0" i="0">
                <a:solidFill>
                  <a:srgbClr val="FFFFFF"/>
                </a:solidFill>
                <a:latin typeface="Arial"/>
              </a:rPr>
              <a:t>CNS 2026  ·  Washington, DC  ·  Abstract 418</a:t>
            </a:r>
          </a:p>
        </p:txBody>
      </p:sp>
      <p:pic>
        <p:nvPicPr>
          <p:cNvPr id="25" name="Picture 24" descr="chart_subtypes.png"/>
          <p:cNvPicPr>
            <a:picLocks noChangeAspect="1"/>
          </p:cNvPicPr>
          <p:nvPr/>
        </p:nvPicPr>
        <p:blipFill>
          <a:blip r:embed="rId7"/>
          <a:stretch>
            <a:fillRect/>
          </a:stretch>
        </p:blipFill>
        <p:spPr>
          <a:xfrm>
            <a:off x="274320" y="1600200"/>
            <a:ext cx="6309360" cy="3829061"/>
          </a:xfrm>
          <a:prstGeom prst="rect">
            <a:avLst/>
          </a:prstGeom>
        </p:spPr>
      </p:pic>
      <p:sp>
        <p:nvSpPr>
          <p:cNvPr id="26" name="TextBox 25"/>
          <p:cNvSpPr txBox="1"/>
          <p:nvPr/>
        </p:nvSpPr>
        <p:spPr>
          <a:xfrm>
            <a:off x="6812280" y="1554480"/>
            <a:ext cx="5120640" cy="4023360"/>
          </a:xfrm>
          <a:prstGeom prst="rect">
            <a:avLst/>
          </a:prstGeom>
          <a:noFill/>
        </p:spPr>
        <p:txBody>
          <a:bodyPr wrap="square" anchor="t" lIns="0" rIns="0" tIns="0" bIns="0">
            <a:spAutoFit/>
          </a:bodyPr>
          <a:lstStyle/>
          <a:p>
            <a:pPr algn="l">
              <a:spcBef>
                <a:spcPts val="0"/>
              </a:spcBef>
              <a:spcAft>
                <a:spcPts val="1600"/>
              </a:spcAft>
            </a:pPr>
            <a:r>
              <a:rPr sz="1700" b="0" i="0">
                <a:solidFill>
                  <a:srgbClr val="595959"/>
                </a:solidFill>
                <a:latin typeface="Arial"/>
              </a:rPr>
              <a:t>Ten published Neftel and Garofano signatures, scored by </a:t>
            </a:r>
            <a:r>
              <a:rPr sz="1700" b="1" i="0">
                <a:solidFill>
                  <a:srgbClr val="595959"/>
                </a:solidFill>
                <a:latin typeface="Arial"/>
              </a:rPr>
              <a:t>GSVA</a:t>
            </a:r>
            <a:r>
              <a:rPr sz="1700" b="0" i="0">
                <a:solidFill>
                  <a:srgbClr val="595959"/>
                </a:solidFill>
                <a:latin typeface="Arial"/>
              </a:rPr>
              <a:t> — 39 to 50 genes each.</a:t>
            </a:r>
          </a:p>
          <a:p>
            <a:pPr algn="l">
              <a:spcBef>
                <a:spcPts val="0"/>
              </a:spcBef>
              <a:spcAft>
                <a:spcPts val="1600"/>
              </a:spcAft>
            </a:pPr>
            <a:r>
              <a:rPr sz="1700" b="0" i="0">
                <a:solidFill>
                  <a:srgbClr val="000000"/>
                </a:solidFill>
                <a:latin typeface="Arial"/>
              </a:rPr>
              <a:t>One transition reaches significance: </a:t>
            </a:r>
            <a:r>
              <a:rPr sz="1700" b="1" i="0">
                <a:solidFill>
                  <a:srgbClr val="000000"/>
                </a:solidFill>
                <a:latin typeface="Arial"/>
              </a:rPr>
              <a:t>loss of the astrocyte-like state</a:t>
            </a:r>
            <a:r>
              <a:rPr sz="1700" b="0" i="0">
                <a:solidFill>
                  <a:srgbClr val="000000"/>
                </a:solidFill>
                <a:latin typeface="Arial"/>
              </a:rPr>
              <a:t> (+0.26 → −0.27, p = 0.007).</a:t>
            </a:r>
          </a:p>
          <a:p>
            <a:pPr algn="l">
              <a:spcBef>
                <a:spcPts val="0"/>
              </a:spcBef>
              <a:spcAft>
                <a:spcPts val="0"/>
              </a:spcAft>
            </a:pPr>
            <a:r>
              <a:rPr sz="1700" b="1" i="0">
                <a:solidFill>
                  <a:srgbClr val="095945"/>
                </a:solidFill>
                <a:latin typeface="Arial"/>
              </a:rPr>
              <a:t>The mitochondrial signature moves with them (−0.58)</a:t>
            </a:r>
            <a:r>
              <a:rPr sz="1700" b="0" i="0">
                <a:solidFill>
                  <a:srgbClr val="095945"/>
                </a:solidFill>
                <a:latin typeface="Arial"/>
              </a:rPr>
              <a:t> — the same direction as the fall in OXPHOS and mitochondrial translation, and 34 of its 35 measurable genes are lower in recurrence.</a:t>
            </a:r>
          </a:p>
        </p:txBody>
      </p:sp>
      <p:sp>
        <p:nvSpPr>
          <p:cNvPr id="27" name="TextBox 26"/>
          <p:cNvSpPr txBox="1"/>
          <p:nvPr/>
        </p:nvSpPr>
        <p:spPr>
          <a:xfrm>
            <a:off x="1325880" y="5989320"/>
            <a:ext cx="10424160" cy="365760"/>
          </a:xfrm>
          <a:prstGeom prst="rect">
            <a:avLst/>
          </a:prstGeom>
          <a:noFill/>
        </p:spPr>
        <p:txBody>
          <a:bodyPr wrap="square" anchor="t" lIns="0" rIns="0" tIns="0" bIns="0">
            <a:spAutoFit/>
          </a:bodyPr>
          <a:lstStyle/>
          <a:p>
            <a:pPr algn="l">
              <a:spcBef>
                <a:spcPts val="0"/>
              </a:spcBef>
              <a:spcAft>
                <a:spcPts val="100"/>
              </a:spcAft>
            </a:pPr>
            <a:r>
              <a:rPr sz="900" b="0" i="0">
                <a:solidFill>
                  <a:srgbClr val="595959"/>
                </a:solidFill>
                <a:latin typeface="Arial"/>
              </a:rPr>
              <a:t>7. Garofano L, et al. Nat Cancer 2021;2:141–156.    8. Neftel C, et al. Cell 2019;178:835–849.</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b="0">
                <a:solidFill>
                  <a:srgbClr val="000000"/>
                </a:solidFill>
                <a:latin typeface="Arial"/>
              </a:rPr>
              <a:t>Results</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b="0">
                <a:solidFill>
                  <a:srgbClr val="000000"/>
                </a:solidFill>
                <a:latin typeface="Arial"/>
              </a:rPr>
              <a:t>The hubs: matrix genes down, calcium genes up</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5"/>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b="0" i="0">
                <a:solidFill>
                  <a:srgbClr val="FFFFFF"/>
                </a:solidFill>
                <a:latin typeface="Arial"/>
              </a:rPr>
              <a:t>CNS 2026  ·  Washington, DC  ·  Abstract 418</a:t>
            </a:r>
          </a:p>
        </p:txBody>
      </p:sp>
      <p:pic>
        <p:nvPicPr>
          <p:cNvPr id="25" name="Picture 24" descr="chart_ppi.png"/>
          <p:cNvPicPr>
            <a:picLocks noChangeAspect="1"/>
          </p:cNvPicPr>
          <p:nvPr/>
        </p:nvPicPr>
        <p:blipFill>
          <a:blip r:embed="rId7"/>
          <a:stretch>
            <a:fillRect/>
          </a:stretch>
        </p:blipFill>
        <p:spPr>
          <a:xfrm>
            <a:off x="274320" y="2240280"/>
            <a:ext cx="5623559" cy="3004182"/>
          </a:xfrm>
          <a:prstGeom prst="rect">
            <a:avLst/>
          </a:prstGeom>
        </p:spPr>
      </p:pic>
      <p:graphicFrame>
        <p:nvGraphicFramePr>
          <p:cNvPr id="26" name="Table 25"/>
          <p:cNvGraphicFramePr>
            <a:graphicFrameLocks noGrp="1"/>
          </p:cNvGraphicFramePr>
          <p:nvPr/>
        </p:nvGraphicFramePr>
        <p:xfrm>
          <a:off x="6080760" y="1389888"/>
          <a:ext cx="5852160" cy="2990088"/>
        </p:xfrm>
        <a:graphic>
          <a:graphicData uri="http://schemas.openxmlformats.org/drawingml/2006/table">
            <a:tbl>
              <a:tblPr firstRow="1" bandRow="0">
                <a:tableStyleId>{2D5ABB26-0587-4C30-8999-92F81FD0307C}</a:tableStyleId>
              </a:tblPr>
              <a:tblGrid>
                <a:gridCol w="1417320"/>
                <a:gridCol w="868680"/>
                <a:gridCol w="3566160"/>
              </a:tblGrid>
              <a:tr h="274320">
                <a:tc>
                  <a:txBody>
                    <a:bodyPr/>
                    <a:lstStyle/>
                    <a:p>
                      <a:pPr algn="l"/>
                      <a:r>
                        <a:rPr sz="1200" b="1">
                          <a:solidFill>
                            <a:srgbClr val="FFFFFF"/>
                          </a:solidFill>
                          <a:latin typeface="Arial"/>
                        </a:rPr>
                        <a:t>Hub gene</a:t>
                      </a:r>
                    </a:p>
                  </a:txBody>
                  <a:tcPr marL="82296" marR="82296" marT="18288" marB="18288" anchor="ctr">
                    <a:solidFill>
                      <a:srgbClr val="095945"/>
                    </a:solidFill>
                  </a:tcPr>
                </a:tc>
                <a:tc>
                  <a:txBody>
                    <a:bodyPr/>
                    <a:lstStyle/>
                    <a:p>
                      <a:pPr algn="r"/>
                      <a:r>
                        <a:rPr sz="1200" b="1">
                          <a:solidFill>
                            <a:srgbClr val="FFFFFF"/>
                          </a:solidFill>
                          <a:latin typeface="Arial"/>
                        </a:rPr>
                        <a:t>log₂FC</a:t>
                      </a:r>
                    </a:p>
                  </a:txBody>
                  <a:tcPr marL="82296" marR="82296" marT="18288" marB="18288" anchor="ctr">
                    <a:solidFill>
                      <a:srgbClr val="095945"/>
                    </a:solidFill>
                  </a:tcPr>
                </a:tc>
                <a:tc>
                  <a:txBody>
                    <a:bodyPr/>
                    <a:lstStyle/>
                    <a:p>
                      <a:pPr algn="r"/>
                      <a:r>
                        <a:rPr sz="1200" b="1">
                          <a:solidFill>
                            <a:srgbClr val="FFFFFF"/>
                          </a:solidFill>
                          <a:latin typeface="Arial"/>
                        </a:rPr>
                        <a:t>what it is</a:t>
                      </a:r>
                    </a:p>
                  </a:txBody>
                  <a:tcPr marL="82296" marR="82296" marT="18288" marB="18288" anchor="ctr">
                    <a:solidFill>
                      <a:srgbClr val="095945"/>
                    </a:solidFill>
                  </a:tcPr>
                </a:tc>
              </a:tr>
              <a:tr h="246888">
                <a:tc>
                  <a:txBody>
                    <a:bodyPr/>
                    <a:lstStyle/>
                    <a:p>
                      <a:pPr algn="l"/>
                      <a:r>
                        <a:rPr sz="1200" b="0">
                          <a:solidFill>
                            <a:srgbClr val="000000"/>
                          </a:solidFill>
                          <a:latin typeface="Arial"/>
                        </a:rPr>
                        <a:t>HMCN1</a:t>
                      </a:r>
                    </a:p>
                  </a:txBody>
                  <a:tcPr marL="82296" marR="82296" marT="18288" marB="18288" anchor="ctr">
                    <a:solidFill>
                      <a:srgbClr val="FFFFFF"/>
                    </a:solidFill>
                  </a:tcPr>
                </a:tc>
                <a:tc>
                  <a:txBody>
                    <a:bodyPr/>
                    <a:lstStyle/>
                    <a:p>
                      <a:pPr algn="r"/>
                      <a:r>
                        <a:rPr sz="1200" b="0">
                          <a:solidFill>
                            <a:srgbClr val="000000"/>
                          </a:solidFill>
                          <a:latin typeface="Arial"/>
                        </a:rPr>
                        <a:t>−2.01</a:t>
                      </a:r>
                    </a:p>
                  </a:txBody>
                  <a:tcPr marL="82296" marR="82296" marT="18288" marB="18288" anchor="ctr">
                    <a:solidFill>
                      <a:srgbClr val="FFFFFF"/>
                    </a:solidFill>
                  </a:tcPr>
                </a:tc>
                <a:tc>
                  <a:txBody>
                    <a:bodyPr/>
                    <a:lstStyle/>
                    <a:p>
                      <a:pPr algn="r"/>
                      <a:r>
                        <a:rPr sz="1200" b="0">
                          <a:solidFill>
                            <a:srgbClr val="000000"/>
                          </a:solidFill>
                          <a:latin typeface="Arial"/>
                        </a:rPr>
                        <a:t>hemicentin 1</a:t>
                      </a:r>
                    </a:p>
                  </a:txBody>
                  <a:tcPr marL="82296" marR="82296" marT="18288" marB="18288" anchor="ctr">
                    <a:solidFill>
                      <a:srgbClr val="FFFFFF"/>
                    </a:solidFill>
                  </a:tcPr>
                </a:tc>
              </a:tr>
              <a:tr h="246888">
                <a:tc>
                  <a:txBody>
                    <a:bodyPr/>
                    <a:lstStyle/>
                    <a:p>
                      <a:pPr algn="l"/>
                      <a:r>
                        <a:rPr sz="1200" b="0">
                          <a:solidFill>
                            <a:srgbClr val="000000"/>
                          </a:solidFill>
                          <a:latin typeface="Arial"/>
                        </a:rPr>
                        <a:t>PRELP</a:t>
                      </a:r>
                    </a:p>
                  </a:txBody>
                  <a:tcPr marL="82296" marR="82296" marT="18288" marB="18288" anchor="ctr">
                    <a:solidFill>
                      <a:srgbClr val="E8F0EE"/>
                    </a:solidFill>
                  </a:tcPr>
                </a:tc>
                <a:tc>
                  <a:txBody>
                    <a:bodyPr/>
                    <a:lstStyle/>
                    <a:p>
                      <a:pPr algn="r"/>
                      <a:r>
                        <a:rPr sz="1200" b="0">
                          <a:solidFill>
                            <a:srgbClr val="000000"/>
                          </a:solidFill>
                          <a:latin typeface="Arial"/>
                        </a:rPr>
                        <a:t>−1.66</a:t>
                      </a:r>
                    </a:p>
                  </a:txBody>
                  <a:tcPr marL="82296" marR="82296" marT="18288" marB="18288" anchor="ctr">
                    <a:solidFill>
                      <a:srgbClr val="E8F0EE"/>
                    </a:solidFill>
                  </a:tcPr>
                </a:tc>
                <a:tc>
                  <a:txBody>
                    <a:bodyPr/>
                    <a:lstStyle/>
                    <a:p>
                      <a:pPr algn="r"/>
                      <a:r>
                        <a:rPr sz="1200" b="0">
                          <a:solidFill>
                            <a:srgbClr val="000000"/>
                          </a:solidFill>
                          <a:latin typeface="Arial"/>
                        </a:rPr>
                        <a:t>prolargin</a:t>
                      </a:r>
                    </a:p>
                  </a:txBody>
                  <a:tcPr marL="82296" marR="82296" marT="18288" marB="18288" anchor="ctr">
                    <a:solidFill>
                      <a:srgbClr val="E8F0EE"/>
                    </a:solidFill>
                  </a:tcPr>
                </a:tc>
              </a:tr>
              <a:tr h="246888">
                <a:tc>
                  <a:txBody>
                    <a:bodyPr/>
                    <a:lstStyle/>
                    <a:p>
                      <a:pPr algn="l"/>
                      <a:r>
                        <a:rPr sz="1200" b="0">
                          <a:solidFill>
                            <a:srgbClr val="000000"/>
                          </a:solidFill>
                          <a:latin typeface="Arial"/>
                        </a:rPr>
                        <a:t>BGN</a:t>
                      </a:r>
                    </a:p>
                  </a:txBody>
                  <a:tcPr marL="82296" marR="82296" marT="18288" marB="18288" anchor="ctr">
                    <a:solidFill>
                      <a:srgbClr val="FFFFFF"/>
                    </a:solidFill>
                  </a:tcPr>
                </a:tc>
                <a:tc>
                  <a:txBody>
                    <a:bodyPr/>
                    <a:lstStyle/>
                    <a:p>
                      <a:pPr algn="r"/>
                      <a:r>
                        <a:rPr sz="1200" b="0">
                          <a:solidFill>
                            <a:srgbClr val="000000"/>
                          </a:solidFill>
                          <a:latin typeface="Arial"/>
                        </a:rPr>
                        <a:t>−1.54</a:t>
                      </a:r>
                    </a:p>
                  </a:txBody>
                  <a:tcPr marL="82296" marR="82296" marT="18288" marB="18288" anchor="ctr">
                    <a:solidFill>
                      <a:srgbClr val="FFFFFF"/>
                    </a:solidFill>
                  </a:tcPr>
                </a:tc>
                <a:tc>
                  <a:txBody>
                    <a:bodyPr/>
                    <a:lstStyle/>
                    <a:p>
                      <a:pPr algn="r"/>
                      <a:r>
                        <a:rPr sz="1200" b="0">
                          <a:solidFill>
                            <a:srgbClr val="000000"/>
                          </a:solidFill>
                          <a:latin typeface="Arial"/>
                        </a:rPr>
                        <a:t>biglycan</a:t>
                      </a:r>
                    </a:p>
                  </a:txBody>
                  <a:tcPr marL="82296" marR="82296" marT="18288" marB="18288" anchor="ctr">
                    <a:solidFill>
                      <a:srgbClr val="FFFFFF"/>
                    </a:solidFill>
                  </a:tcPr>
                </a:tc>
              </a:tr>
              <a:tr h="246888">
                <a:tc>
                  <a:txBody>
                    <a:bodyPr/>
                    <a:lstStyle/>
                    <a:p>
                      <a:pPr algn="l"/>
                      <a:r>
                        <a:rPr sz="1200" b="0">
                          <a:solidFill>
                            <a:srgbClr val="000000"/>
                          </a:solidFill>
                          <a:latin typeface="Arial"/>
                        </a:rPr>
                        <a:t>LRP1</a:t>
                      </a:r>
                    </a:p>
                  </a:txBody>
                  <a:tcPr marL="82296" marR="82296" marT="18288" marB="18288" anchor="ctr">
                    <a:solidFill>
                      <a:srgbClr val="E8F0EE"/>
                    </a:solidFill>
                  </a:tcPr>
                </a:tc>
                <a:tc>
                  <a:txBody>
                    <a:bodyPr/>
                    <a:lstStyle/>
                    <a:p>
                      <a:pPr algn="r"/>
                      <a:r>
                        <a:rPr sz="1200" b="0">
                          <a:solidFill>
                            <a:srgbClr val="000000"/>
                          </a:solidFill>
                          <a:latin typeface="Arial"/>
                        </a:rPr>
                        <a:t>−1.22</a:t>
                      </a:r>
                    </a:p>
                  </a:txBody>
                  <a:tcPr marL="82296" marR="82296" marT="18288" marB="18288" anchor="ctr">
                    <a:solidFill>
                      <a:srgbClr val="E8F0EE"/>
                    </a:solidFill>
                  </a:tcPr>
                </a:tc>
                <a:tc>
                  <a:txBody>
                    <a:bodyPr/>
                    <a:lstStyle/>
                    <a:p>
                      <a:pPr algn="r"/>
                      <a:r>
                        <a:rPr sz="1200" b="0">
                          <a:solidFill>
                            <a:srgbClr val="000000"/>
                          </a:solidFill>
                          <a:latin typeface="Arial"/>
                        </a:rPr>
                        <a:t>LDL-receptor–related protein 1</a:t>
                      </a:r>
                    </a:p>
                  </a:txBody>
                  <a:tcPr marL="82296" marR="82296" marT="18288" marB="18288" anchor="ctr">
                    <a:solidFill>
                      <a:srgbClr val="E8F0EE"/>
                    </a:solidFill>
                  </a:tcPr>
                </a:tc>
              </a:tr>
              <a:tr h="246888">
                <a:tc>
                  <a:txBody>
                    <a:bodyPr/>
                    <a:lstStyle/>
                    <a:p>
                      <a:pPr algn="l"/>
                      <a:r>
                        <a:rPr sz="1200" b="0">
                          <a:solidFill>
                            <a:srgbClr val="000000"/>
                          </a:solidFill>
                          <a:latin typeface="Arial"/>
                        </a:rPr>
                        <a:t>IGFBP3</a:t>
                      </a:r>
                    </a:p>
                  </a:txBody>
                  <a:tcPr marL="82296" marR="82296" marT="18288" marB="18288" anchor="ctr">
                    <a:solidFill>
                      <a:srgbClr val="FFFFFF"/>
                    </a:solidFill>
                  </a:tcPr>
                </a:tc>
                <a:tc>
                  <a:txBody>
                    <a:bodyPr/>
                    <a:lstStyle/>
                    <a:p>
                      <a:pPr algn="r"/>
                      <a:r>
                        <a:rPr sz="1200" b="0">
                          <a:solidFill>
                            <a:srgbClr val="000000"/>
                          </a:solidFill>
                          <a:latin typeface="Arial"/>
                        </a:rPr>
                        <a:t>−1.18</a:t>
                      </a:r>
                    </a:p>
                  </a:txBody>
                  <a:tcPr marL="82296" marR="82296" marT="18288" marB="18288" anchor="ctr">
                    <a:solidFill>
                      <a:srgbClr val="FFFFFF"/>
                    </a:solidFill>
                  </a:tcPr>
                </a:tc>
                <a:tc>
                  <a:txBody>
                    <a:bodyPr/>
                    <a:lstStyle/>
                    <a:p>
                      <a:pPr algn="r"/>
                      <a:r>
                        <a:rPr sz="1200" b="0">
                          <a:solidFill>
                            <a:srgbClr val="000000"/>
                          </a:solidFill>
                          <a:latin typeface="Arial"/>
                        </a:rPr>
                        <a:t>IGF-binding protein 3</a:t>
                      </a:r>
                    </a:p>
                  </a:txBody>
                  <a:tcPr marL="82296" marR="82296" marT="18288" marB="18288" anchor="ctr">
                    <a:solidFill>
                      <a:srgbClr val="FFFFFF"/>
                    </a:solidFill>
                  </a:tcPr>
                </a:tc>
              </a:tr>
              <a:tr h="246888">
                <a:tc>
                  <a:txBody>
                    <a:bodyPr/>
                    <a:lstStyle/>
                    <a:p>
                      <a:pPr algn="l"/>
                      <a:r>
                        <a:rPr sz="1200" b="0">
                          <a:solidFill>
                            <a:srgbClr val="000000"/>
                          </a:solidFill>
                          <a:latin typeface="Arial"/>
                        </a:rPr>
                        <a:t>COL1A1</a:t>
                      </a:r>
                    </a:p>
                  </a:txBody>
                  <a:tcPr marL="82296" marR="82296" marT="18288" marB="18288" anchor="ctr">
                    <a:solidFill>
                      <a:srgbClr val="E8F0EE"/>
                    </a:solidFill>
                  </a:tcPr>
                </a:tc>
                <a:tc>
                  <a:txBody>
                    <a:bodyPr/>
                    <a:lstStyle/>
                    <a:p>
                      <a:pPr algn="r"/>
                      <a:r>
                        <a:rPr sz="1200" b="0">
                          <a:solidFill>
                            <a:srgbClr val="000000"/>
                          </a:solidFill>
                          <a:latin typeface="Arial"/>
                        </a:rPr>
                        <a:t>−1.16</a:t>
                      </a:r>
                    </a:p>
                  </a:txBody>
                  <a:tcPr marL="82296" marR="82296" marT="18288" marB="18288" anchor="ctr">
                    <a:solidFill>
                      <a:srgbClr val="E8F0EE"/>
                    </a:solidFill>
                  </a:tcPr>
                </a:tc>
                <a:tc>
                  <a:txBody>
                    <a:bodyPr/>
                    <a:lstStyle/>
                    <a:p>
                      <a:pPr algn="r"/>
                      <a:r>
                        <a:rPr sz="1200" b="0">
                          <a:solidFill>
                            <a:srgbClr val="000000"/>
                          </a:solidFill>
                          <a:latin typeface="Arial"/>
                        </a:rPr>
                        <a:t>collagen type I α1</a:t>
                      </a:r>
                    </a:p>
                  </a:txBody>
                  <a:tcPr marL="82296" marR="82296" marT="18288" marB="18288" anchor="ctr">
                    <a:solidFill>
                      <a:srgbClr val="E8F0EE"/>
                    </a:solidFill>
                  </a:tcPr>
                </a:tc>
              </a:tr>
              <a:tr h="246888">
                <a:tc>
                  <a:txBody>
                    <a:bodyPr/>
                    <a:lstStyle/>
                    <a:p>
                      <a:pPr algn="l"/>
                      <a:r>
                        <a:rPr sz="1200" b="0">
                          <a:solidFill>
                            <a:srgbClr val="000000"/>
                          </a:solidFill>
                          <a:latin typeface="Arial"/>
                        </a:rPr>
                        <a:t>GPC3</a:t>
                      </a:r>
                    </a:p>
                  </a:txBody>
                  <a:tcPr marL="82296" marR="82296" marT="18288" marB="18288" anchor="ctr">
                    <a:solidFill>
                      <a:srgbClr val="FFFFFF"/>
                    </a:solidFill>
                  </a:tcPr>
                </a:tc>
                <a:tc>
                  <a:txBody>
                    <a:bodyPr/>
                    <a:lstStyle/>
                    <a:p>
                      <a:pPr algn="r"/>
                      <a:r>
                        <a:rPr sz="1200" b="0">
                          <a:solidFill>
                            <a:srgbClr val="000000"/>
                          </a:solidFill>
                          <a:latin typeface="Arial"/>
                        </a:rPr>
                        <a:t>+2.17</a:t>
                      </a:r>
                    </a:p>
                  </a:txBody>
                  <a:tcPr marL="82296" marR="82296" marT="18288" marB="18288" anchor="ctr">
                    <a:solidFill>
                      <a:srgbClr val="FFFFFF"/>
                    </a:solidFill>
                  </a:tcPr>
                </a:tc>
                <a:tc>
                  <a:txBody>
                    <a:bodyPr/>
                    <a:lstStyle/>
                    <a:p>
                      <a:pPr algn="r"/>
                      <a:r>
                        <a:rPr sz="1200" b="0">
                          <a:solidFill>
                            <a:srgbClr val="000000"/>
                          </a:solidFill>
                          <a:latin typeface="Arial"/>
                        </a:rPr>
                        <a:t>glypican 3</a:t>
                      </a:r>
                    </a:p>
                  </a:txBody>
                  <a:tcPr marL="82296" marR="82296" marT="18288" marB="18288" anchor="ctr">
                    <a:solidFill>
                      <a:srgbClr val="FFFFFF"/>
                    </a:solidFill>
                  </a:tcPr>
                </a:tc>
              </a:tr>
              <a:tr h="246888">
                <a:tc>
                  <a:txBody>
                    <a:bodyPr/>
                    <a:lstStyle/>
                    <a:p>
                      <a:pPr algn="l"/>
                      <a:r>
                        <a:rPr sz="1200" b="0">
                          <a:solidFill>
                            <a:srgbClr val="000000"/>
                          </a:solidFill>
                          <a:latin typeface="Arial"/>
                        </a:rPr>
                        <a:t>COL17A1</a:t>
                      </a:r>
                    </a:p>
                  </a:txBody>
                  <a:tcPr marL="82296" marR="82296" marT="18288" marB="18288" anchor="ctr">
                    <a:solidFill>
                      <a:srgbClr val="E8F0EE"/>
                    </a:solidFill>
                  </a:tcPr>
                </a:tc>
                <a:tc>
                  <a:txBody>
                    <a:bodyPr/>
                    <a:lstStyle/>
                    <a:p>
                      <a:pPr algn="r"/>
                      <a:r>
                        <a:rPr sz="1200" b="0">
                          <a:solidFill>
                            <a:srgbClr val="000000"/>
                          </a:solidFill>
                          <a:latin typeface="Arial"/>
                        </a:rPr>
                        <a:t>+1.45</a:t>
                      </a:r>
                    </a:p>
                  </a:txBody>
                  <a:tcPr marL="82296" marR="82296" marT="18288" marB="18288" anchor="ctr">
                    <a:solidFill>
                      <a:srgbClr val="E8F0EE"/>
                    </a:solidFill>
                  </a:tcPr>
                </a:tc>
                <a:tc>
                  <a:txBody>
                    <a:bodyPr/>
                    <a:lstStyle/>
                    <a:p>
                      <a:pPr algn="r"/>
                      <a:r>
                        <a:rPr sz="1200" b="0">
                          <a:solidFill>
                            <a:srgbClr val="000000"/>
                          </a:solidFill>
                          <a:latin typeface="Arial"/>
                        </a:rPr>
                        <a:t>collagen type XVII α1</a:t>
                      </a:r>
                    </a:p>
                  </a:txBody>
                  <a:tcPr marL="82296" marR="82296" marT="18288" marB="18288" anchor="ctr">
                    <a:solidFill>
                      <a:srgbClr val="E8F0EE"/>
                    </a:solidFill>
                  </a:tcPr>
                </a:tc>
              </a:tr>
              <a:tr h="246888">
                <a:tc>
                  <a:txBody>
                    <a:bodyPr/>
                    <a:lstStyle/>
                    <a:p>
                      <a:pPr algn="l"/>
                      <a:r>
                        <a:rPr sz="1200" b="0">
                          <a:solidFill>
                            <a:srgbClr val="000000"/>
                          </a:solidFill>
                          <a:latin typeface="Arial"/>
                        </a:rPr>
                        <a:t>CALB1</a:t>
                      </a:r>
                    </a:p>
                  </a:txBody>
                  <a:tcPr marL="82296" marR="82296" marT="18288" marB="18288" anchor="ctr">
                    <a:solidFill>
                      <a:srgbClr val="FFFFFF"/>
                    </a:solidFill>
                  </a:tcPr>
                </a:tc>
                <a:tc>
                  <a:txBody>
                    <a:bodyPr/>
                    <a:lstStyle/>
                    <a:p>
                      <a:pPr algn="r"/>
                      <a:r>
                        <a:rPr sz="1200" b="0">
                          <a:solidFill>
                            <a:srgbClr val="000000"/>
                          </a:solidFill>
                          <a:latin typeface="Arial"/>
                        </a:rPr>
                        <a:t>+1.22</a:t>
                      </a:r>
                    </a:p>
                  </a:txBody>
                  <a:tcPr marL="82296" marR="82296" marT="18288" marB="18288" anchor="ctr">
                    <a:solidFill>
                      <a:srgbClr val="FFFFFF"/>
                    </a:solidFill>
                  </a:tcPr>
                </a:tc>
                <a:tc>
                  <a:txBody>
                    <a:bodyPr/>
                    <a:lstStyle/>
                    <a:p>
                      <a:pPr algn="r"/>
                      <a:r>
                        <a:rPr sz="1200" b="0">
                          <a:solidFill>
                            <a:srgbClr val="000000"/>
                          </a:solidFill>
                          <a:latin typeface="Arial"/>
                        </a:rPr>
                        <a:t>calbindin 1</a:t>
                      </a:r>
                    </a:p>
                  </a:txBody>
                  <a:tcPr marL="82296" marR="82296" marT="18288" marB="18288" anchor="ctr">
                    <a:solidFill>
                      <a:srgbClr val="FFFFFF"/>
                    </a:solidFill>
                  </a:tcPr>
                </a:tc>
              </a:tr>
              <a:tr h="246888">
                <a:tc>
                  <a:txBody>
                    <a:bodyPr/>
                    <a:lstStyle/>
                    <a:p>
                      <a:pPr algn="l"/>
                      <a:r>
                        <a:rPr sz="1200" b="0">
                          <a:solidFill>
                            <a:srgbClr val="000000"/>
                          </a:solidFill>
                          <a:latin typeface="Arial"/>
                        </a:rPr>
                        <a:t>PCLO</a:t>
                      </a:r>
                    </a:p>
                  </a:txBody>
                  <a:tcPr marL="82296" marR="82296" marT="18288" marB="18288" anchor="ctr">
                    <a:solidFill>
                      <a:srgbClr val="E8F0EE"/>
                    </a:solidFill>
                  </a:tcPr>
                </a:tc>
                <a:tc>
                  <a:txBody>
                    <a:bodyPr/>
                    <a:lstStyle/>
                    <a:p>
                      <a:pPr algn="r"/>
                      <a:r>
                        <a:rPr sz="1200" b="0">
                          <a:solidFill>
                            <a:srgbClr val="000000"/>
                          </a:solidFill>
                          <a:latin typeface="Arial"/>
                        </a:rPr>
                        <a:t>+1.17</a:t>
                      </a:r>
                    </a:p>
                  </a:txBody>
                  <a:tcPr marL="82296" marR="82296" marT="18288" marB="18288" anchor="ctr">
                    <a:solidFill>
                      <a:srgbClr val="E8F0EE"/>
                    </a:solidFill>
                  </a:tcPr>
                </a:tc>
                <a:tc>
                  <a:txBody>
                    <a:bodyPr/>
                    <a:lstStyle/>
                    <a:p>
                      <a:pPr algn="r"/>
                      <a:r>
                        <a:rPr sz="1200" b="0">
                          <a:solidFill>
                            <a:srgbClr val="000000"/>
                          </a:solidFill>
                          <a:latin typeface="Arial"/>
                        </a:rPr>
                        <a:t>presynaptic cytomatrix protein</a:t>
                      </a:r>
                    </a:p>
                  </a:txBody>
                  <a:tcPr marL="82296" marR="82296" marT="18288" marB="18288" anchor="ctr">
                    <a:solidFill>
                      <a:srgbClr val="E8F0EE"/>
                    </a:solidFill>
                  </a:tcPr>
                </a:tc>
              </a:tr>
              <a:tr h="246888">
                <a:tc>
                  <a:txBody>
                    <a:bodyPr/>
                    <a:lstStyle/>
                    <a:p>
                      <a:pPr algn="l"/>
                      <a:r>
                        <a:rPr sz="1200" b="0">
                          <a:solidFill>
                            <a:srgbClr val="000000"/>
                          </a:solidFill>
                          <a:latin typeface="Arial"/>
                        </a:rPr>
                        <a:t>RYR2</a:t>
                      </a:r>
                    </a:p>
                  </a:txBody>
                  <a:tcPr marL="82296" marR="82296" marT="18288" marB="18288" anchor="ctr">
                    <a:solidFill>
                      <a:srgbClr val="FFFFFF"/>
                    </a:solidFill>
                  </a:tcPr>
                </a:tc>
                <a:tc>
                  <a:txBody>
                    <a:bodyPr/>
                    <a:lstStyle/>
                    <a:p>
                      <a:pPr algn="r"/>
                      <a:r>
                        <a:rPr sz="1200" b="0">
                          <a:solidFill>
                            <a:srgbClr val="000000"/>
                          </a:solidFill>
                          <a:latin typeface="Arial"/>
                        </a:rPr>
                        <a:t>+1.03</a:t>
                      </a:r>
                    </a:p>
                  </a:txBody>
                  <a:tcPr marL="82296" marR="82296" marT="18288" marB="18288" anchor="ctr">
                    <a:solidFill>
                      <a:srgbClr val="FFFFFF"/>
                    </a:solidFill>
                  </a:tcPr>
                </a:tc>
                <a:tc>
                  <a:txBody>
                    <a:bodyPr/>
                    <a:lstStyle/>
                    <a:p>
                      <a:pPr algn="r"/>
                      <a:r>
                        <a:rPr sz="1200" b="0">
                          <a:solidFill>
                            <a:srgbClr val="000000"/>
                          </a:solidFill>
                          <a:latin typeface="Arial"/>
                        </a:rPr>
                        <a:t>ryanodine receptor 2</a:t>
                      </a:r>
                    </a:p>
                  </a:txBody>
                  <a:tcPr marL="82296" marR="82296" marT="18288" marB="18288" anchor="ctr">
                    <a:solidFill>
                      <a:srgbClr val="FFFFFF"/>
                    </a:solidFill>
                  </a:tcPr>
                </a:tc>
              </a:tr>
            </a:tbl>
          </a:graphicData>
        </a:graphic>
      </p:graphicFrame>
      <p:sp>
        <p:nvSpPr>
          <p:cNvPr id="27" name="TextBox 26"/>
          <p:cNvSpPr txBox="1"/>
          <p:nvPr/>
        </p:nvSpPr>
        <p:spPr>
          <a:xfrm>
            <a:off x="6080760" y="4590288"/>
            <a:ext cx="5852160" cy="1371600"/>
          </a:xfrm>
          <a:prstGeom prst="rect">
            <a:avLst/>
          </a:prstGeom>
          <a:noFill/>
        </p:spPr>
        <p:txBody>
          <a:bodyPr wrap="square" anchor="t" lIns="0" rIns="0" tIns="0" bIns="0">
            <a:spAutoFit/>
          </a:bodyPr>
          <a:lstStyle/>
          <a:p>
            <a:pPr algn="l">
              <a:spcBef>
                <a:spcPts val="0"/>
              </a:spcBef>
              <a:spcAft>
                <a:spcPts val="1200"/>
              </a:spcAft>
            </a:pPr>
            <a:r>
              <a:rPr sz="1500" b="1" i="0">
                <a:solidFill>
                  <a:srgbClr val="000000"/>
                </a:solidFill>
                <a:latin typeface="Arial"/>
              </a:rPr>
              <a:t>Down:</a:t>
            </a:r>
            <a:r>
              <a:rPr sz="1500" b="0" i="0">
                <a:solidFill>
                  <a:srgbClr val="000000"/>
                </a:solidFill>
                <a:latin typeface="Arial"/>
              </a:rPr>
              <a:t> the structural matrix. </a:t>
            </a:r>
            <a:r>
              <a:rPr sz="1500" b="1" i="0">
                <a:solidFill>
                  <a:srgbClr val="000000"/>
                </a:solidFill>
                <a:latin typeface="Arial"/>
              </a:rPr>
              <a:t>Up:</a:t>
            </a:r>
            <a:r>
              <a:rPr sz="1500" b="0" i="0">
                <a:solidFill>
                  <a:srgbClr val="000000"/>
                </a:solidFill>
                <a:latin typeface="Arial"/>
              </a:rPr>
              <a:t> neuronal calcium handling and the presynaptic scaffold.</a:t>
            </a:r>
          </a:p>
          <a:p>
            <a:pPr algn="l">
              <a:spcBef>
                <a:spcPts val="0"/>
              </a:spcBef>
              <a:spcAft>
                <a:spcPts val="0"/>
              </a:spcAft>
            </a:pPr>
            <a:r>
              <a:rPr sz="1500" b="0" i="0">
                <a:solidFill>
                  <a:srgbClr val="095945"/>
                </a:solidFill>
                <a:latin typeface="Arial"/>
              </a:rPr>
              <a:t>Whether that echoes the neuron–glioma synapse described in high-grade glioma⁹˒¹⁰ — or only reflects which cells survived — six animals cannot tell us.</a:t>
            </a:r>
          </a:p>
        </p:txBody>
      </p:sp>
      <p:sp>
        <p:nvSpPr>
          <p:cNvPr id="28" name="TextBox 27"/>
          <p:cNvSpPr txBox="1"/>
          <p:nvPr/>
        </p:nvSpPr>
        <p:spPr>
          <a:xfrm>
            <a:off x="1325880" y="5989320"/>
            <a:ext cx="10424160" cy="365760"/>
          </a:xfrm>
          <a:prstGeom prst="rect">
            <a:avLst/>
          </a:prstGeom>
          <a:noFill/>
        </p:spPr>
        <p:txBody>
          <a:bodyPr wrap="square" anchor="t" lIns="0" rIns="0" tIns="0" bIns="0">
            <a:spAutoFit/>
          </a:bodyPr>
          <a:lstStyle/>
          <a:p>
            <a:pPr algn="l">
              <a:spcBef>
                <a:spcPts val="0"/>
              </a:spcBef>
              <a:spcAft>
                <a:spcPts val="100"/>
              </a:spcAft>
            </a:pPr>
            <a:r>
              <a:rPr sz="900" b="0" i="0">
                <a:solidFill>
                  <a:srgbClr val="595959"/>
                </a:solidFill>
                <a:latin typeface="Arial"/>
              </a:rPr>
              <a:t>9. Venkatesh HS, et al. Nature 2019;573:539–545.    10. Venkataramani V, et al. Nature 2019;573:532–538.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b="0">
                <a:solidFill>
                  <a:srgbClr val="000000"/>
                </a:solidFill>
                <a:latin typeface="Arial"/>
              </a:rPr>
              <a:t>Results</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b="0">
                <a:solidFill>
                  <a:srgbClr val="000000"/>
                </a:solidFill>
                <a:latin typeface="Arial"/>
              </a:rPr>
              <a:t>One candidate survives every filter</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5"/>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b="0" i="0">
                <a:solidFill>
                  <a:srgbClr val="FFFFFF"/>
                </a:solidFill>
                <a:latin typeface="Arial"/>
              </a:rPr>
              <a:t>CNS 2026  ·  Washington, DC  ·  Abstract 418</a:t>
            </a:r>
          </a:p>
        </p:txBody>
      </p:sp>
      <p:pic>
        <p:nvPicPr>
          <p:cNvPr id="25" name="Picture 24" descr="chart_drugs.png"/>
          <p:cNvPicPr>
            <a:picLocks noChangeAspect="1"/>
          </p:cNvPicPr>
          <p:nvPr/>
        </p:nvPicPr>
        <p:blipFill>
          <a:blip r:embed="rId7"/>
          <a:stretch>
            <a:fillRect/>
          </a:stretch>
        </p:blipFill>
        <p:spPr>
          <a:xfrm>
            <a:off x="256032" y="1554480"/>
            <a:ext cx="5532120" cy="3639312"/>
          </a:xfrm>
          <a:prstGeom prst="rect">
            <a:avLst/>
          </a:prstGeom>
        </p:spPr>
      </p:pic>
      <p:graphicFrame>
        <p:nvGraphicFramePr>
          <p:cNvPr id="26" name="Table 25"/>
          <p:cNvGraphicFramePr>
            <a:graphicFrameLocks noGrp="1"/>
          </p:cNvGraphicFramePr>
          <p:nvPr/>
        </p:nvGraphicFramePr>
        <p:xfrm>
          <a:off x="6035040" y="1536192"/>
          <a:ext cx="5897880" cy="2084832"/>
        </p:xfrm>
        <a:graphic>
          <a:graphicData uri="http://schemas.openxmlformats.org/drawingml/2006/table">
            <a:tbl>
              <a:tblPr firstRow="1" bandRow="0">
                <a:tableStyleId>{2D5ABB26-0587-4C30-8999-92F81FD0307C}</a:tableStyleId>
              </a:tblPr>
              <a:tblGrid>
                <a:gridCol w="411480"/>
                <a:gridCol w="2331720"/>
                <a:gridCol w="777240"/>
                <a:gridCol w="777240"/>
                <a:gridCol w="777240"/>
                <a:gridCol w="822960"/>
              </a:tblGrid>
              <a:tr h="329184">
                <a:tc>
                  <a:txBody>
                    <a:bodyPr/>
                    <a:lstStyle/>
                    <a:p>
                      <a:pPr algn="l"/>
                      <a:r>
                        <a:rPr sz="1300" b="1">
                          <a:solidFill>
                            <a:srgbClr val="FFFFFF"/>
                          </a:solidFill>
                          <a:latin typeface="Arial"/>
                        </a:rPr>
                        <a:t>#</a:t>
                      </a:r>
                    </a:p>
                  </a:txBody>
                  <a:tcPr marL="82296" marR="82296" marT="18288" marB="18288" anchor="ctr">
                    <a:solidFill>
                      <a:srgbClr val="095945"/>
                    </a:solidFill>
                  </a:tcPr>
                </a:tc>
                <a:tc>
                  <a:txBody>
                    <a:bodyPr/>
                    <a:lstStyle/>
                    <a:p>
                      <a:pPr algn="l"/>
                      <a:r>
                        <a:rPr sz="1300" b="1">
                          <a:solidFill>
                            <a:srgbClr val="FFFFFF"/>
                          </a:solidFill>
                          <a:latin typeface="Arial"/>
                        </a:rPr>
                        <a:t>Compound</a:t>
                      </a:r>
                    </a:p>
                  </a:txBody>
                  <a:tcPr marL="82296" marR="82296" marT="18288" marB="18288" anchor="ctr">
                    <a:solidFill>
                      <a:srgbClr val="095945"/>
                    </a:solidFill>
                  </a:tcPr>
                </a:tc>
                <a:tc>
                  <a:txBody>
                    <a:bodyPr/>
                    <a:lstStyle/>
                    <a:p>
                      <a:pPr algn="r"/>
                      <a:r>
                        <a:rPr sz="1300" b="1">
                          <a:solidFill>
                            <a:srgbClr val="FFFFFF"/>
                          </a:solidFill>
                          <a:latin typeface="Arial"/>
                        </a:rPr>
                        <a:t>Phase</a:t>
                      </a:r>
                    </a:p>
                  </a:txBody>
                  <a:tcPr marL="82296" marR="82296" marT="18288" marB="18288" anchor="ctr">
                    <a:solidFill>
                      <a:srgbClr val="095945"/>
                    </a:solidFill>
                  </a:tcPr>
                </a:tc>
                <a:tc>
                  <a:txBody>
                    <a:bodyPr/>
                    <a:lstStyle/>
                    <a:p>
                      <a:pPr algn="r"/>
                      <a:r>
                        <a:rPr sz="1300" b="1">
                          <a:solidFill>
                            <a:srgbClr val="FFFFFF"/>
                          </a:solidFill>
                          <a:latin typeface="Arial"/>
                        </a:rPr>
                        <a:t>|NES|</a:t>
                      </a:r>
                    </a:p>
                  </a:txBody>
                  <a:tcPr marL="82296" marR="82296" marT="18288" marB="18288" anchor="ctr">
                    <a:solidFill>
                      <a:srgbClr val="095945"/>
                    </a:solidFill>
                  </a:tcPr>
                </a:tc>
                <a:tc>
                  <a:txBody>
                    <a:bodyPr/>
                    <a:lstStyle/>
                    <a:p>
                      <a:pPr algn="r"/>
                      <a:r>
                        <a:rPr sz="1300" b="1">
                          <a:solidFill>
                            <a:srgbClr val="FFFFFF"/>
                          </a:solidFill>
                          <a:latin typeface="Arial"/>
                        </a:rPr>
                        <a:t>BBB</a:t>
                      </a:r>
                    </a:p>
                  </a:txBody>
                  <a:tcPr marL="82296" marR="82296" marT="18288" marB="18288" anchor="ctr">
                    <a:solidFill>
                      <a:srgbClr val="095945"/>
                    </a:solidFill>
                  </a:tcPr>
                </a:tc>
                <a:tc>
                  <a:txBody>
                    <a:bodyPr/>
                    <a:lstStyle/>
                    <a:p>
                      <a:pPr algn="r"/>
                      <a:r>
                        <a:rPr sz="1300" b="1">
                          <a:solidFill>
                            <a:srgbClr val="FFFFFF"/>
                          </a:solidFill>
                          <a:latin typeface="Arial"/>
                        </a:rPr>
                        <a:t>Score</a:t>
                      </a:r>
                    </a:p>
                  </a:txBody>
                  <a:tcPr marL="82296" marR="82296" marT="18288" marB="18288" anchor="ctr">
                    <a:solidFill>
                      <a:srgbClr val="095945"/>
                    </a:solidFill>
                  </a:tcPr>
                </a:tc>
              </a:tr>
              <a:tr h="292608">
                <a:tc>
                  <a:txBody>
                    <a:bodyPr/>
                    <a:lstStyle/>
                    <a:p>
                      <a:pPr algn="l"/>
                      <a:r>
                        <a:rPr sz="1300" b="0">
                          <a:solidFill>
                            <a:srgbClr val="000000"/>
                          </a:solidFill>
                          <a:latin typeface="Arial"/>
                        </a:rPr>
                        <a:t>1</a:t>
                      </a:r>
                    </a:p>
                  </a:txBody>
                  <a:tcPr marL="82296" marR="82296" marT="18288" marB="18288" anchor="ctr">
                    <a:solidFill>
                      <a:srgbClr val="FFFFFF"/>
                    </a:solidFill>
                  </a:tcPr>
                </a:tc>
                <a:tc>
                  <a:txBody>
                    <a:bodyPr/>
                    <a:lstStyle/>
                    <a:p>
                      <a:pPr algn="l"/>
                      <a:r>
                        <a:rPr sz="1300" b="1">
                          <a:solidFill>
                            <a:srgbClr val="000000"/>
                          </a:solidFill>
                          <a:latin typeface="Arial"/>
                        </a:rPr>
                        <a:t>ciclopirox</a:t>
                      </a:r>
                    </a:p>
                  </a:txBody>
                  <a:tcPr marL="82296" marR="82296" marT="18288" marB="18288" anchor="ctr">
                    <a:solidFill>
                      <a:srgbClr val="FFFFFF"/>
                    </a:solidFill>
                  </a:tcPr>
                </a:tc>
                <a:tc>
                  <a:txBody>
                    <a:bodyPr/>
                    <a:lstStyle/>
                    <a:p>
                      <a:pPr algn="r"/>
                      <a:r>
                        <a:rPr sz="1300" b="0">
                          <a:solidFill>
                            <a:srgbClr val="000000"/>
                          </a:solidFill>
                          <a:latin typeface="Arial"/>
                        </a:rPr>
                        <a:t>4</a:t>
                      </a:r>
                    </a:p>
                  </a:txBody>
                  <a:tcPr marL="82296" marR="82296" marT="18288" marB="18288" anchor="ctr">
                    <a:solidFill>
                      <a:srgbClr val="FFFFFF"/>
                    </a:solidFill>
                  </a:tcPr>
                </a:tc>
                <a:tc>
                  <a:txBody>
                    <a:bodyPr/>
                    <a:lstStyle/>
                    <a:p>
                      <a:pPr algn="r"/>
                      <a:r>
                        <a:rPr sz="1300" b="0">
                          <a:solidFill>
                            <a:srgbClr val="000000"/>
                          </a:solidFill>
                          <a:latin typeface="Arial"/>
                        </a:rPr>
                        <a:t>2.26</a:t>
                      </a:r>
                    </a:p>
                  </a:txBody>
                  <a:tcPr marL="82296" marR="82296" marT="18288" marB="18288" anchor="ctr">
                    <a:solidFill>
                      <a:srgbClr val="FFFFFF"/>
                    </a:solidFill>
                  </a:tcPr>
                </a:tc>
                <a:tc>
                  <a:txBody>
                    <a:bodyPr/>
                    <a:lstStyle/>
                    <a:p>
                      <a:pPr algn="r"/>
                      <a:r>
                        <a:rPr sz="1300" b="0">
                          <a:solidFill>
                            <a:srgbClr val="000000"/>
                          </a:solidFill>
                          <a:latin typeface="Arial"/>
                        </a:rPr>
                        <a:t>0.92</a:t>
                      </a:r>
                    </a:p>
                  </a:txBody>
                  <a:tcPr marL="82296" marR="82296" marT="18288" marB="18288" anchor="ctr">
                    <a:solidFill>
                      <a:srgbClr val="FFFFFF"/>
                    </a:solidFill>
                  </a:tcPr>
                </a:tc>
                <a:tc>
                  <a:txBody>
                    <a:bodyPr/>
                    <a:lstStyle/>
                    <a:p>
                      <a:pPr algn="r"/>
                      <a:r>
                        <a:rPr sz="1300" b="0">
                          <a:solidFill>
                            <a:srgbClr val="000000"/>
                          </a:solidFill>
                          <a:latin typeface="Arial"/>
                        </a:rPr>
                        <a:t>3.14</a:t>
                      </a:r>
                    </a:p>
                  </a:txBody>
                  <a:tcPr marL="82296" marR="82296" marT="18288" marB="18288" anchor="ctr">
                    <a:solidFill>
                      <a:srgbClr val="FFFFFF"/>
                    </a:solidFill>
                  </a:tcPr>
                </a:tc>
              </a:tr>
              <a:tr h="292608">
                <a:tc>
                  <a:txBody>
                    <a:bodyPr/>
                    <a:lstStyle/>
                    <a:p>
                      <a:pPr algn="l"/>
                      <a:r>
                        <a:rPr sz="1300" b="0">
                          <a:solidFill>
                            <a:srgbClr val="000000"/>
                          </a:solidFill>
                          <a:latin typeface="Arial"/>
                        </a:rPr>
                        <a:t>2</a:t>
                      </a:r>
                    </a:p>
                  </a:txBody>
                  <a:tcPr marL="82296" marR="82296" marT="18288" marB="18288" anchor="ctr">
                    <a:solidFill>
                      <a:srgbClr val="E8F0EE"/>
                    </a:solidFill>
                  </a:tcPr>
                </a:tc>
                <a:tc>
                  <a:txBody>
                    <a:bodyPr/>
                    <a:lstStyle/>
                    <a:p>
                      <a:pPr algn="l"/>
                      <a:r>
                        <a:rPr sz="1300" b="0">
                          <a:solidFill>
                            <a:srgbClr val="000000"/>
                          </a:solidFill>
                          <a:latin typeface="Arial"/>
                        </a:rPr>
                        <a:t>pyrantel</a:t>
                      </a:r>
                    </a:p>
                  </a:txBody>
                  <a:tcPr marL="82296" marR="82296" marT="18288" marB="18288" anchor="ctr">
                    <a:solidFill>
                      <a:srgbClr val="E8F0EE"/>
                    </a:solidFill>
                  </a:tcPr>
                </a:tc>
                <a:tc>
                  <a:txBody>
                    <a:bodyPr/>
                    <a:lstStyle/>
                    <a:p>
                      <a:pPr algn="r"/>
                      <a:r>
                        <a:rPr sz="1300" b="0">
                          <a:solidFill>
                            <a:srgbClr val="000000"/>
                          </a:solidFill>
                          <a:latin typeface="Arial"/>
                        </a:rPr>
                        <a:t>2</a:t>
                      </a:r>
                    </a:p>
                  </a:txBody>
                  <a:tcPr marL="82296" marR="82296" marT="18288" marB="18288" anchor="ctr">
                    <a:solidFill>
                      <a:srgbClr val="E8F0EE"/>
                    </a:solidFill>
                  </a:tcPr>
                </a:tc>
                <a:tc>
                  <a:txBody>
                    <a:bodyPr/>
                    <a:lstStyle/>
                    <a:p>
                      <a:pPr algn="r"/>
                      <a:r>
                        <a:rPr sz="1300" b="0">
                          <a:solidFill>
                            <a:srgbClr val="000000"/>
                          </a:solidFill>
                          <a:latin typeface="Arial"/>
                        </a:rPr>
                        <a:t>1.79</a:t>
                      </a:r>
                    </a:p>
                  </a:txBody>
                  <a:tcPr marL="82296" marR="82296" marT="18288" marB="18288" anchor="ctr">
                    <a:solidFill>
                      <a:srgbClr val="E8F0EE"/>
                    </a:solidFill>
                  </a:tcPr>
                </a:tc>
                <a:tc>
                  <a:txBody>
                    <a:bodyPr/>
                    <a:lstStyle/>
                    <a:p>
                      <a:pPr algn="r"/>
                      <a:r>
                        <a:rPr sz="1300" b="0">
                          <a:solidFill>
                            <a:srgbClr val="000000"/>
                          </a:solidFill>
                          <a:latin typeface="Arial"/>
                        </a:rPr>
                        <a:t>0.98</a:t>
                      </a:r>
                    </a:p>
                  </a:txBody>
                  <a:tcPr marL="82296" marR="82296" marT="18288" marB="18288" anchor="ctr">
                    <a:solidFill>
                      <a:srgbClr val="E8F0EE"/>
                    </a:solidFill>
                  </a:tcPr>
                </a:tc>
                <a:tc>
                  <a:txBody>
                    <a:bodyPr/>
                    <a:lstStyle/>
                    <a:p>
                      <a:pPr algn="r"/>
                      <a:r>
                        <a:rPr sz="1300" b="0">
                          <a:solidFill>
                            <a:srgbClr val="000000"/>
                          </a:solidFill>
                          <a:latin typeface="Arial"/>
                        </a:rPr>
                        <a:t>2.34</a:t>
                      </a:r>
                    </a:p>
                  </a:txBody>
                  <a:tcPr marL="82296" marR="82296" marT="18288" marB="18288" anchor="ctr">
                    <a:solidFill>
                      <a:srgbClr val="E8F0EE"/>
                    </a:solidFill>
                  </a:tcPr>
                </a:tc>
              </a:tr>
              <a:tr h="292608">
                <a:tc>
                  <a:txBody>
                    <a:bodyPr/>
                    <a:lstStyle/>
                    <a:p>
                      <a:pPr algn="l"/>
                      <a:r>
                        <a:rPr sz="1300" b="0">
                          <a:solidFill>
                            <a:srgbClr val="000000"/>
                          </a:solidFill>
                          <a:latin typeface="Arial"/>
                        </a:rPr>
                        <a:t>3</a:t>
                      </a:r>
                    </a:p>
                  </a:txBody>
                  <a:tcPr marL="82296" marR="82296" marT="18288" marB="18288" anchor="ctr">
                    <a:solidFill>
                      <a:srgbClr val="FFFFFF"/>
                    </a:solidFill>
                  </a:tcPr>
                </a:tc>
                <a:tc>
                  <a:txBody>
                    <a:bodyPr/>
                    <a:lstStyle/>
                    <a:p>
                      <a:pPr algn="l"/>
                      <a:r>
                        <a:rPr sz="1300" b="0">
                          <a:solidFill>
                            <a:srgbClr val="000000"/>
                          </a:solidFill>
                          <a:latin typeface="Arial"/>
                        </a:rPr>
                        <a:t>ifosfamide</a:t>
                      </a:r>
                    </a:p>
                  </a:txBody>
                  <a:tcPr marL="82296" marR="82296" marT="18288" marB="18288" anchor="ctr">
                    <a:solidFill>
                      <a:srgbClr val="FFFFFF"/>
                    </a:solidFill>
                  </a:tcPr>
                </a:tc>
                <a:tc>
                  <a:txBody>
                    <a:bodyPr/>
                    <a:lstStyle/>
                    <a:p>
                      <a:pPr algn="r"/>
                      <a:r>
                        <a:rPr sz="1300" b="0">
                          <a:solidFill>
                            <a:srgbClr val="000000"/>
                          </a:solidFill>
                          <a:latin typeface="Arial"/>
                        </a:rPr>
                        <a:t>4</a:t>
                      </a:r>
                    </a:p>
                  </a:txBody>
                  <a:tcPr marL="82296" marR="82296" marT="18288" marB="18288" anchor="ctr">
                    <a:solidFill>
                      <a:srgbClr val="FFFFFF"/>
                    </a:solidFill>
                  </a:tcPr>
                </a:tc>
                <a:tc>
                  <a:txBody>
                    <a:bodyPr/>
                    <a:lstStyle/>
                    <a:p>
                      <a:pPr algn="r"/>
                      <a:r>
                        <a:rPr sz="1300" b="0">
                          <a:solidFill>
                            <a:srgbClr val="000000"/>
                          </a:solidFill>
                          <a:latin typeface="Arial"/>
                        </a:rPr>
                        <a:t>1.73</a:t>
                      </a:r>
                    </a:p>
                  </a:txBody>
                  <a:tcPr marL="82296" marR="82296" marT="18288" marB="18288" anchor="ctr">
                    <a:solidFill>
                      <a:srgbClr val="FFFFFF"/>
                    </a:solidFill>
                  </a:tcPr>
                </a:tc>
                <a:tc>
                  <a:txBody>
                    <a:bodyPr/>
                    <a:lstStyle/>
                    <a:p>
                      <a:pPr algn="r"/>
                      <a:r>
                        <a:rPr sz="1300" b="0">
                          <a:solidFill>
                            <a:srgbClr val="000000"/>
                          </a:solidFill>
                          <a:latin typeface="Arial"/>
                        </a:rPr>
                        <a:t>0.98</a:t>
                      </a:r>
                    </a:p>
                  </a:txBody>
                  <a:tcPr marL="82296" marR="82296" marT="18288" marB="18288" anchor="ctr">
                    <a:solidFill>
                      <a:srgbClr val="FFFFFF"/>
                    </a:solidFill>
                  </a:tcPr>
                </a:tc>
                <a:tc>
                  <a:txBody>
                    <a:bodyPr/>
                    <a:lstStyle/>
                    <a:p>
                      <a:pPr algn="r"/>
                      <a:r>
                        <a:rPr sz="1300" b="0">
                          <a:solidFill>
                            <a:srgbClr val="000000"/>
                          </a:solidFill>
                          <a:latin typeface="Arial"/>
                        </a:rPr>
                        <a:t>2.23</a:t>
                      </a:r>
                    </a:p>
                  </a:txBody>
                  <a:tcPr marL="82296" marR="82296" marT="18288" marB="18288" anchor="ctr">
                    <a:solidFill>
                      <a:srgbClr val="FFFFFF"/>
                    </a:solidFill>
                  </a:tcPr>
                </a:tc>
              </a:tr>
              <a:tr h="292608">
                <a:tc>
                  <a:txBody>
                    <a:bodyPr/>
                    <a:lstStyle/>
                    <a:p>
                      <a:pPr algn="l"/>
                      <a:r>
                        <a:rPr sz="1300" b="0">
                          <a:solidFill>
                            <a:srgbClr val="000000"/>
                          </a:solidFill>
                          <a:latin typeface="Arial"/>
                        </a:rPr>
                        <a:t>4</a:t>
                      </a:r>
                    </a:p>
                  </a:txBody>
                  <a:tcPr marL="82296" marR="82296" marT="18288" marB="18288" anchor="ctr">
                    <a:solidFill>
                      <a:srgbClr val="E8F0EE"/>
                    </a:solidFill>
                  </a:tcPr>
                </a:tc>
                <a:tc>
                  <a:txBody>
                    <a:bodyPr/>
                    <a:lstStyle/>
                    <a:p>
                      <a:pPr algn="l"/>
                      <a:r>
                        <a:rPr sz="1300" b="0">
                          <a:solidFill>
                            <a:srgbClr val="000000"/>
                          </a:solidFill>
                          <a:latin typeface="Arial"/>
                        </a:rPr>
                        <a:t>diazepam</a:t>
                      </a:r>
                    </a:p>
                  </a:txBody>
                  <a:tcPr marL="82296" marR="82296" marT="18288" marB="18288" anchor="ctr">
                    <a:solidFill>
                      <a:srgbClr val="E8F0EE"/>
                    </a:solidFill>
                  </a:tcPr>
                </a:tc>
                <a:tc>
                  <a:txBody>
                    <a:bodyPr/>
                    <a:lstStyle/>
                    <a:p>
                      <a:pPr algn="r"/>
                      <a:r>
                        <a:rPr sz="1300" b="0">
                          <a:solidFill>
                            <a:srgbClr val="000000"/>
                          </a:solidFill>
                          <a:latin typeface="Arial"/>
                        </a:rPr>
                        <a:t>4</a:t>
                      </a:r>
                    </a:p>
                  </a:txBody>
                  <a:tcPr marL="82296" marR="82296" marT="18288" marB="18288" anchor="ctr">
                    <a:solidFill>
                      <a:srgbClr val="E8F0EE"/>
                    </a:solidFill>
                  </a:tcPr>
                </a:tc>
                <a:tc>
                  <a:txBody>
                    <a:bodyPr/>
                    <a:lstStyle/>
                    <a:p>
                      <a:pPr algn="r"/>
                      <a:r>
                        <a:rPr sz="1300" b="0">
                          <a:solidFill>
                            <a:srgbClr val="000000"/>
                          </a:solidFill>
                          <a:latin typeface="Arial"/>
                        </a:rPr>
                        <a:t>1.65</a:t>
                      </a:r>
                    </a:p>
                  </a:txBody>
                  <a:tcPr marL="82296" marR="82296" marT="18288" marB="18288" anchor="ctr">
                    <a:solidFill>
                      <a:srgbClr val="E8F0EE"/>
                    </a:solidFill>
                  </a:tcPr>
                </a:tc>
                <a:tc>
                  <a:txBody>
                    <a:bodyPr/>
                    <a:lstStyle/>
                    <a:p>
                      <a:pPr algn="r"/>
                      <a:r>
                        <a:rPr sz="1300" b="0">
                          <a:solidFill>
                            <a:srgbClr val="000000"/>
                          </a:solidFill>
                          <a:latin typeface="Arial"/>
                        </a:rPr>
                        <a:t>0.98</a:t>
                      </a:r>
                    </a:p>
                  </a:txBody>
                  <a:tcPr marL="82296" marR="82296" marT="18288" marB="18288" anchor="ctr">
                    <a:solidFill>
                      <a:srgbClr val="E8F0EE"/>
                    </a:solidFill>
                  </a:tcPr>
                </a:tc>
                <a:tc>
                  <a:txBody>
                    <a:bodyPr/>
                    <a:lstStyle/>
                    <a:p>
                      <a:pPr algn="r"/>
                      <a:r>
                        <a:rPr sz="1300" b="0">
                          <a:solidFill>
                            <a:srgbClr val="000000"/>
                          </a:solidFill>
                          <a:latin typeface="Arial"/>
                        </a:rPr>
                        <a:t>2.08</a:t>
                      </a:r>
                    </a:p>
                  </a:txBody>
                  <a:tcPr marL="82296" marR="82296" marT="18288" marB="18288" anchor="ctr">
                    <a:solidFill>
                      <a:srgbClr val="E8F0EE"/>
                    </a:solidFill>
                  </a:tcPr>
                </a:tc>
              </a:tr>
              <a:tr h="292608">
                <a:tc>
                  <a:txBody>
                    <a:bodyPr/>
                    <a:lstStyle/>
                    <a:p>
                      <a:pPr algn="l"/>
                      <a:r>
                        <a:rPr sz="1300" b="0">
                          <a:solidFill>
                            <a:srgbClr val="000000"/>
                          </a:solidFill>
                          <a:latin typeface="Arial"/>
                        </a:rPr>
                        <a:t>5</a:t>
                      </a:r>
                    </a:p>
                  </a:txBody>
                  <a:tcPr marL="82296" marR="82296" marT="18288" marB="18288" anchor="ctr">
                    <a:solidFill>
                      <a:srgbClr val="FFFFFF"/>
                    </a:solidFill>
                  </a:tcPr>
                </a:tc>
                <a:tc>
                  <a:txBody>
                    <a:bodyPr/>
                    <a:lstStyle/>
                    <a:p>
                      <a:pPr algn="l"/>
                      <a:r>
                        <a:rPr sz="1300" b="0">
                          <a:solidFill>
                            <a:srgbClr val="000000"/>
                          </a:solidFill>
                          <a:latin typeface="Arial"/>
                        </a:rPr>
                        <a:t>dexverapamil</a:t>
                      </a:r>
                    </a:p>
                  </a:txBody>
                  <a:tcPr marL="82296" marR="82296" marT="18288" marB="18288" anchor="ctr">
                    <a:solidFill>
                      <a:srgbClr val="FFFFFF"/>
                    </a:solidFill>
                  </a:tcPr>
                </a:tc>
                <a:tc>
                  <a:txBody>
                    <a:bodyPr/>
                    <a:lstStyle/>
                    <a:p>
                      <a:pPr algn="r"/>
                      <a:r>
                        <a:rPr sz="1300" b="0">
                          <a:solidFill>
                            <a:srgbClr val="000000"/>
                          </a:solidFill>
                          <a:latin typeface="Arial"/>
                        </a:rPr>
                        <a:t>2</a:t>
                      </a:r>
                    </a:p>
                  </a:txBody>
                  <a:tcPr marL="82296" marR="82296" marT="18288" marB="18288" anchor="ctr">
                    <a:solidFill>
                      <a:srgbClr val="FFFFFF"/>
                    </a:solidFill>
                  </a:tcPr>
                </a:tc>
                <a:tc>
                  <a:txBody>
                    <a:bodyPr/>
                    <a:lstStyle/>
                    <a:p>
                      <a:pPr algn="r"/>
                      <a:r>
                        <a:rPr sz="1300" b="0">
                          <a:solidFill>
                            <a:srgbClr val="000000"/>
                          </a:solidFill>
                          <a:latin typeface="Arial"/>
                        </a:rPr>
                        <a:t>1.78</a:t>
                      </a:r>
                    </a:p>
                  </a:txBody>
                  <a:tcPr marL="82296" marR="82296" marT="18288" marB="18288" anchor="ctr">
                    <a:solidFill>
                      <a:srgbClr val="FFFFFF"/>
                    </a:solidFill>
                  </a:tcPr>
                </a:tc>
                <a:tc>
                  <a:txBody>
                    <a:bodyPr/>
                    <a:lstStyle/>
                    <a:p>
                      <a:pPr algn="r"/>
                      <a:r>
                        <a:rPr sz="1300" b="0">
                          <a:solidFill>
                            <a:srgbClr val="000000"/>
                          </a:solidFill>
                          <a:latin typeface="Arial"/>
                        </a:rPr>
                        <a:t>0.87</a:t>
                      </a:r>
                    </a:p>
                  </a:txBody>
                  <a:tcPr marL="82296" marR="82296" marT="18288" marB="18288" anchor="ctr">
                    <a:solidFill>
                      <a:srgbClr val="FFFFFF"/>
                    </a:solidFill>
                  </a:tcPr>
                </a:tc>
                <a:tc>
                  <a:txBody>
                    <a:bodyPr/>
                    <a:lstStyle/>
                    <a:p>
                      <a:pPr algn="r"/>
                      <a:r>
                        <a:rPr sz="1300" b="0">
                          <a:solidFill>
                            <a:srgbClr val="000000"/>
                          </a:solidFill>
                          <a:latin typeface="Arial"/>
                        </a:rPr>
                        <a:t>2.07</a:t>
                      </a:r>
                    </a:p>
                  </a:txBody>
                  <a:tcPr marL="82296" marR="82296" marT="18288" marB="18288" anchor="ctr">
                    <a:solidFill>
                      <a:srgbClr val="FFFFFF"/>
                    </a:solidFill>
                  </a:tcPr>
                </a:tc>
              </a:tr>
              <a:tr h="292608">
                <a:tc>
                  <a:txBody>
                    <a:bodyPr/>
                    <a:lstStyle/>
                    <a:p>
                      <a:pPr algn="l"/>
                      <a:r>
                        <a:rPr sz="1300" b="0">
                          <a:solidFill>
                            <a:srgbClr val="000000"/>
                          </a:solidFill>
                          <a:latin typeface="Arial"/>
                        </a:rPr>
                        <a:t>6</a:t>
                      </a:r>
                    </a:p>
                  </a:txBody>
                  <a:tcPr marL="82296" marR="82296" marT="18288" marB="18288" anchor="ctr">
                    <a:solidFill>
                      <a:srgbClr val="E8F0EE"/>
                    </a:solidFill>
                  </a:tcPr>
                </a:tc>
                <a:tc>
                  <a:txBody>
                    <a:bodyPr/>
                    <a:lstStyle/>
                    <a:p>
                      <a:pPr algn="l"/>
                      <a:r>
                        <a:rPr sz="1300" b="0">
                          <a:solidFill>
                            <a:srgbClr val="000000"/>
                          </a:solidFill>
                          <a:latin typeface="Arial"/>
                        </a:rPr>
                        <a:t>malathion</a:t>
                      </a:r>
                    </a:p>
                  </a:txBody>
                  <a:tcPr marL="82296" marR="82296" marT="18288" marB="18288" anchor="ctr">
                    <a:solidFill>
                      <a:srgbClr val="E8F0EE"/>
                    </a:solidFill>
                  </a:tcPr>
                </a:tc>
                <a:tc>
                  <a:txBody>
                    <a:bodyPr/>
                    <a:lstStyle/>
                    <a:p>
                      <a:pPr algn="r"/>
                      <a:r>
                        <a:rPr sz="1300" b="0">
                          <a:solidFill>
                            <a:srgbClr val="000000"/>
                          </a:solidFill>
                          <a:latin typeface="Arial"/>
                        </a:rPr>
                        <a:t>4</a:t>
                      </a:r>
                    </a:p>
                  </a:txBody>
                  <a:tcPr marL="82296" marR="82296" marT="18288" marB="18288" anchor="ctr">
                    <a:solidFill>
                      <a:srgbClr val="E8F0EE"/>
                    </a:solidFill>
                  </a:tcPr>
                </a:tc>
                <a:tc>
                  <a:txBody>
                    <a:bodyPr/>
                    <a:lstStyle/>
                    <a:p>
                      <a:pPr algn="r"/>
                      <a:r>
                        <a:rPr sz="1300" b="0">
                          <a:solidFill>
                            <a:srgbClr val="000000"/>
                          </a:solidFill>
                          <a:latin typeface="Arial"/>
                        </a:rPr>
                        <a:t>1.66</a:t>
                      </a:r>
                    </a:p>
                  </a:txBody>
                  <a:tcPr marL="82296" marR="82296" marT="18288" marB="18288" anchor="ctr">
                    <a:solidFill>
                      <a:srgbClr val="E8F0EE"/>
                    </a:solidFill>
                  </a:tcPr>
                </a:tc>
                <a:tc>
                  <a:txBody>
                    <a:bodyPr/>
                    <a:lstStyle/>
                    <a:p>
                      <a:pPr algn="r"/>
                      <a:r>
                        <a:rPr sz="1300" b="0">
                          <a:solidFill>
                            <a:srgbClr val="000000"/>
                          </a:solidFill>
                          <a:latin typeface="Arial"/>
                        </a:rPr>
                        <a:t>0.96</a:t>
                      </a:r>
                    </a:p>
                  </a:txBody>
                  <a:tcPr marL="82296" marR="82296" marT="18288" marB="18288" anchor="ctr">
                    <a:solidFill>
                      <a:srgbClr val="E8F0EE"/>
                    </a:solidFill>
                  </a:tcPr>
                </a:tc>
                <a:tc>
                  <a:txBody>
                    <a:bodyPr/>
                    <a:lstStyle/>
                    <a:p>
                      <a:pPr algn="r"/>
                      <a:r>
                        <a:rPr sz="1300" b="0">
                          <a:solidFill>
                            <a:srgbClr val="000000"/>
                          </a:solidFill>
                          <a:latin typeface="Arial"/>
                        </a:rPr>
                        <a:t>2.05</a:t>
                      </a:r>
                    </a:p>
                  </a:txBody>
                  <a:tcPr marL="82296" marR="82296" marT="18288" marB="18288" anchor="ctr">
                    <a:solidFill>
                      <a:srgbClr val="E8F0EE"/>
                    </a:solidFill>
                  </a:tcPr>
                </a:tc>
              </a:tr>
            </a:tbl>
          </a:graphicData>
        </a:graphic>
      </p:graphicFrame>
      <p:sp>
        <p:nvSpPr>
          <p:cNvPr id="27" name="TextBox 26"/>
          <p:cNvSpPr txBox="1"/>
          <p:nvPr/>
        </p:nvSpPr>
        <p:spPr>
          <a:xfrm>
            <a:off x="6035040" y="3703320"/>
            <a:ext cx="5897880" cy="2194560"/>
          </a:xfrm>
          <a:prstGeom prst="rect">
            <a:avLst/>
          </a:prstGeom>
          <a:noFill/>
        </p:spPr>
        <p:txBody>
          <a:bodyPr wrap="square" anchor="t" lIns="0" rIns="0" tIns="0" bIns="0">
            <a:spAutoFit/>
          </a:bodyPr>
          <a:lstStyle/>
          <a:p>
            <a:pPr algn="l">
              <a:spcBef>
                <a:spcPts val="0"/>
              </a:spcBef>
              <a:spcAft>
                <a:spcPts val="1400"/>
              </a:spcAft>
            </a:pPr>
            <a:r>
              <a:rPr sz="1600" b="0" i="0">
                <a:solidFill>
                  <a:srgbClr val="000000"/>
                </a:solidFill>
                <a:latin typeface="Arial"/>
              </a:rPr>
              <a:t>Only </a:t>
            </a:r>
            <a:r>
              <a:rPr sz="1600" b="1" i="0">
                <a:solidFill>
                  <a:srgbClr val="000000"/>
                </a:solidFill>
                <a:latin typeface="Arial"/>
              </a:rPr>
              <a:t>54 of 93</a:t>
            </a:r>
            <a:r>
              <a:rPr sz="1600" b="0" i="0">
                <a:solidFill>
                  <a:srgbClr val="000000"/>
                </a:solidFill>
                <a:latin typeface="Arial"/>
              </a:rPr>
              <a:t> DSigDB hits carry a clinical phase — the rest include phosphine, tributyltin and a flame retardant.</a:t>
            </a:r>
          </a:p>
          <a:p>
            <a:pPr algn="l">
              <a:spcBef>
                <a:spcPts val="0"/>
              </a:spcBef>
              <a:spcAft>
                <a:spcPts val="1400"/>
              </a:spcAft>
            </a:pPr>
            <a:r>
              <a:rPr sz="1600" b="1" i="0">
                <a:solidFill>
                  <a:srgbClr val="000000"/>
                </a:solidFill>
                <a:latin typeface="Arial"/>
              </a:rPr>
              <a:t>Ciclopirox</a:t>
            </a:r>
            <a:r>
              <a:rPr sz="1600" b="0" i="0">
                <a:solidFill>
                  <a:srgbClr val="000000"/>
                </a:solidFill>
                <a:latin typeface="Arial"/>
              </a:rPr>
              <a:t> ranks first with or without the permeability weight, is approved, and both BBB models agree. It chelates iron.</a:t>
            </a:r>
          </a:p>
          <a:p>
            <a:pPr algn="l">
              <a:spcBef>
                <a:spcPts val="0"/>
              </a:spcBef>
              <a:spcAft>
                <a:spcPts val="0"/>
              </a:spcAft>
            </a:pPr>
            <a:r>
              <a:rPr sz="1600" b="1" i="0">
                <a:solidFill>
                  <a:srgbClr val="095945"/>
                </a:solidFill>
                <a:latin typeface="Arial"/>
              </a:rPr>
              <a:t>LY-294002 and DMOG never reached a clinic</a:t>
            </a:r>
            <a:r>
              <a:rPr sz="1600" b="0" i="0">
                <a:solidFill>
                  <a:srgbClr val="095945"/>
                </a:solidFill>
                <a:latin typeface="Arial"/>
              </a:rPr>
              <a:t> — they are probes for the mTOR and hypoxia arms, not repurposing candidates.</a:t>
            </a:r>
          </a:p>
        </p:txBody>
      </p:sp>
      <p:sp>
        <p:nvSpPr>
          <p:cNvPr id="28" name="TextBox 27"/>
          <p:cNvSpPr txBox="1"/>
          <p:nvPr/>
        </p:nvSpPr>
        <p:spPr>
          <a:xfrm>
            <a:off x="1325880" y="5989320"/>
            <a:ext cx="10424160" cy="365760"/>
          </a:xfrm>
          <a:prstGeom prst="rect">
            <a:avLst/>
          </a:prstGeom>
          <a:noFill/>
        </p:spPr>
        <p:txBody>
          <a:bodyPr wrap="square" anchor="t" lIns="0" rIns="0" tIns="0" bIns="0">
            <a:spAutoFit/>
          </a:bodyPr>
          <a:lstStyle/>
          <a:p>
            <a:pPr algn="l">
              <a:spcBef>
                <a:spcPts val="0"/>
              </a:spcBef>
              <a:spcAft>
                <a:spcPts val="100"/>
              </a:spcAft>
            </a:pPr>
            <a:r>
              <a:rPr sz="900" b="0" i="0">
                <a:solidFill>
                  <a:srgbClr val="595959"/>
                </a:solidFill>
                <a:latin typeface="Arial"/>
              </a:rPr>
              <a:t>11. Swanson K, et al. Bioinformatics 2024;40:btae416 (ADMET-AI).    12. Daina A, Zoete V. ChemMedChem 2016;11:1117–1121 (BOILED-Egg).</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b="0">
                <a:solidFill>
                  <a:srgbClr val="000000"/>
                </a:solidFill>
                <a:latin typeface="Arial"/>
              </a:rPr>
              <a:t>Conclusions</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b="0">
                <a:solidFill>
                  <a:srgbClr val="000000"/>
                </a:solidFill>
                <a:latin typeface="Arial"/>
              </a:rPr>
              <a:t>Conclusions</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5"/>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b="0" i="0">
                <a:solidFill>
                  <a:srgbClr val="FFFFFF"/>
                </a:solidFill>
                <a:latin typeface="Arial"/>
              </a:rPr>
              <a:t>CNS 2026  ·  Washington, DC  ·  Abstract 418</a:t>
            </a:r>
          </a:p>
        </p:txBody>
      </p:sp>
      <p:sp>
        <p:nvSpPr>
          <p:cNvPr id="25" name="TextBox 24"/>
          <p:cNvSpPr txBox="1"/>
          <p:nvPr/>
        </p:nvSpPr>
        <p:spPr>
          <a:xfrm>
            <a:off x="256032" y="1371600"/>
            <a:ext cx="11658600" cy="3657600"/>
          </a:xfrm>
          <a:prstGeom prst="rect">
            <a:avLst/>
          </a:prstGeom>
          <a:noFill/>
        </p:spPr>
        <p:txBody>
          <a:bodyPr wrap="square" anchor="t" lIns="0" rIns="0" tIns="0" bIns="0">
            <a:spAutoFit/>
          </a:bodyPr>
          <a:lstStyle/>
          <a:p>
            <a:pPr algn="l">
              <a:spcBef>
                <a:spcPts val="0"/>
              </a:spcBef>
              <a:spcAft>
                <a:spcPts val="1600"/>
              </a:spcAft>
            </a:pPr>
            <a:r>
              <a:rPr sz="1800" b="0" i="0">
                <a:solidFill>
                  <a:srgbClr val="000000"/>
                </a:solidFill>
                <a:latin typeface="Arial"/>
              </a:rPr>
              <a:t>Post-LITT recurrence carries a </a:t>
            </a:r>
            <a:r>
              <a:rPr sz="1800" b="1" i="0">
                <a:solidFill>
                  <a:srgbClr val="000000"/>
                </a:solidFill>
                <a:latin typeface="Arial"/>
              </a:rPr>
              <a:t>coordinated shutdown of biosynthesis</a:t>
            </a:r>
            <a:r>
              <a:rPr sz="1800" b="0" i="0">
                <a:solidFill>
                  <a:srgbClr val="000000"/>
                </a:solidFill>
                <a:latin typeface="Arial"/>
              </a:rPr>
              <a:t> — translation initiation, elongation, the ribosome and the GCN2 stress arm, with ribosome biogenesis, mTORC1 and MYC output falling alongside them.</a:t>
            </a:r>
          </a:p>
          <a:p>
            <a:pPr algn="l">
              <a:spcBef>
                <a:spcPts val="0"/>
              </a:spcBef>
              <a:spcAft>
                <a:spcPts val="1600"/>
              </a:spcAft>
            </a:pPr>
            <a:r>
              <a:rPr sz="1800" b="0" i="0">
                <a:solidFill>
                  <a:srgbClr val="000000"/>
                </a:solidFill>
                <a:latin typeface="Arial"/>
              </a:rPr>
              <a:t>It extends to </a:t>
            </a:r>
            <a:r>
              <a:rPr sz="1800" b="1" i="0">
                <a:solidFill>
                  <a:srgbClr val="000000"/>
                </a:solidFill>
                <a:latin typeface="Arial"/>
              </a:rPr>
              <a:t>energy metabolism on both arms</a:t>
            </a:r>
            <a:r>
              <a:rPr sz="1800" b="0" i="0">
                <a:solidFill>
                  <a:srgbClr val="000000"/>
                </a:solidFill>
                <a:latin typeface="Arial"/>
              </a:rPr>
              <a:t> — glycolysis and OXPHOS, and mitochondrial translation — while the TCA cycle is untouched.</a:t>
            </a:r>
          </a:p>
          <a:p>
            <a:pPr algn="l">
              <a:spcBef>
                <a:spcPts val="0"/>
              </a:spcBef>
              <a:spcAft>
                <a:spcPts val="1600"/>
              </a:spcAft>
            </a:pPr>
            <a:r>
              <a:rPr sz="1800" b="1" i="0">
                <a:solidFill>
                  <a:srgbClr val="000000"/>
                </a:solidFill>
                <a:latin typeface="Arial"/>
              </a:rPr>
              <a:t>Hypoxic signalling collapses</a:t>
            </a:r>
            <a:r>
              <a:rPr sz="1800" b="0" i="0">
                <a:solidFill>
                  <a:srgbClr val="000000"/>
                </a:solidFill>
                <a:latin typeface="Arial"/>
              </a:rPr>
              <a:t> (HIF targets, hypoxia metagene both −1.79). Ablation removes the hypoxic core; what regrows is better perfused.</a:t>
            </a:r>
          </a:p>
          <a:p>
            <a:pPr algn="l">
              <a:spcBef>
                <a:spcPts val="0"/>
              </a:spcBef>
              <a:spcAft>
                <a:spcPts val="0"/>
              </a:spcAft>
            </a:pPr>
            <a:r>
              <a:rPr sz="1800" b="0" i="0">
                <a:solidFill>
                  <a:srgbClr val="000000"/>
                </a:solidFill>
                <a:latin typeface="Arial"/>
              </a:rPr>
              <a:t>Of the ten published subtype signatures, only </a:t>
            </a:r>
            <a:r>
              <a:rPr sz="1800" b="1" i="0">
                <a:solidFill>
                  <a:srgbClr val="000000"/>
                </a:solidFill>
                <a:latin typeface="Arial"/>
              </a:rPr>
              <a:t>loss of the astrocyte-like state</a:t>
            </a:r>
            <a:r>
              <a:rPr sz="1800" b="0" i="0">
                <a:solidFill>
                  <a:srgbClr val="000000"/>
                </a:solidFill>
                <a:latin typeface="Arial"/>
              </a:rPr>
              <a:t> reaches significance. </a:t>
            </a:r>
            <a:r>
              <a:rPr sz="1800" b="1" i="0">
                <a:solidFill>
                  <a:srgbClr val="000000"/>
                </a:solidFill>
                <a:latin typeface="Arial"/>
              </a:rPr>
              <a:t>Ciclopirox</a:t>
            </a:r>
            <a:r>
              <a:rPr sz="1800" b="0" i="0">
                <a:solidFill>
                  <a:srgbClr val="000000"/>
                </a:solidFill>
                <a:latin typeface="Arial"/>
              </a:rPr>
              <a:t> is the one candidate that survives every filter.</a:t>
            </a:r>
          </a:p>
        </p:txBody>
      </p:sp>
      <p:sp>
        <p:nvSpPr>
          <p:cNvPr id="26" name="Rounded Rectangle 25"/>
          <p:cNvSpPr/>
          <p:nvPr/>
        </p:nvSpPr>
        <p:spPr>
          <a:xfrm>
            <a:off x="256032" y="4892040"/>
            <a:ext cx="11658600" cy="777240"/>
          </a:xfrm>
          <a:prstGeom prst="roundRect">
            <a:avLst/>
          </a:prstGeom>
          <a:solidFill>
            <a:srgbClr val="E8F0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0"/>
              </a:spcAft>
            </a:pPr>
            <a:r>
              <a:rPr sz="1700" b="1">
                <a:solidFill>
                  <a:srgbClr val="095945"/>
                </a:solidFill>
                <a:latin typeface="Arial"/>
              </a:rPr>
              <a:t>The translational, anabolic, respiratory and hypoxic arms all move together — that internal consistency is the argument, not any single q value.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b="0">
                <a:solidFill>
                  <a:srgbClr val="000000"/>
                </a:solidFill>
                <a:latin typeface="Arial"/>
              </a:rPr>
              <a:t>Limitations</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b="0">
                <a:solidFill>
                  <a:srgbClr val="000000"/>
                </a:solidFill>
                <a:latin typeface="Arial"/>
              </a:rPr>
              <a:t>Limitations and next steps</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5"/>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b="0" i="0">
                <a:solidFill>
                  <a:srgbClr val="FFFFFF"/>
                </a:solidFill>
                <a:latin typeface="Arial"/>
              </a:rPr>
              <a:t>CNS 2026  ·  Washington, DC  ·  Abstract 418</a:t>
            </a:r>
          </a:p>
        </p:txBody>
      </p:sp>
      <p:sp>
        <p:nvSpPr>
          <p:cNvPr id="25" name="TextBox 24"/>
          <p:cNvSpPr txBox="1"/>
          <p:nvPr/>
        </p:nvSpPr>
        <p:spPr>
          <a:xfrm>
            <a:off x="256032" y="1371600"/>
            <a:ext cx="5349240" cy="4297680"/>
          </a:xfrm>
          <a:prstGeom prst="rect">
            <a:avLst/>
          </a:prstGeom>
          <a:noFill/>
        </p:spPr>
        <p:txBody>
          <a:bodyPr wrap="square" anchor="t" lIns="0" rIns="0" tIns="0" bIns="0">
            <a:spAutoFit/>
          </a:bodyPr>
          <a:lstStyle/>
          <a:p>
            <a:pPr algn="l">
              <a:spcBef>
                <a:spcPts val="0"/>
              </a:spcBef>
              <a:spcAft>
                <a:spcPts val="1400"/>
              </a:spcAft>
            </a:pPr>
            <a:r>
              <a:rPr sz="1800" b="1" i="0">
                <a:solidFill>
                  <a:srgbClr val="095945"/>
                </a:solidFill>
                <a:latin typeface="Arial"/>
              </a:rPr>
              <a:t>Limitations</a:t>
            </a:r>
          </a:p>
          <a:p>
            <a:pPr algn="l">
              <a:spcBef>
                <a:spcPts val="0"/>
              </a:spcBef>
              <a:spcAft>
                <a:spcPts val="1200"/>
              </a:spcAft>
            </a:pPr>
            <a:r>
              <a:rPr sz="1600" b="0" i="0">
                <a:solidFill>
                  <a:srgbClr val="000000"/>
                </a:solidFill>
                <a:latin typeface="Arial"/>
              </a:rPr>
              <a:t>n = 3 per arm. Gene-set results are best read as directional, which is why nominal p is reported alongside FDR q.</a:t>
            </a:r>
          </a:p>
          <a:p>
            <a:pPr algn="l">
              <a:spcBef>
                <a:spcPts val="0"/>
              </a:spcBef>
              <a:spcAft>
                <a:spcPts val="1200"/>
              </a:spcAft>
            </a:pPr>
            <a:r>
              <a:rPr sz="1600" b="0" i="0">
                <a:solidFill>
                  <a:srgbClr val="000000"/>
                </a:solidFill>
                <a:latin typeface="Arial"/>
              </a:rPr>
              <a:t>A single cell line (U251N) in a single xenograft model — no patient tissue and no immune compartment.</a:t>
            </a:r>
          </a:p>
          <a:p>
            <a:pPr algn="l">
              <a:spcBef>
                <a:spcPts val="0"/>
              </a:spcBef>
              <a:spcAft>
                <a:spcPts val="1200"/>
              </a:spcAft>
            </a:pPr>
            <a:r>
              <a:rPr sz="1600" b="0" i="0">
                <a:solidFill>
                  <a:srgbClr val="000000"/>
                </a:solidFill>
                <a:latin typeface="Arial"/>
              </a:rPr>
              <a:t>Bulk RNA-seq averages the ablation margin with whatever else was harvested; the persister state is inferred, not isolated.</a:t>
            </a:r>
          </a:p>
          <a:p>
            <a:pPr algn="l">
              <a:spcBef>
                <a:spcPts val="0"/>
              </a:spcBef>
              <a:spcAft>
                <a:spcPts val="0"/>
              </a:spcAft>
            </a:pPr>
            <a:r>
              <a:rPr sz="1600" b="0" i="0">
                <a:solidFill>
                  <a:srgbClr val="000000"/>
                </a:solidFill>
                <a:latin typeface="Arial"/>
              </a:rPr>
              <a:t>Every drug candidate is a computational prediction. None has been tested in this model.</a:t>
            </a:r>
          </a:p>
        </p:txBody>
      </p:sp>
      <p:sp>
        <p:nvSpPr>
          <p:cNvPr id="26" name="TextBox 25"/>
          <p:cNvSpPr txBox="1"/>
          <p:nvPr/>
        </p:nvSpPr>
        <p:spPr>
          <a:xfrm>
            <a:off x="6172200" y="1371600"/>
            <a:ext cx="5349240" cy="4297680"/>
          </a:xfrm>
          <a:prstGeom prst="rect">
            <a:avLst/>
          </a:prstGeom>
          <a:noFill/>
        </p:spPr>
        <p:txBody>
          <a:bodyPr wrap="square" anchor="t" lIns="0" rIns="0" tIns="0" bIns="0">
            <a:spAutoFit/>
          </a:bodyPr>
          <a:lstStyle/>
          <a:p>
            <a:pPr algn="l">
              <a:spcBef>
                <a:spcPts val="0"/>
              </a:spcBef>
              <a:spcAft>
                <a:spcPts val="1400"/>
              </a:spcAft>
            </a:pPr>
            <a:r>
              <a:rPr sz="1800" b="1" i="0">
                <a:solidFill>
                  <a:srgbClr val="095945"/>
                </a:solidFill>
                <a:latin typeface="Arial"/>
              </a:rPr>
              <a:t>Next steps</a:t>
            </a:r>
          </a:p>
          <a:p>
            <a:pPr algn="l">
              <a:spcBef>
                <a:spcPts val="0"/>
              </a:spcBef>
              <a:spcAft>
                <a:spcPts val="1200"/>
              </a:spcAft>
            </a:pPr>
            <a:r>
              <a:rPr sz="1600" b="0" i="0">
                <a:solidFill>
                  <a:srgbClr val="000000"/>
                </a:solidFill>
                <a:latin typeface="Arial"/>
              </a:rPr>
              <a:t>Spatial or single-cell profiling of the sublethal margin, to test whether the persister state sits where we think it does.</a:t>
            </a:r>
          </a:p>
          <a:p>
            <a:pPr algn="l">
              <a:spcBef>
                <a:spcPts val="0"/>
              </a:spcBef>
              <a:spcAft>
                <a:spcPts val="1200"/>
              </a:spcAft>
            </a:pPr>
            <a:r>
              <a:rPr sz="1600" b="0" i="0">
                <a:solidFill>
                  <a:srgbClr val="000000"/>
                </a:solidFill>
                <a:latin typeface="Arial"/>
              </a:rPr>
              <a:t>Puromycin incorporation and polysome profiling, to confirm that translation is genuinely suppressed and not only transcriptionally down.</a:t>
            </a:r>
          </a:p>
          <a:p>
            <a:pPr algn="l">
              <a:spcBef>
                <a:spcPts val="0"/>
              </a:spcBef>
              <a:spcAft>
                <a:spcPts val="1200"/>
              </a:spcAft>
            </a:pPr>
            <a:r>
              <a:rPr sz="1600" b="0" i="0">
                <a:solidFill>
                  <a:srgbClr val="000000"/>
                </a:solidFill>
                <a:latin typeface="Arial"/>
              </a:rPr>
              <a:t>Ciclopirox and LY-294002 dosed into the post-ablation barrier window, with survival as the endpoint.</a:t>
            </a:r>
          </a:p>
          <a:p>
            <a:pPr algn="l">
              <a:spcBef>
                <a:spcPts val="0"/>
              </a:spcBef>
              <a:spcAft>
                <a:spcPts val="0"/>
              </a:spcAft>
            </a:pPr>
            <a:r>
              <a:rPr sz="1600" b="0" i="0">
                <a:solidFill>
                  <a:srgbClr val="000000"/>
                </a:solidFill>
                <a:latin typeface="Arial"/>
              </a:rPr>
              <a:t>Validation in an immunocompetent model, and in patient tissue from the peri-ablation zone.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b="0">
                <a:solidFill>
                  <a:srgbClr val="000000"/>
                </a:solidFill>
                <a:latin typeface="Arial"/>
              </a:rPr>
              <a:t>Thank you</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b="0">
                <a:solidFill>
                  <a:srgbClr val="000000"/>
                </a:solidFill>
                <a:latin typeface="Arial"/>
              </a:rPr>
              <a:t>Acknowledgments and data availability</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5"/>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b="0" i="0">
                <a:solidFill>
                  <a:srgbClr val="FFFFFF"/>
                </a:solidFill>
                <a:latin typeface="Arial"/>
              </a:rPr>
              <a:t>CNS 2026  ·  Washington, DC  ·  Abstract 418</a:t>
            </a:r>
          </a:p>
        </p:txBody>
      </p:sp>
      <p:sp>
        <p:nvSpPr>
          <p:cNvPr id="25" name="TextBox 24"/>
          <p:cNvSpPr txBox="1"/>
          <p:nvPr/>
        </p:nvSpPr>
        <p:spPr>
          <a:xfrm>
            <a:off x="256032" y="1371600"/>
            <a:ext cx="6675120" cy="4206240"/>
          </a:xfrm>
          <a:prstGeom prst="rect">
            <a:avLst/>
          </a:prstGeom>
          <a:noFill/>
        </p:spPr>
        <p:txBody>
          <a:bodyPr wrap="square" anchor="t" lIns="0" rIns="0" tIns="0" bIns="0">
            <a:spAutoFit/>
          </a:bodyPr>
          <a:lstStyle/>
          <a:p>
            <a:pPr algn="l">
              <a:spcBef>
                <a:spcPts val="0"/>
              </a:spcBef>
              <a:spcAft>
                <a:spcPts val="1600"/>
              </a:spcAft>
            </a:pPr>
            <a:r>
              <a:rPr sz="1700" b="0" i="0">
                <a:solidFill>
                  <a:srgbClr val="000000"/>
                </a:solidFill>
                <a:latin typeface="Arial"/>
              </a:rPr>
              <a:t>Tavarekere N. Nagaraja, PhD, Indrani Datta, DHI, and Ian Y. Lee, MD — Hermelin Brain Tumor Center, Henry Ford Health, who built and characterized the model this analysis rests on.</a:t>
            </a:r>
          </a:p>
          <a:p>
            <a:pPr algn="l">
              <a:spcBef>
                <a:spcPts val="0"/>
              </a:spcBef>
              <a:spcAft>
                <a:spcPts val="1600"/>
              </a:spcAft>
            </a:pPr>
            <a:r>
              <a:rPr sz="1600" b="0" i="0">
                <a:solidFill>
                  <a:srgbClr val="595959"/>
                </a:solidFill>
                <a:latin typeface="Arial"/>
              </a:rPr>
              <a:t>Supported by a Henry Ford Health Physician Scientist Award A20050 (I.Y.L.).</a:t>
            </a:r>
          </a:p>
          <a:p>
            <a:pPr algn="l">
              <a:spcBef>
                <a:spcPts val="0"/>
              </a:spcBef>
              <a:spcAft>
                <a:spcPts val="2000"/>
              </a:spcAft>
            </a:pPr>
            <a:r>
              <a:rPr sz="1600" b="0" i="0">
                <a:solidFill>
                  <a:srgbClr val="595959"/>
                </a:solidFill>
                <a:latin typeface="Arial"/>
              </a:rPr>
              <a:t>Animal procedures were approved by the Henry Ford Health IACUC (protocol #1509) and conducted in accordance with the ARRIVE guidelines.</a:t>
            </a:r>
          </a:p>
          <a:p>
            <a:pPr algn="l">
              <a:spcBef>
                <a:spcPts val="0"/>
              </a:spcBef>
              <a:spcAft>
                <a:spcPts val="0"/>
              </a:spcAft>
            </a:pPr>
            <a:r>
              <a:rPr sz="1700" b="0" i="0">
                <a:solidFill>
                  <a:srgbClr val="000000"/>
                </a:solidFill>
                <a:latin typeface="Arial"/>
              </a:rPr>
              <a:t>Sequencing data: </a:t>
            </a:r>
            <a:r>
              <a:rPr sz="1700" b="1" i="0">
                <a:solidFill>
                  <a:srgbClr val="000000"/>
                </a:solidFill>
                <a:latin typeface="Arial"/>
              </a:rPr>
              <a:t>GEO GSE338105</a:t>
            </a:r>
            <a:r>
              <a:rPr sz="1700" b="0" i="0">
                <a:solidFill>
                  <a:srgbClr val="000000"/>
                </a:solidFill>
                <a:latin typeface="Arial"/>
              </a:rPr>
              <a:t>. Differential-expression, enrichment and drug-ranking tables are released as Supplementary Data.</a:t>
            </a:r>
          </a:p>
        </p:txBody>
      </p:sp>
      <p:sp>
        <p:nvSpPr>
          <p:cNvPr id="26" name="Rounded Rectangle 25"/>
          <p:cNvSpPr/>
          <p:nvPr/>
        </p:nvSpPr>
        <p:spPr>
          <a:xfrm>
            <a:off x="7406640" y="2103120"/>
            <a:ext cx="4206240" cy="1371600"/>
          </a:xfrm>
          <a:prstGeom prst="roundRect">
            <a:avLst/>
          </a:prstGeom>
          <a:solidFill>
            <a:srgbClr val="E8F0EE"/>
          </a:solidFill>
          <a:ln w="15875">
            <a:solidFill>
              <a:srgbClr val="095945"/>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0"/>
              </a:spcAft>
            </a:pPr>
            <a:r>
              <a:rPr sz="1600" b="1">
                <a:solidFill>
                  <a:srgbClr val="095945"/>
                </a:solidFill>
                <a:latin typeface="Arial"/>
              </a:rPr>
              <a:t>Questions</a:t>
            </a:r>
          </a:p>
          <a:p>
            <a:pPr algn="ctr">
              <a:spcAft>
                <a:spcPts val="0"/>
              </a:spcAft>
            </a:pPr>
            <a:r>
              <a:rPr sz="1600" b="1">
                <a:solidFill>
                  <a:srgbClr val="095945"/>
                </a:solidFill>
                <a:latin typeface="Arial"/>
              </a:rPr>
              <a:t>go2432@wayne.edu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ill Sans MT">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59283</TotalTime>
  <Words>1678</Words>
  <Application>Microsoft Office PowerPoint</Application>
  <PresentationFormat>Widescreen</PresentationFormat>
  <Paragraphs>193</Paragraphs>
  <Slides>25</Slides>
  <Notes>25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vt:lpstr>
      <vt:lpstr>Calibri</vt:lpstr>
      <vt:lpstr>Gill Sans MT</vt:lpstr>
      <vt:lpstr>GuardianSans</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SLEHS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SLEHS</dc:creator>
  <cp:lastModifiedBy>Gregory Schwing</cp:lastModifiedBy>
  <cp:revision>501</cp:revision>
  <dcterms:created xsi:type="dcterms:W3CDTF">2016-06-08T12:30:36Z</dcterms:created>
  <dcterms:modified xsi:type="dcterms:W3CDTF">2026-08-15T16:45:35Z</dcterms:modified>
</cp:coreProperties>
</file>