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0:00-0:12  Title. Name, institutions, and that this is a rat model of MRI-guided LITT. Do not read the title aloud.</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 agent named in this talk is approved or under study for this indication.</a:t>
            </a:r>
          </a:p>
          <a:p/>
          <a:p>
            <a:r>
              <a:t>0:12-0:22  Disclosures. Read Dr Lee's Medtronic and Monteris agreements out loud - Monteris makes the LITT system, so the room will want to hear it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0:22-0:40  Roadmap. Five beats, ten seconds. Do not linger.</a:t>
            </a:r>
          </a:p>
          <a:p/>
          <a:p>
            <a:r>
              <a:t>The strip is the study in one line: the human line, the orthotopic tumor, the ablation (the frame is from the video on the model slide), the recurrence, and the sequencing of three primary and three recurrent tumors.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0:40-1:10  Background. The one idea to land: LITT kills the core, but the cells that come back sat in the sublethal margin. Point at the diagram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1:10-1:35  The gap. The vessels and the immune side of that margin have been described; the tumor cells' own state has not. End on the question and pause.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1:35-2:00  The model. Move fast. The one thing to stress is that the graft is human and the host is rat, which is what makes the tumor compartment separable.</a:t>
            </a:r>
          </a:p>
          <a:p/>
          <a:p>
            <a:r>
              <a:t>The video is the intra-MRI LITT with diffusion imaging from the 2021 technical note (Ablation video_TNN_18Sept26.pptx); the source clip is 64 x 64 px, re-encoded at 512 px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2:00-2:25  The analysis. Enrichment was permuted on gene-set membership, not on samples, because n = 3. If someone challenges the statistics later, this slide is the answer. Mention the GEO accession is already public.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2:25-2:50  Global structure. The arms separate on PC1. Say the PERMANOVA p = 0.10 out loud - do not let someone find it in the supplement. Frame it as: the effect is large, the sample is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2:50-3:10  Differential expression. Only 35 genes. Walk the table once, do not read it: the six biggest fold changes are readthrough transcripts, a U6 snRNA and two unannotated loci, all on double-digit counts. That is what justifies the pivot to gene sets, and it pre-empts the reviewer who asks why you did not chase the top hit. Do not dwell on individual genes.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3:10-3:45  The core result. Every leading down-regulated set is translation or amino-acid stress. The top set clears FDR; the next five are nominally significant and directionally identical. Say both halves. Then the right-hand panel: the same direction runs across mTORC1, MYC, ribosome biogenesis, glycolysis and OXPHOS, while the TCA cycle does not move. The point to land is that this is the biosynthetic machinery being switched off, not core carbon flux - a cell that has stopped building, not one that has stopped burning.</a:t>
            </a:r>
          </a:p>
          <a:p/>
          <a:p>
            <a:r>
              <a:t>Right-hand chart, normalized enrichment scores from facts.json#themes: Every leading down-regulated set is a translation or amino-acid-stress set. / The same direction runs across the whole anabolic programme: mTORC1 −1.46, MYC −1.29, ribosome biogenesis −1.62, glycolysis −1.57, OXPHOS −1.45. / The TCA cycle is unchanged (−0.67) — this is the biosynthetic machinery, not core carbon flux.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3:45-4:10  The one-sidedness. This is the strongest slide - 8,869 sets tested, six clear q &lt; 0.25, all six on the same side and all six the same theme. Nothing on the up side is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20 s. Hypoxia is the cleanest story: HIF1 targets and the Buffa metagene both at -1.79 with nominal p near 0.01, angiogenesis down with them; the ablated core was the hypoxic core. Iron uptake down is worth one sentence because the top drug is an iron chelator, but do not build on it. The cell-cycle sets are up only nominally and the one-sided slide already said nothing up survives correction: say 'dividing again, as a direction'. Cut this slide if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4:10-4:35  Subtypes. These are the ten published Neftel and Garofano signatures, scored per sample by GSVA over the full 39-to-50-gene sets - say that, because using the published definitions rather than a hand-picked panel is the defence. One transition is significant: loss of the astrocyte-like state, p = 0.007. The mitochondrial signature moves the same way as the OXPHOS and mitochondrial-translation sets on the enrichment slide - point back to that slide, because two independent computations agreeing is the argument. If pressed on the mitochondrial call: 34 of its 35 measurable genes are lower in recurrence, and the result is stable across three levels of symbol mapping, 35/50 up to 49/50.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4:35-4:55  Hubs. Do not read the table - point at the sign column. Everything structural in the matrix goes down; the calcium and presynaptic genes (CALB1, RYR2, PCLO) go up. Offer the neuron-glioma synapse as a question, not a claim, and say plainly that six animals cannot separate it from a change in which cells survived. This is the slide most likely to draw a question, so know the two Nature 2019 papers. CUT THIS SLIDE FIRST if you are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20 s. Explain the score in one sentence: how strongly the drug's own signature reverses the tumor signature, weighted by predicted barrier penetration. Then the funnel: 93 to 54 to 15 to one. Own the filter's limits before anyone asks.</a:t>
            </a:r>
          </a:p>
          <a:p/>
          <a:p>
            <a:r>
              <a:t>4:55-5:25  Therapeutics. Explain the score in one sentence: how strongly the drug signature reverses the tumor signature, weighted by predicted BBB penetration from ADMET-AI. Lead with the filter, because it is the honest part: only 54 of 93 DSigDB hits carry a clinical phase - the rest include phosphine, tributyltin and a flame retardant. Then own its limits before anyone asks: it keeps things that are not systemic therapies (oxygen, ozone, magnesium) and it drops approved drugs ChEMBL has no phase for, including deferoxamine. Ciclopirox is what survives: approved, ranked first with and without the permeability weight, both BBB models agree, and it chelates iron. If asked why it should work on a cell that has stopped building: the hypusination targets DOHH, DHPS and EIF5A are selective CRISPR dependencies in U251 in DepMap - that is independent of our signature. Then the delivery point: LITT opens the barrier at the margin for weeks. Deliver the caveat sentence exactly as written; this is where a reviewer will push.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art, said aloud rather than shown: Prior art was audited for every hit. Seven have no glioma literature; pentetrazol induces seizures. Amiodarone and diazepam carry published evidence of harm.</a:t>
            </a:r>
          </a:p>
          <a:p/>
          <a:p>
            <a:r>
              <a:t>4:55-5:25  Therapeutics. Explain the score in one sentence: how strongly the drug signature reverses the tumor signature, weighted by predicted BBB penetration from ADMET-AI. Lead with the filter, because it is the honest part: only 54 of 93 DSigDB hits carry a clinical phase - the rest include phosphine, tributyltin and a flame retardant. Then own its limits before anyone asks: it keeps things that are not systemic therapies (oxygen, ozone, magnesium) and it drops approved drugs ChEMBL has no phase for, including deferoxamine. Ciclopirox is what survives: approved, ranked first with and without the permeability weight, both BBB models agree, and it chelates iron. If asked why it should work on a cell that has stopped building: the hypusination targets DOHH, DHPS and EIF5A are selective CRISPR dependencies in U251 in DepMap - that is independent of our signature. Then the delivery point: LITT opens the barrier at the margin for weeks. Deliver the caveat sentence exactly as written; this is where a reviewer will push.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25 s. This is the answer to 'why should an iron chelator work on a cell that has stopped building': ciclopirox also inhibits DOHH, and DepMap says U-251 depends on DOHH, DHPS and EIF5A selectively (Chronos gene effect below -0.5, not common essential). Say plainly that this is a public screen, not our data, and that nothing has been dosed. The barrier window is the delivery argument.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5:25-5:45  Conclusions. Four beats, then the convergence line. No new material. The closing argument is the internal consistency - translational, anabolic, respiratory and hypoxic arms all moving together - not any single q value. Say that sentence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5:45-5:55  Limitations and next steps. SECOND SLIDE TO CUT - the limitations are already stated on the results slides. Anticipated questions: why not more animals; why gene-set permutation; has any drug been tested (no).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5:55-6:00  Thanks. Name the Henry Ford group. Leave the GEO accession on screen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100000"/>
            <a:ext cx="6600000" cy="1250000"/>
          </a:xfrm>
        </p:spPr>
        <p:txBody>
          <a:bodyPr wrap="square"/>
          <a:lstStyle/>
          <a:p>
            <a:pPr>
              <a:spcAft>
                <a:spcPts val="400"/>
              </a:spcAft>
            </a:pPr>
            <a:r>
              <a:rPr sz="1500">
                <a:solidFill>
                  <a:srgbClr val="FFFFFF"/>
                </a:solidFill>
              </a:rPr>
              <a:t>Gregory J. Schwing, MD, PhD¹  ·  Tavarekere N. Nagaraja, PhD²  ·  Indrani Datta, DHI²  ·  Ian Y. Lee, MD²</a:t>
            </a:r>
          </a:p>
          <a:p>
            <a:pPr>
              <a:spcAft>
                <a:spcPts val="400"/>
              </a:spcAft>
            </a:pPr>
            <a:r>
              <a:rPr sz="1100">
                <a:solidFill>
                  <a:srgbClr val="FFFFFF"/>
                </a:solidFill>
              </a:rPr>
              <a:t>¹ Department of General Surgery, Detroit Medical Center and Wayne State University, Detroit, MI   ² Department of Neurosurgery, Hermelin Brain Tumor Center, Henry Ford Health, Detroit, MI</a:t>
            </a:r>
          </a:p>
        </p:txBody>
      </p:sp>
      <p:sp>
        <p:nvSpPr>
          <p:cNvPr id="4" name="Text Placeholder 3"/>
          <p:cNvSpPr>
            <a:spLocks noGrp="1"/>
          </p:cNvSpPr>
          <p:nvPr>
            <p:ph type="body" idx="10" sz="quarter"/>
          </p:nvPr>
        </p:nvSpPr>
        <p:spPr>
          <a:xfrm>
            <a:off x="5185558" y="4500000"/>
            <a:ext cx="6600000" cy="1500000"/>
          </a:xfrm>
        </p:spPr>
        <p:txBody>
          <a:bodyPr wrap="square"/>
          <a:lstStyle/>
          <a:p>
            <a:pPr>
              <a:spcAft>
                <a:spcPts val="500"/>
              </a:spcAft>
            </a:pPr>
            <a:r>
              <a:rPr sz="1200">
                <a:solidFill>
                  <a:srgbClr val="FFFFFF"/>
                </a:solidFill>
              </a:rPr>
              <a:t>CNS 2026 Annual Meeting, Washington, DC</a:t>
            </a:r>
          </a:p>
          <a:p>
            <a:pPr>
              <a:spcAft>
                <a:spcPts val="500"/>
              </a:spcAft>
            </a:pPr>
            <a:r>
              <a:rPr sz="1200">
                <a:solidFill>
                  <a:srgbClr val="FFFFFF"/>
                </a:solidFill>
              </a:rPr>
              <a:t>Abstract 418  ·  Sunrise Science Session, Tumor 2  ·  Monday 2 November 2026, 7:00 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Where this is going</a:t>
            </a:r>
          </a:p>
        </p:txBody>
      </p:sp>
      <p:sp>
        <p:nvSpPr>
          <p:cNvPr id="3" name="Rectangle 2"/>
          <p:cNvSpPr/>
          <p:nvPr/>
        </p:nvSpPr>
        <p:spPr>
          <a:xfrm>
            <a:off x="1750000" y="142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4" name="TextBox 3"/>
          <p:cNvSpPr txBox="1"/>
          <p:nvPr/>
        </p:nvSpPr>
        <p:spPr>
          <a:xfrm>
            <a:off x="2290000" y="139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problem: LITT kills the core; the cells that come back sat in the sublethal margin</a:t>
            </a:r>
          </a:p>
        </p:txBody>
      </p:sp>
      <p:sp>
        <p:nvSpPr>
          <p:cNvPr id="5" name="Rectangle 4"/>
          <p:cNvSpPr/>
          <p:nvPr/>
        </p:nvSpPr>
        <p:spPr>
          <a:xfrm>
            <a:off x="1750000" y="194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6" name="TextBox 5"/>
          <p:cNvSpPr txBox="1"/>
          <p:nvPr/>
        </p:nvSpPr>
        <p:spPr>
          <a:xfrm>
            <a:off x="2290000" y="191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model: MRI-guided LITT in an orthotopic rat xenograft, primary and recurrent tumors, three per arm</a:t>
            </a:r>
          </a:p>
        </p:txBody>
      </p:sp>
      <p:sp>
        <p:nvSpPr>
          <p:cNvPr id="7" name="Rectangle 6"/>
          <p:cNvSpPr/>
          <p:nvPr/>
        </p:nvSpPr>
        <p:spPr>
          <a:xfrm>
            <a:off x="1750000" y="246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8" name="TextBox 7"/>
          <p:cNvSpPr txBox="1"/>
          <p:nvPr/>
        </p:nvSpPr>
        <p:spPr>
          <a:xfrm>
            <a:off x="2290000" y="243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finding: the recurrent transcriptome switches protein synthesis off, and hypoxia signalling with it</a:t>
            </a:r>
          </a:p>
        </p:txBody>
      </p:sp>
      <p:sp>
        <p:nvSpPr>
          <p:cNvPr id="9" name="Rectangle 8"/>
          <p:cNvSpPr/>
          <p:nvPr/>
        </p:nvSpPr>
        <p:spPr>
          <a:xfrm>
            <a:off x="1750000" y="298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4</a:t>
            </a:r>
          </a:p>
        </p:txBody>
      </p:sp>
      <p:sp>
        <p:nvSpPr>
          <p:cNvPr id="10" name="TextBox 9"/>
          <p:cNvSpPr txBox="1"/>
          <p:nvPr/>
        </p:nvSpPr>
        <p:spPr>
          <a:xfrm>
            <a:off x="2290000" y="295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convergence: subtype scores, network hubs and a public dependency screen point the same way</a:t>
            </a:r>
          </a:p>
        </p:txBody>
      </p:sp>
      <p:sp>
        <p:nvSpPr>
          <p:cNvPr id="11" name="Rectangle 10"/>
          <p:cNvSpPr/>
          <p:nvPr/>
        </p:nvSpPr>
        <p:spPr>
          <a:xfrm>
            <a:off x="1750000" y="350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5</a:t>
            </a:r>
          </a:p>
        </p:txBody>
      </p:sp>
      <p:sp>
        <p:nvSpPr>
          <p:cNvPr id="12" name="TextBox 11"/>
          <p:cNvSpPr txBox="1"/>
          <p:nvPr/>
        </p:nvSpPr>
        <p:spPr>
          <a:xfrm>
            <a:off x="2290000" y="347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opening: which existing, brain-penetrant drug opposes that state, and why it might work</a:t>
            </a:r>
          </a:p>
        </p:txBody>
      </p:sp>
      <p:pic>
        <p:nvPicPr>
          <p:cNvPr id="13" name="Picture 12" descr="overview_pipeline.png"/>
          <p:cNvPicPr>
            <a:picLocks noChangeAspect="1"/>
          </p:cNvPicPr>
          <p:nvPr/>
        </p:nvPicPr>
        <p:blipFill>
          <a:blip r:embed="rId2"/>
          <a:stretch>
            <a:fillRect/>
          </a:stretch>
        </p:blipFill>
        <p:spPr>
          <a:xfrm>
            <a:off x="2250861" y="4140000"/>
            <a:ext cx="9148277" cy="2110000"/>
          </a:xfrm>
          <a:prstGeom prst="rect">
            <a:avLst/>
          </a:prstGeom>
        </p:spPr>
      </p:pic>
      <p:sp>
        <p:nvSpPr>
          <p:cNvPr id="14" name="TextBox 13"/>
          <p:cNvSpPr txBox="1"/>
          <p:nvPr/>
        </p:nvSpPr>
        <p:spPr>
          <a:xfrm>
            <a:off x="1750000" y="6290000"/>
            <a:ext cx="10150000" cy="300000"/>
          </a:xfrm>
          <a:prstGeom prst="rect">
            <a:avLst/>
          </a:prstGeom>
          <a:noFill/>
        </p:spPr>
        <p:txBody>
          <a:bodyPr wrap="square" lIns="0" rIns="0" tIns="0" bIns="0">
            <a:spAutoFit/>
          </a:bodyPr>
          <a:lstStyle/>
          <a:p>
            <a:pPr>
              <a:spcBef>
                <a:spcPts val="0"/>
              </a:spcBef>
              <a:spcAft>
                <a:spcPts val="0"/>
              </a:spcAft>
            </a:pPr>
            <a:r>
              <a:rPr sz="1200" b="0">
                <a:solidFill>
                  <a:srgbClr val="7A7A7A"/>
                </a:solidFill>
              </a:rPr>
              <a:t>Then: differential expression, gene-set enrichment, published subtype signatures, a STRING network, and the drug signatures that oppose the recurrence signature.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ablates the core; recurrence starts at the margin</a:t>
            </a:r>
          </a:p>
        </p:txBody>
      </p:sp>
      <p:pic>
        <p:nvPicPr>
          <p:cNvPr id="3" name="Picture 2" descr="fig_margin.png"/>
          <p:cNvPicPr>
            <a:picLocks noChangeAspect="1"/>
          </p:cNvPicPr>
          <p:nvPr/>
        </p:nvPicPr>
        <p:blipFill>
          <a:blip r:embed="rId2"/>
          <a:stretch>
            <a:fillRect/>
          </a:stretch>
        </p:blipFill>
        <p:spPr>
          <a:xfrm>
            <a:off x="1750000" y="1420000"/>
            <a:ext cx="6400000" cy="3859365"/>
          </a:xfrm>
          <a:prstGeom prst="rect">
            <a:avLst/>
          </a:prstGeom>
        </p:spPr>
      </p:pic>
      <p:sp>
        <p:nvSpPr>
          <p:cNvPr id="4" name="TextBox 3"/>
          <p:cNvSpPr txBox="1"/>
          <p:nvPr/>
        </p:nvSpPr>
        <p:spPr>
          <a:xfrm>
            <a:off x="8450000" y="1520000"/>
            <a:ext cx="3450000" cy="473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LITT is increasingly used for deep-seated and recurrent glioblastoma, where open resection carries high morbidity.¹</a:t>
            </a:r>
          </a:p>
          <a:p>
            <a:pPr>
              <a:spcBef>
                <a:spcPts val="0"/>
              </a:spcBef>
              <a:spcAft>
                <a:spcPts val="1200"/>
              </a:spcAft>
            </a:pPr>
            <a:r>
              <a:rPr sz="1600" b="0">
                <a:solidFill>
                  <a:srgbClr val="191D63"/>
                </a:solidFill>
              </a:rPr>
              <a:t>Thermal dose falls off with distance from the fiber. Beyond the ablative threshold lies a sublethal margin.</a:t>
            </a:r>
          </a:p>
          <a:p>
            <a:pPr>
              <a:spcBef>
                <a:spcPts val="0"/>
              </a:spcBef>
              <a:spcAft>
                <a:spcPts val="1200"/>
              </a:spcAft>
            </a:pPr>
            <a:r>
              <a:rPr sz="1600" b="0">
                <a:solidFill>
                  <a:srgbClr val="191D63"/>
                </a:solidFill>
              </a:rPr>
              <a:t>The cells that seed recurrence are the ones that survive there.</a:t>
            </a:r>
          </a:p>
          <a:p>
            <a:pPr>
              <a:spcBef>
                <a:spcPts val="0"/>
              </a:spcBef>
              <a:spcAft>
                <a:spcPts val="1200"/>
              </a:spcAft>
            </a:pPr>
            <a:r>
              <a:rPr sz="1600" b="0">
                <a:solidFill>
                  <a:srgbClr val="191D63"/>
                </a:solidFill>
              </a:rPr>
              <a:t>So the question is not whether ablation works at the core. It is what the cells that survived the margin look like when they regrow.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that margin is known to do, and what it is not</a:t>
            </a:r>
          </a:p>
        </p:txBody>
      </p:sp>
      <p:pic>
        <p:nvPicPr>
          <p:cNvPr id="3" name="Picture 2" descr="fig_margin_known.png"/>
          <p:cNvPicPr>
            <a:picLocks noChangeAspect="1"/>
          </p:cNvPicPr>
          <p:nvPr/>
        </p:nvPicPr>
        <p:blipFill>
          <a:blip r:embed="rId2"/>
          <a:stretch>
            <a:fillRect/>
          </a:stretch>
        </p:blipFill>
        <p:spPr>
          <a:xfrm>
            <a:off x="1750000" y="1420000"/>
            <a:ext cx="10150000" cy="3549155"/>
          </a:xfrm>
          <a:prstGeom prst="rect">
            <a:avLst/>
          </a:prstGeom>
        </p:spPr>
      </p:pic>
      <p:sp>
        <p:nvSpPr>
          <p:cNvPr id="4" name="Rounded Rectangle 3"/>
          <p:cNvSpPr/>
          <p:nvPr/>
        </p:nvSpPr>
        <p:spPr>
          <a:xfrm>
            <a:off x="1750000" y="5089155"/>
            <a:ext cx="10150000" cy="7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Does post-LITT recurrence carry its own transcriptional program, and does that program point to a drug?</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3. Tao R, et al. J Immunol 2026;215:vkaf327.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model: MRI-guided LITT in a rat xenograft</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U251N xenograft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orthotopic human glioblastoma line in the athymic RNU/RNU rat</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MRI-guided LITT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thermal ablation of the primary tumor under real-time MR thermometry</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Tumors re-harvested</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primary before ablation, recurrent after regrowth, three animals per arm</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2670000"/>
            <a:ext cx="3580000" cy="3580000"/>
          </a:xfrm>
          <a:prstGeom prst="rect">
            <a:avLst/>
          </a:prstGeom>
        </p:spPr>
      </p:pic>
      <p:sp>
        <p:nvSpPr>
          <p:cNvPr id="12" name="TextBox 11"/>
          <p:cNvSpPr txBox="1"/>
          <p:nvPr/>
        </p:nvSpPr>
        <p:spPr>
          <a:xfrm>
            <a:off x="5630000" y="2670000"/>
            <a:ext cx="6270000" cy="26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The graft is human and the host is rat, which is the point: every read can be assigned to a species, so the tumor compartment can be read on its own.</a:t>
            </a:r>
          </a:p>
          <a:p>
            <a:pPr>
              <a:spcBef>
                <a:spcPts val="0"/>
              </a:spcBef>
              <a:spcAft>
                <a:spcPts val="800"/>
              </a:spcAft>
            </a:pPr>
            <a:r>
              <a:rPr sz="1500" b="0">
                <a:solidFill>
                  <a:srgbClr val="191D63"/>
                </a:solidFill>
              </a:rPr>
              <a:t>The model was established and characterized by the Henry Ford group: the ablation is set by MR thermometry, and diffusion imaging shows the lesion as it forms; the video is one such ablation.</a:t>
            </a:r>
          </a:p>
          <a:p>
            <a:pPr>
              <a:spcBef>
                <a:spcPts val="0"/>
              </a:spcBef>
              <a:spcAft>
                <a:spcPts val="800"/>
              </a:spcAft>
            </a:pPr>
            <a:r>
              <a:rPr sz="1500" b="0">
                <a:solidFill>
                  <a:srgbClr val="191D63"/>
                </a:solidFill>
              </a:rPr>
              <a:t>Primary tumors were harvested before ablation and recurrent tumors after regrowth, three animals in each arm; every number that follows rests on those six transcriptomes.</a:t>
            </a:r>
          </a:p>
        </p:txBody>
      </p:sp>
      <p:sp>
        <p:nvSpPr>
          <p:cNvPr id="13" name="TextBox 12"/>
          <p:cNvSpPr txBox="1"/>
          <p:nvPr/>
        </p:nvSpPr>
        <p:spPr>
          <a:xfrm>
            <a:off x="5630000" y="5370000"/>
            <a:ext cx="6270000" cy="700000"/>
          </a:xfrm>
          <a:prstGeom prst="rect">
            <a:avLst/>
          </a:prstGeom>
          <a:noFill/>
        </p:spPr>
        <p:txBody>
          <a:bodyPr wrap="square" lIns="0" rIns="0" tIns="0" bIns="0">
            <a:spAutoFit/>
          </a:bodyPr>
          <a:lstStyle/>
          <a:p>
            <a:pPr>
              <a:spcBef>
                <a:spcPts val="0"/>
              </a:spcBef>
              <a:spcAft>
                <a:spcPts val="0"/>
              </a:spcAft>
            </a:pPr>
            <a:r>
              <a:rPr sz="1200" b="0">
                <a:solidFill>
                  <a:srgbClr val="7A7A7A"/>
                </a:solidFill>
              </a:rPr>
              <a:t>Video: the ablation under diffusion-weighted MRI in this model; click to play (7.9 s). Nagaraja 2021, Acta Neurochirurgica.</a:t>
            </a:r>
          </a:p>
        </p:txBody>
      </p:sp>
      <p:sp>
        <p:nvSpPr>
          <p:cNvPr id="14" name="TextBox 1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4. Nagaraja TN, et al. Acta Neurochir 2021;163:3455–3463.    5. Nagaraja TN, et al. J Neurosurg 2026:1–14.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analysis, and how to read the numbers that follow</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Sort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human graft reads sorted from rat host reads (xengsort, k = 25)</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Test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DESeq2 Wald test with ashr shrinkage; FDR &lt; 0.05, |log₂ fold change| &gt; 1</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Interpret</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GSEA enrichment, GSVA subtypes, STRING network, DSigDB drug signatures</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0000" y="2870000"/>
            <a:ext cx="10150000" cy="3380000"/>
          </a:xfrm>
          <a:prstGeom prst="rect">
            <a:avLst/>
          </a:prstGeom>
          <a:noFill/>
        </p:spPr>
        <p:txBody>
          <a:bodyPr wrap="square" lIns="0" rIns="0" tIns="0" bIns="0">
            <a:spAutoFit/>
          </a:bodyPr>
          <a:lstStyle/>
          <a:p>
            <a:pPr>
              <a:spcBef>
                <a:spcPts val="0"/>
              </a:spcBef>
              <a:spcAft>
                <a:spcPts val="800"/>
              </a:spcAft>
            </a:pPr>
            <a:r>
              <a:rPr sz="1450" b="0">
                <a:solidFill>
                  <a:srgbClr val="191D63"/>
                </a:solidFill>
              </a:rPr>
              <a:t>Enrichment asks whether a whole gene set drifts toward the down- or up-regulated end of the ranked transcriptome. The normalized enrichment score (NES) is that drift; negative means down in recurrence.</a:t>
            </a:r>
          </a:p>
          <a:p>
            <a:pPr>
              <a:spcBef>
                <a:spcPts val="0"/>
              </a:spcBef>
              <a:spcAft>
                <a:spcPts val="800"/>
              </a:spcAft>
            </a:pPr>
            <a:r>
              <a:rPr sz="1450" b="0">
                <a:solidFill>
                  <a:srgbClr val="191D63"/>
                </a:solidFill>
              </a:rPr>
              <a:t>Significance is permuted on gene-set membership, not on samples: with three per arm there are only ten ways to split six samples, so a sample-permuted p can never fall below 0.10. Gene-set permutation is the reproducible choice at this size, and nominal p is shown beside FDR q throughout.⁶</a:t>
            </a:r>
          </a:p>
          <a:p>
            <a:pPr>
              <a:spcBef>
                <a:spcPts val="0"/>
              </a:spcBef>
              <a:spcAft>
                <a:spcPts val="800"/>
              </a:spcAft>
            </a:pPr>
            <a:r>
              <a:rPr sz="1450" b="0">
                <a:solidFill>
                  <a:srgbClr val="191D63"/>
                </a:solidFill>
              </a:rPr>
              <a:t>Subtypes are scored per tumor by GSVA over the full published Neftel and Garofano signatures. Drugs are found by asking which compound's own expression signature runs opposite to ours, then weighting by predicted blood–brain barrier permeability.</a:t>
            </a:r>
          </a:p>
          <a:p>
            <a:pPr>
              <a:spcBef>
                <a:spcPts val="0"/>
              </a:spcBef>
              <a:spcAft>
                <a:spcPts val="800"/>
              </a:spcAft>
            </a:pPr>
            <a:r>
              <a:rPr sz="1450" b="0">
                <a:solidFill>
                  <a:srgbClr val="191D63"/>
                </a:solidFill>
              </a:rPr>
              <a:t>Raw sequencing data are public: GEO accession GSE338105.</a:t>
            </a:r>
          </a:p>
        </p:txBody>
      </p:sp>
      <p:sp>
        <p:nvSpPr>
          <p:cNvPr id="12" name="TextBox 11"/>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Maleki F, et al. Hum Genomics 2019;13(Suppl 1):42.   Orthotopic U251N glioblastoma xenograft in the athymic rat, MRI-guided LITT; bulk RNA-seq of primary and recurrent tumors, n = 3 per arm; GEO GSE338105.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Primary and recurrent tumors separate globally</a:t>
            </a:r>
          </a:p>
        </p:txBody>
      </p:sp>
      <p:pic>
        <p:nvPicPr>
          <p:cNvPr id="3" name="Picture 2" descr="chart_pca.png"/>
          <p:cNvPicPr>
            <a:picLocks noChangeAspect="1"/>
          </p:cNvPicPr>
          <p:nvPr/>
        </p:nvPicPr>
        <p:blipFill>
          <a:blip r:embed="rId2"/>
          <a:stretch>
            <a:fillRect/>
          </a:stretch>
        </p:blipFill>
        <p:spPr>
          <a:xfrm>
            <a:off x="1750000" y="1420000"/>
            <a:ext cx="5069751" cy="4830000"/>
          </a:xfrm>
          <a:prstGeom prst="rect">
            <a:avLst/>
          </a:prstGeom>
        </p:spPr>
      </p:pic>
      <p:sp>
        <p:nvSpPr>
          <p:cNvPr id="4" name="TextBox 3"/>
          <p:cNvSpPr txBox="1"/>
          <p:nvPr/>
        </p:nvSpPr>
        <p:spPr>
          <a:xfrm>
            <a:off x="7119751" y="1500000"/>
            <a:ext cx="4780249" cy="475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Each point is one tumor's whole transcriptome. The arms sit on opposite sides of the first axis, which carries 41.8 % of all variance; the second carries 26.2 %.</a:t>
            </a:r>
          </a:p>
          <a:p>
            <a:pPr>
              <a:spcBef>
                <a:spcPts val="0"/>
              </a:spcBef>
              <a:spcAft>
                <a:spcPts val="1000"/>
              </a:spcAft>
            </a:pPr>
            <a:r>
              <a:rPr sz="1500" b="0">
                <a:solidFill>
                  <a:srgbClr val="191D63"/>
                </a:solidFill>
              </a:rPr>
              <a:t>PERMANOVA puts 27.8 % of transcriptome-wide variance between the arms (R² = 0.278, F = 1.54).</a:t>
            </a:r>
          </a:p>
          <a:p>
            <a:pPr>
              <a:spcBef>
                <a:spcPts val="0"/>
              </a:spcBef>
              <a:spcAft>
                <a:spcPts val="1000"/>
              </a:spcAft>
            </a:pPr>
            <a:r>
              <a:rPr sz="1500" b="0">
                <a:solidFill>
                  <a:srgbClr val="191D63"/>
                </a:solidFill>
              </a:rPr>
              <a:t>p = 0.10 is the floor of this test, not a weak result: with three per arm there are only ten ways to split six samples, and the observed split is the most extreme of them.</a:t>
            </a:r>
          </a:p>
          <a:p>
            <a:pPr>
              <a:spcBef>
                <a:spcPts val="0"/>
              </a:spcBef>
              <a:spcAft>
                <a:spcPts val="1000"/>
              </a:spcAft>
            </a:pPr>
            <a:r>
              <a:rPr sz="1500" b="0">
                <a:solidFill>
                  <a:srgbClr val="191D63"/>
                </a:solidFill>
              </a:rPr>
              <a:t>A large effect that this sample cannot make formally significant, said out loud rather than left in the supplement.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Principal components of the variance-stabilised counts; PERMANOVA on the transcriptome.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Only 35 genes move, and the biggest movers are artefacts of low counts</a:t>
            </a:r>
          </a:p>
        </p:txBody>
      </p:sp>
      <p:pic>
        <p:nvPicPr>
          <p:cNvPr id="3" name="Picture 2" descr="chart_volcano.png"/>
          <p:cNvPicPr>
            <a:picLocks noChangeAspect="1"/>
          </p:cNvPicPr>
          <p:nvPr/>
        </p:nvPicPr>
        <p:blipFill>
          <a:blip r:embed="rId2"/>
          <a:stretch>
            <a:fillRect/>
          </a:stretch>
        </p:blipFill>
        <p:spPr>
          <a:xfrm>
            <a:off x="1750000" y="1420000"/>
            <a:ext cx="6100000" cy="4144274"/>
          </a:xfrm>
          <a:prstGeom prst="rect">
            <a:avLst/>
          </a:prstGeom>
        </p:spPr>
      </p:pic>
      <p:pic>
        <p:nvPicPr>
          <p:cNvPr id="4" name="Picture 3" descr="table_fold.png"/>
          <p:cNvPicPr>
            <a:picLocks noChangeAspect="1"/>
          </p:cNvPicPr>
          <p:nvPr/>
        </p:nvPicPr>
        <p:blipFill>
          <a:blip r:embed="rId3"/>
          <a:stretch>
            <a:fillRect/>
          </a:stretch>
        </p:blipFill>
        <p:spPr>
          <a:xfrm>
            <a:off x="8150000" y="1420000"/>
            <a:ext cx="3400823" cy="2100000"/>
          </a:xfrm>
          <a:prstGeom prst="rect">
            <a:avLst/>
          </a:prstGeom>
        </p:spPr>
      </p:pic>
      <p:sp>
        <p:nvSpPr>
          <p:cNvPr id="5" name="TextBox 4"/>
          <p:cNvSpPr txBox="1"/>
          <p:nvPr/>
        </p:nvSpPr>
        <p:spPr>
          <a:xfrm>
            <a:off x="8150000" y="3640000"/>
            <a:ext cx="3750000" cy="2610000"/>
          </a:xfrm>
          <a:prstGeom prst="rect">
            <a:avLst/>
          </a:prstGeom>
          <a:noFill/>
        </p:spPr>
        <p:txBody>
          <a:bodyPr wrap="square" lIns="0" rIns="0" tIns="0" bIns="0">
            <a:spAutoFit/>
          </a:bodyPr>
          <a:lstStyle/>
          <a:p>
            <a:pPr>
              <a:spcBef>
                <a:spcPts val="0"/>
              </a:spcBef>
              <a:spcAft>
                <a:spcPts val="500"/>
              </a:spcAft>
            </a:pPr>
            <a:r>
              <a:rPr sz="1300" b="0">
                <a:solidFill>
                  <a:srgbClr val="191D63"/>
                </a:solidFill>
              </a:rPr>
              <a:t>35 genes pass FDR &lt; 0.05 and a two-fold change: 23 up, 12 down; 27 are protein coding.</a:t>
            </a:r>
          </a:p>
          <a:p>
            <a:pPr>
              <a:spcBef>
                <a:spcPts val="0"/>
              </a:spcBef>
              <a:spcAft>
                <a:spcPts val="500"/>
              </a:spcAft>
            </a:pPr>
            <a:r>
              <a:rPr sz="1300" b="0">
                <a:solidFill>
                  <a:srgbClr val="191D63"/>
                </a:solidFill>
              </a:rPr>
              <a:t>Every one of the six largest fold changes is a readthrough transcript, a U6 snRNA or an unannotated locus on 14–111 mean counts against a median of 232: a handful of reads makes a large ratio.</a:t>
            </a:r>
          </a:p>
          <a:p>
            <a:pPr>
              <a:spcBef>
                <a:spcPts val="0"/>
              </a:spcBef>
              <a:spcAft>
                <a:spcPts val="500"/>
              </a:spcAft>
            </a:pPr>
            <a:r>
              <a:rPr sz="1300" b="0">
                <a:solidFill>
                  <a:srgbClr val="191D63"/>
                </a:solidFill>
              </a:rPr>
              <a:t>The protein-coding changes are near two-fold and cluster in matrix and calcium genes, taken up on the network slide.</a:t>
            </a:r>
          </a:p>
          <a:p>
            <a:pPr>
              <a:spcBef>
                <a:spcPts val="0"/>
              </a:spcBef>
              <a:spcAft>
                <a:spcPts val="500"/>
              </a:spcAft>
            </a:pPr>
            <a:r>
              <a:rPr sz="1300" b="0">
                <a:solidFill>
                  <a:srgbClr val="191D63"/>
                </a:solidFill>
              </a:rPr>
              <a:t>A list this short does not carry the biology; the rest of the talk asks what the whole transcriptome is doing.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Wald test with ashr shrinkage; FDR &lt; 0.05 and |log2 fold change| &gt;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dominant theme: protein synthesis is switched off</a:t>
            </a:r>
          </a:p>
        </p:txBody>
      </p:sp>
      <p:pic>
        <p:nvPicPr>
          <p:cNvPr id="3" name="Picture 2" descr="chart_gsea_sets.png"/>
          <p:cNvPicPr>
            <a:picLocks noChangeAspect="1"/>
          </p:cNvPicPr>
          <p:nvPr/>
        </p:nvPicPr>
        <p:blipFill>
          <a:blip r:embed="rId2"/>
          <a:stretch>
            <a:fillRect/>
          </a:stretch>
        </p:blipFill>
        <p:spPr>
          <a:xfrm>
            <a:off x="1750000" y="1420000"/>
            <a:ext cx="4781716" cy="3221550"/>
          </a:xfrm>
          <a:prstGeom prst="rect">
            <a:avLst/>
          </a:prstGeom>
        </p:spPr>
      </p:pic>
      <p:pic>
        <p:nvPicPr>
          <p:cNvPr id="4" name="Picture 3" descr="chart_themes.png"/>
          <p:cNvPicPr>
            <a:picLocks noChangeAspect="1"/>
          </p:cNvPicPr>
          <p:nvPr/>
        </p:nvPicPr>
        <p:blipFill>
          <a:blip r:embed="rId3"/>
          <a:stretch>
            <a:fillRect/>
          </a:stretch>
        </p:blipFill>
        <p:spPr>
          <a:xfrm>
            <a:off x="6781717" y="1420000"/>
            <a:ext cx="5118283" cy="3221550"/>
          </a:xfrm>
          <a:prstGeom prst="rect">
            <a:avLst/>
          </a:prstGeom>
        </p:spPr>
      </p:pic>
      <p:sp>
        <p:nvSpPr>
          <p:cNvPr id="5" name="TextBox 4"/>
          <p:cNvSpPr txBox="1"/>
          <p:nvPr/>
        </p:nvSpPr>
        <p:spPr>
          <a:xfrm>
            <a:off x="1750000" y="4721550"/>
            <a:ext cx="10150000" cy="1200000"/>
          </a:xfrm>
          <a:prstGeom prst="rect">
            <a:avLst/>
          </a:prstGeom>
          <a:noFill/>
        </p:spPr>
        <p:txBody>
          <a:bodyPr wrap="square" lIns="0" rIns="0" tIns="0" bIns="0">
            <a:spAutoFit/>
          </a:bodyPr>
          <a:lstStyle/>
          <a:p>
            <a:pPr>
              <a:spcBef>
                <a:spcPts val="0"/>
              </a:spcBef>
              <a:spcAft>
                <a:spcPts val="500"/>
              </a:spcAft>
            </a:pPr>
            <a:r>
              <a:rPr sz="1350" b="0">
                <a:solidFill>
                  <a:srgbClr val="191D63"/>
                </a:solidFill>
              </a:rPr>
              <a:t>Left: of 8,869 gene sets, the six most depleted in recurrence are all protein synthesis or amino-acid stress. Translation initiation (NES −1.99) is the one set in the screen that clears FDR (q = 0.022); the next five are nominally p &lt; 0.001 and point the same way.</a:t>
            </a:r>
          </a:p>
          <a:p>
            <a:pPr>
              <a:spcBef>
                <a:spcPts val="0"/>
              </a:spcBef>
              <a:spcAft>
                <a:spcPts val="500"/>
              </a:spcAft>
            </a:pPr>
            <a:r>
              <a:rPr sz="1350" b="0">
                <a:solidFill>
                  <a:srgbClr val="191D63"/>
                </a:solidFill>
              </a:rPr>
              <a:t>Right: the same direction runs through the whole anabolic programme (ribosome biogenesis −1.62, mTORC1 −1.46, MYC targets −1.29) and through energy (glycolysis −1.57, OXPHOS −1.45, mitochondrial translation −1.43), while the TCA cycle does not move (−0.67).</a:t>
            </a:r>
          </a:p>
          <a:p>
            <a:pPr>
              <a:spcBef>
                <a:spcPts val="0"/>
              </a:spcBef>
              <a:spcAft>
                <a:spcPts val="500"/>
              </a:spcAft>
            </a:pPr>
            <a:r>
              <a:rPr sz="1350" b="0">
                <a:solidFill>
                  <a:srgbClr val="191D63"/>
                </a:solidFill>
              </a:rPr>
              <a:t>A cell that has stopped building, not one that has stopped burning.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1,000 permutations; nominal p beside FDR q because n = 3 per arm.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effect is strikingly one-sided</a:t>
            </a:r>
          </a:p>
        </p:txBody>
      </p:sp>
      <p:pic>
        <p:nvPicPr>
          <p:cNvPr id="3" name="Picture 2" descr="chart_gsea_landscape.png"/>
          <p:cNvPicPr>
            <a:picLocks noChangeAspect="1"/>
          </p:cNvPicPr>
          <p:nvPr/>
        </p:nvPicPr>
        <p:blipFill>
          <a:blip r:embed="rId2"/>
          <a:stretch>
            <a:fillRect/>
          </a:stretch>
        </p:blipFill>
        <p:spPr>
          <a:xfrm>
            <a:off x="1750000" y="1420000"/>
            <a:ext cx="6500000" cy="4382829"/>
          </a:xfrm>
          <a:prstGeom prst="rect">
            <a:avLst/>
          </a:prstGeom>
        </p:spPr>
      </p:pic>
      <p:sp>
        <p:nvSpPr>
          <p:cNvPr id="4" name="TextBox 3"/>
          <p:cNvSpPr txBox="1"/>
          <p:nvPr/>
        </p:nvSpPr>
        <p:spPr>
          <a:xfrm>
            <a:off x="8550000" y="1500000"/>
            <a:ext cx="3350000" cy="475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Every one of the 8,869 gene sets is a dot: its enrichment score against how far it clears FDR.</a:t>
            </a:r>
          </a:p>
          <a:p>
            <a:pPr>
              <a:spcBef>
                <a:spcPts val="0"/>
              </a:spcBef>
              <a:spcAft>
                <a:spcPts val="1000"/>
              </a:spcAft>
            </a:pPr>
            <a:r>
              <a:rPr sz="1500" b="0">
                <a:solidFill>
                  <a:srgbClr val="191D63"/>
                </a:solidFill>
              </a:rPr>
              <a:t>Six reach q &lt; 0.25. All six are down-regulated, and all six are translation or stress sets.</a:t>
            </a:r>
          </a:p>
          <a:p>
            <a:pPr>
              <a:spcBef>
                <a:spcPts val="0"/>
              </a:spcBef>
              <a:spcAft>
                <a:spcPts val="1000"/>
              </a:spcAft>
            </a:pPr>
            <a:r>
              <a:rPr sz="1500" b="0">
                <a:solidFill>
                  <a:srgbClr val="191D63"/>
                </a:solidFill>
              </a:rPr>
              <a:t>Nothing on the up-regulated side survives correction (best q = 0.61) or forms an interpretable group.</a:t>
            </a:r>
          </a:p>
          <a:p>
            <a:pPr>
              <a:spcBef>
                <a:spcPts val="0"/>
              </a:spcBef>
              <a:spcAft>
                <a:spcPts val="1000"/>
              </a:spcAft>
            </a:pPr>
            <a:r>
              <a:rPr sz="1500" b="0">
                <a:solidFill>
                  <a:srgbClr val="191D63"/>
                </a:solidFill>
              </a:rPr>
              <a:t>The recurrent state is defined by what it switches off, not by a new program it switches 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1,000 permutations.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else moves: hypoxia and iron down, cell cycle up</a:t>
            </a:r>
          </a:p>
        </p:txBody>
      </p:sp>
      <p:pic>
        <p:nvPicPr>
          <p:cNvPr id="3" name="Picture 2" descr="chart_themes2.png"/>
          <p:cNvPicPr>
            <a:picLocks noChangeAspect="1"/>
          </p:cNvPicPr>
          <p:nvPr/>
        </p:nvPicPr>
        <p:blipFill>
          <a:blip r:embed="rId2"/>
          <a:stretch>
            <a:fillRect/>
          </a:stretch>
        </p:blipFill>
        <p:spPr>
          <a:xfrm>
            <a:off x="1750000" y="1420000"/>
            <a:ext cx="6300000" cy="3183048"/>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Hypoxic signalling collapses: HIF1 targets and the hypoxia metagene both −1.79 (p = 0.02, p = 0.01), angiogenesis −1.47. Ablation removes the hypoxic core; what regrows is better perfused.</a:t>
            </a:r>
          </a:p>
          <a:p>
            <a:pPr>
              <a:spcBef>
                <a:spcPts val="0"/>
              </a:spcBef>
              <a:spcAft>
                <a:spcPts val="800"/>
              </a:spcAft>
            </a:pPr>
            <a:r>
              <a:rPr sz="1350" b="0">
                <a:solidFill>
                  <a:srgbClr val="191D63"/>
                </a:solidFill>
              </a:rPr>
              <a:t>Iron uptake and transport falls (−1.55, p = 0.04), as does the senescence programme (−1.62, p = 0.03).</a:t>
            </a:r>
          </a:p>
          <a:p>
            <a:pPr>
              <a:spcBef>
                <a:spcPts val="0"/>
              </a:spcBef>
              <a:spcAft>
                <a:spcPts val="800"/>
              </a:spcAft>
            </a:pPr>
            <a:r>
              <a:rPr sz="1350" b="0">
                <a:solidFill>
                  <a:srgbClr val="191D63"/>
                </a:solidFill>
              </a:rPr>
              <a:t>Cell-cycle sets rise nominally: mitotic spindle +1.76 (p = 0.004), G2M checkpoint +1.71, E2F targets +1.48. A regrowing tumor dividing again, read as a direction, not a finding: none of these clears FDR (q ≥ 0.6).</a:t>
            </a:r>
          </a:p>
          <a:p>
            <a:pPr>
              <a:spcBef>
                <a:spcPts val="0"/>
              </a:spcBef>
              <a:spcAft>
                <a:spcPts val="800"/>
              </a:spcAft>
            </a:pPr>
            <a:r>
              <a:rPr sz="1350" b="0">
                <a:solidFill>
                  <a:srgbClr val="191D63"/>
                </a:solidFill>
              </a:rPr>
              <a:t>Each of these is what a thermally stressed, reperfused margin would be expected to do, which is why the drug output of the same pipeline is worth acting 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on the Hallmark, Reactome, Buffa, Semenza and Fridman sets named; nominal p, gene-set permutation; no set on this slide clears FDR (q ≥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Scored against the published classifiers: the astrocyte-like state is lost</a:t>
            </a:r>
          </a:p>
        </p:txBody>
      </p:sp>
      <p:pic>
        <p:nvPicPr>
          <p:cNvPr id="3" name="Picture 2" descr="chart_subtypes.png"/>
          <p:cNvPicPr>
            <a:picLocks noChangeAspect="1"/>
          </p:cNvPicPr>
          <p:nvPr/>
        </p:nvPicPr>
        <p:blipFill>
          <a:blip r:embed="rId2"/>
          <a:stretch>
            <a:fillRect/>
          </a:stretch>
        </p:blipFill>
        <p:spPr>
          <a:xfrm>
            <a:off x="1750000" y="1420000"/>
            <a:ext cx="6100000" cy="4421188"/>
          </a:xfrm>
          <a:prstGeom prst="rect">
            <a:avLst/>
          </a:prstGeom>
        </p:spPr>
      </p:pic>
      <p:sp>
        <p:nvSpPr>
          <p:cNvPr id="4" name="TextBox 3"/>
          <p:cNvSpPr txBox="1"/>
          <p:nvPr/>
        </p:nvSpPr>
        <p:spPr>
          <a:xfrm>
            <a:off x="8150000" y="1480000"/>
            <a:ext cx="3750000" cy="477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Each tumor is scored by GSVA for how much of each published signature it expresses: ten Neftel and Garofano signatures, 39 to 50 genes each, the published definitions rather than a hand-picked panel.</a:t>
            </a:r>
          </a:p>
          <a:p>
            <a:pPr>
              <a:spcBef>
                <a:spcPts val="0"/>
              </a:spcBef>
              <a:spcAft>
                <a:spcPts val="800"/>
              </a:spcAft>
            </a:pPr>
            <a:r>
              <a:rPr sz="1350" b="0">
                <a:solidFill>
                  <a:srgbClr val="191D63"/>
                </a:solidFill>
              </a:rPr>
              <a:t>One transition is significant: the astrocyte-like state is lost, +0.26 → -0.27 (p = 0.007).</a:t>
            </a:r>
          </a:p>
          <a:p>
            <a:pPr>
              <a:spcBef>
                <a:spcPts val="0"/>
              </a:spcBef>
              <a:spcAft>
                <a:spcPts val="800"/>
              </a:spcAft>
            </a:pPr>
            <a:r>
              <a:rPr sz="1350" b="0">
                <a:solidFill>
                  <a:srgbClr val="191D63"/>
                </a:solidFill>
              </a:rPr>
              <a:t>The mitochondrial signature moves the same way (−0.58): 34 of its 35 measurable genes are lower in recurrence, the direction OXPHOS and mitochondrial translation took on the enrichment slide. Two independent computations agreeing is the argument.</a:t>
            </a:r>
          </a:p>
          <a:p>
            <a:pPr>
              <a:spcBef>
                <a:spcPts val="0"/>
              </a:spcBef>
              <a:spcAft>
                <a:spcPts val="800"/>
              </a:spcAft>
            </a:pPr>
            <a:r>
              <a:rPr sz="1350" b="0">
                <a:solidFill>
                  <a:srgbClr val="191D63"/>
                </a:solidFill>
              </a:rPr>
              <a:t>Mesenchymal and neural-progenitor scores drift but do not reach significance.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Garofano L, et al. Nat Cancer 2021;2:141–156.    8. Neftel C, et al. Cell 2019;178:835–849.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hubs: matrix genes down, calcium genes up</a:t>
            </a:r>
          </a:p>
        </p:txBody>
      </p:sp>
      <p:pic>
        <p:nvPicPr>
          <p:cNvPr id="3" name="Picture 2" descr="table_hubs.png"/>
          <p:cNvPicPr>
            <a:picLocks noChangeAspect="1"/>
          </p:cNvPicPr>
          <p:nvPr/>
        </p:nvPicPr>
        <p:blipFill>
          <a:blip r:embed="rId2"/>
          <a:stretch>
            <a:fillRect/>
          </a:stretch>
        </p:blipFill>
        <p:spPr>
          <a:xfrm>
            <a:off x="7300000" y="1420000"/>
            <a:ext cx="4600000" cy="4266722"/>
          </a:xfrm>
          <a:prstGeom prst="rect">
            <a:avLst/>
          </a:prstGeom>
        </p:spPr>
      </p:pic>
      <p:pic>
        <p:nvPicPr>
          <p:cNvPr id="4" name="Picture 3" descr="chart_ppi.png"/>
          <p:cNvPicPr>
            <a:picLocks noChangeAspect="1"/>
          </p:cNvPicPr>
          <p:nvPr/>
        </p:nvPicPr>
        <p:blipFill>
          <a:blip r:embed="rId3"/>
          <a:stretch>
            <a:fillRect/>
          </a:stretch>
        </p:blipFill>
        <p:spPr>
          <a:xfrm>
            <a:off x="3013801" y="1420000"/>
            <a:ext cx="2722397" cy="3080000"/>
          </a:xfrm>
          <a:prstGeom prst="rect">
            <a:avLst/>
          </a:prstGeom>
        </p:spPr>
      </p:pic>
      <p:sp>
        <p:nvSpPr>
          <p:cNvPr id="5" name="TextBox 4"/>
          <p:cNvSpPr txBox="1"/>
          <p:nvPr/>
        </p:nvSpPr>
        <p:spPr>
          <a:xfrm>
            <a:off x="1750000" y="4560000"/>
            <a:ext cx="5250000" cy="420000"/>
          </a:xfrm>
          <a:prstGeom prst="rect">
            <a:avLst/>
          </a:prstGeom>
          <a:noFill/>
        </p:spPr>
        <p:txBody>
          <a:bodyPr wrap="square" lIns="0" rIns="0" tIns="0" bIns="0">
            <a:spAutoFit/>
          </a:bodyPr>
          <a:lstStyle/>
          <a:p>
            <a:pPr>
              <a:spcBef>
                <a:spcPts val="0"/>
              </a:spcBef>
              <a:spcAft>
                <a:spcPts val="0"/>
              </a:spcAft>
            </a:pPr>
            <a:r>
              <a:rPr sz="1200" b="0">
                <a:solidFill>
                  <a:srgbClr val="7A7A7A"/>
                </a:solidFill>
              </a:rPr>
              <a:t>11 of the 35 genes have a STRING interaction. Navy down, red up; filled, highest degree; line weight, STRING score.</a:t>
            </a:r>
          </a:p>
        </p:txBody>
      </p:sp>
      <p:sp>
        <p:nvSpPr>
          <p:cNvPr id="6" name="TextBox 5"/>
          <p:cNvSpPr txBox="1"/>
          <p:nvPr/>
        </p:nvSpPr>
        <p:spPr>
          <a:xfrm>
            <a:off x="1750000" y="5040000"/>
            <a:ext cx="5250000" cy="1250000"/>
          </a:xfrm>
          <a:prstGeom prst="rect">
            <a:avLst/>
          </a:prstGeom>
          <a:noFill/>
        </p:spPr>
        <p:txBody>
          <a:bodyPr wrap="square" lIns="0" rIns="0" tIns="0" bIns="0">
            <a:spAutoFit/>
          </a:bodyPr>
          <a:lstStyle/>
          <a:p>
            <a:pPr>
              <a:spcBef>
                <a:spcPts val="0"/>
              </a:spcBef>
              <a:spcAft>
                <a:spcPts val="500"/>
              </a:spcAft>
            </a:pPr>
            <a:r>
              <a:rPr sz="1350" b="0">
                <a:solidFill>
                  <a:srgbClr val="191D63"/>
                </a:solidFill>
              </a:rPr>
              <a:t>Down: the structural matrix, every collagen, biglycan, prolargin and hemicentin. Up: neuronal calcium handling and a presynaptic scaffold, calbindin, ryanodine receptor 2 and piccolo.</a:t>
            </a:r>
          </a:p>
          <a:p>
            <a:pPr>
              <a:spcBef>
                <a:spcPts val="0"/>
              </a:spcBef>
              <a:spcAft>
                <a:spcPts val="500"/>
              </a:spcAft>
            </a:pPr>
            <a:r>
              <a:rPr sz="1350" b="0">
                <a:solidFill>
                  <a:srgbClr val="191D63"/>
                </a:solidFill>
              </a:rPr>
              <a:t>Whether that echoes the neuron–glioma synapse described in high-grade glioma⁹˒¹⁰, or only reflects which cells survived, six animals cannot tell us.</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9. Venkatesh HS, et al. Nature 2019;573:539–545.    10. Venkataramani V, et al. Nature 2019;573:532–538.   STRING interactions among the 35 differentially expressed genes.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From 93 opposing drug signatures to one candidate</a:t>
            </a:r>
          </a:p>
        </p:txBody>
      </p:sp>
      <p:pic>
        <p:nvPicPr>
          <p:cNvPr id="3" name="Picture 2" descr="chart_funnel.png"/>
          <p:cNvPicPr>
            <a:picLocks noChangeAspect="1"/>
          </p:cNvPicPr>
          <p:nvPr/>
        </p:nvPicPr>
        <p:blipFill>
          <a:blip r:embed="rId2"/>
          <a:stretch>
            <a:fillRect/>
          </a:stretch>
        </p:blipFill>
        <p:spPr>
          <a:xfrm>
            <a:off x="1750000" y="1420000"/>
            <a:ext cx="5200000" cy="4004819"/>
          </a:xfrm>
          <a:prstGeom prst="rect">
            <a:avLst/>
          </a:prstGeom>
        </p:spPr>
      </p:pic>
      <p:sp>
        <p:nvSpPr>
          <p:cNvPr id="4" name="TextBox 3"/>
          <p:cNvSpPr txBox="1"/>
          <p:nvPr/>
        </p:nvSpPr>
        <p:spPr>
          <a:xfrm>
            <a:off x="7250000" y="1460000"/>
            <a:ext cx="4650000" cy="479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DSigDB holds the expression signatures of drugs.¹⁶ The pipeline asks which drug signature runs opposite to the recurrence signature (GSEA on the drug's genes), then weights by predicted brain penetration (ADMET-AI¹¹), with a second barrier model as a check (BOILED-Egg¹²).</a:t>
            </a:r>
          </a:p>
          <a:p>
            <a:pPr>
              <a:spcBef>
                <a:spcPts val="0"/>
              </a:spcBef>
              <a:spcAft>
                <a:spcPts val="800"/>
              </a:spcAft>
            </a:pPr>
            <a:r>
              <a:rPr sz="1350" b="0">
                <a:solidFill>
                  <a:srgbClr val="191D63"/>
                </a:solidFill>
              </a:rPr>
              <a:t>93 signatures opposed ours. Only 54 belong to a compound with any clinical phase; the rest include phosphine, tributyltin and a flame retardant.</a:t>
            </a:r>
          </a:p>
          <a:p>
            <a:pPr>
              <a:spcBef>
                <a:spcPts val="0"/>
              </a:spcBef>
              <a:spcAft>
                <a:spcPts val="800"/>
              </a:spcAft>
            </a:pPr>
            <a:r>
              <a:rPr sz="1350" b="0">
                <a:solidFill>
                  <a:srgbClr val="191D63"/>
                </a:solidFill>
              </a:rPr>
              <a:t>15 clear both barrier models. Prior art was then read for each: seven have no glioma literature, pentetrazol causes seizures, and amiodarone and diazepam carry published evidence of harm.¹³</a:t>
            </a:r>
          </a:p>
          <a:p>
            <a:pPr>
              <a:spcBef>
                <a:spcPts val="0"/>
              </a:spcBef>
              <a:spcAft>
                <a:spcPts val="800"/>
              </a:spcAft>
            </a:pPr>
            <a:r>
              <a:rPr sz="1350" b="0">
                <a:solidFill>
                  <a:srgbClr val="191D63"/>
                </a:solidFill>
              </a:rPr>
              <a:t>The filter is honest about its limits: it keeps things that are not systemic therapies (oxygen, ozone, magnesium) and drops approved drugs with no recorded phase, deferoxamine among them.</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Swanson K, et al. Bioinformatics 2024;40:btae416.   12. Daina A, Zoete V. ChemMedChem 2016;11:1117–1121.   13. Boursi B, et al. Pharmacoepidemiol Drug Saf 2016;25:1179–1185.   16. Yoo M, et al. Bioinformatics 2015;31:3069–3071.   Score: |NES| to the power 1.5, weighted by predicted blood–brain barrier permeability.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candidate survives every filter</a:t>
            </a:r>
          </a:p>
        </p:txBody>
      </p:sp>
      <p:pic>
        <p:nvPicPr>
          <p:cNvPr id="3" name="Picture 2" descr="table_drugs.png"/>
          <p:cNvPicPr>
            <a:picLocks noChangeAspect="1"/>
          </p:cNvPicPr>
          <p:nvPr/>
        </p:nvPicPr>
        <p:blipFill>
          <a:blip r:embed="rId2"/>
          <a:stretch>
            <a:fillRect/>
          </a:stretch>
        </p:blipFill>
        <p:spPr>
          <a:xfrm>
            <a:off x="7669231" y="1420000"/>
            <a:ext cx="4230769" cy="2500000"/>
          </a:xfrm>
          <a:prstGeom prst="rect">
            <a:avLst/>
          </a:prstGeom>
        </p:spPr>
      </p:pic>
      <p:pic>
        <p:nvPicPr>
          <p:cNvPr id="4" name="Picture 3" descr="chart_drugs.png"/>
          <p:cNvPicPr>
            <a:picLocks noChangeAspect="1"/>
          </p:cNvPicPr>
          <p:nvPr/>
        </p:nvPicPr>
        <p:blipFill>
          <a:blip r:embed="rId3"/>
          <a:stretch>
            <a:fillRect/>
          </a:stretch>
        </p:blipFill>
        <p:spPr>
          <a:xfrm>
            <a:off x="1750000" y="1420000"/>
            <a:ext cx="5528031" cy="4830000"/>
          </a:xfrm>
          <a:prstGeom prst="rect">
            <a:avLst/>
          </a:prstGeom>
        </p:spPr>
      </p:pic>
      <p:sp>
        <p:nvSpPr>
          <p:cNvPr id="5" name="TextBox 4"/>
          <p:cNvSpPr txBox="1"/>
          <p:nvPr/>
        </p:nvSpPr>
        <p:spPr>
          <a:xfrm>
            <a:off x="7669231" y="4040000"/>
            <a:ext cx="4230769" cy="2210000"/>
          </a:xfrm>
          <a:prstGeom prst="rect">
            <a:avLst/>
          </a:prstGeom>
          <a:noFill/>
        </p:spPr>
        <p:txBody>
          <a:bodyPr wrap="square" lIns="0" rIns="0" tIns="0" bIns="0">
            <a:spAutoFit/>
          </a:bodyPr>
          <a:lstStyle/>
          <a:p>
            <a:pPr>
              <a:spcBef>
                <a:spcPts val="0"/>
              </a:spcBef>
              <a:spcAft>
                <a:spcPts val="600"/>
              </a:spcAft>
            </a:pPr>
            <a:r>
              <a:rPr sz="1300" b="0">
                <a:solidFill>
                  <a:srgbClr val="191D63"/>
                </a:solidFill>
              </a:rPr>
              <a:t>Ciclopirox scores 3.14 against 2.34 for the runner-up, and ranks first with or without the permeability weight; both barrier models agree.</a:t>
            </a:r>
          </a:p>
          <a:p>
            <a:pPr>
              <a:spcBef>
                <a:spcPts val="0"/>
              </a:spcBef>
              <a:spcAft>
                <a:spcPts val="600"/>
              </a:spcAft>
            </a:pPr>
            <a:r>
              <a:rPr sz="1300" b="0">
                <a:solidFill>
                  <a:srgbClr val="191D63"/>
                </a:solidFill>
              </a:rPr>
              <a:t>It is approved (a topical antifungal), and an oral form has completed phase 1 in cancer patients.¹⁴</a:t>
            </a:r>
          </a:p>
          <a:p>
            <a:pPr>
              <a:spcBef>
                <a:spcPts val="0"/>
              </a:spcBef>
              <a:spcAft>
                <a:spcPts val="600"/>
              </a:spcAft>
            </a:pPr>
            <a:r>
              <a:rPr sz="1300" b="0">
                <a:solidFill>
                  <a:srgbClr val="4C70B7"/>
                </a:solidFill>
              </a:rPr>
              <a:t>Computational predictions: no agent named here has been tested in this model or is approved for this use.</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Swanson K, et al. Bioinformatics 2024;40:btae416.   12. Daina A, Zoete V. ChemMedChem 2016;11:1117–1121.   13. Boursi B, et al. Pharmacoepidemiol Drug Saf 2016;25:1179–1185.   14. Minden MD, et al. Am J Hematol 2014;89:363–368.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the tumor depends on its target</a:t>
            </a:r>
          </a:p>
        </p:txBody>
      </p:sp>
      <p:pic>
        <p:nvPicPr>
          <p:cNvPr id="3" name="Picture 2" descr="chart_depmap.png"/>
          <p:cNvPicPr>
            <a:picLocks noChangeAspect="1"/>
          </p:cNvPicPr>
          <p:nvPr/>
        </p:nvPicPr>
        <p:blipFill>
          <a:blip r:embed="rId2"/>
          <a:stretch>
            <a:fillRect/>
          </a:stretch>
        </p:blipFill>
        <p:spPr>
          <a:xfrm>
            <a:off x="1750000" y="1420000"/>
            <a:ext cx="6300000" cy="3451679"/>
          </a:xfrm>
          <a:prstGeom prst="rect">
            <a:avLst/>
          </a:prstGeom>
        </p:spPr>
      </p:pic>
      <p:sp>
        <p:nvSpPr>
          <p:cNvPr id="4" name="TextBox 3"/>
          <p:cNvSpPr txBox="1"/>
          <p:nvPr/>
        </p:nvSpPr>
        <p:spPr>
          <a:xfrm>
            <a:off x="8350000" y="1460000"/>
            <a:ext cx="3550000" cy="4790000"/>
          </a:xfrm>
          <a:prstGeom prst="rect">
            <a:avLst/>
          </a:prstGeom>
          <a:noFill/>
        </p:spPr>
        <p:txBody>
          <a:bodyPr wrap="square" lIns="0" rIns="0" tIns="0" bIns="0">
            <a:spAutoFit/>
          </a:bodyPr>
          <a:lstStyle/>
          <a:p>
            <a:pPr>
              <a:spcBef>
                <a:spcPts val="0"/>
              </a:spcBef>
              <a:spcAft>
                <a:spcPts val="600"/>
              </a:spcAft>
            </a:pPr>
            <a:r>
              <a:rPr sz="1300" b="0">
                <a:solidFill>
                  <a:srgbClr val="191D63"/>
                </a:solidFill>
              </a:rPr>
              <a:t>Ciclopirox chelates iron and inhibits deoxyhypusine hydroxylase (DOHH), the enzyme that activates eIF5A, a factor the ribosome needs to keep elongating.</a:t>
            </a:r>
          </a:p>
          <a:p>
            <a:pPr>
              <a:spcBef>
                <a:spcPts val="0"/>
              </a:spcBef>
              <a:spcAft>
                <a:spcPts val="600"/>
              </a:spcAft>
            </a:pPr>
            <a:r>
              <a:rPr sz="1300" b="0">
                <a:solidFill>
                  <a:srgbClr val="191D63"/>
                </a:solidFill>
              </a:rPr>
              <a:t>Does this tumor depend on that axis? In DepMap's genome-wide CRISPR screen¹⁵, U-251 MG loses fitness when DOHH (−0.58), DHPS (−1.09) or EIF5A (−1.25) is knocked out, past the −0.5 dependency threshold, and none is a common-essential gene: a selective dependency, and one independent of our signature.</a:t>
            </a:r>
          </a:p>
          <a:p>
            <a:pPr>
              <a:spcBef>
                <a:spcPts val="0"/>
              </a:spcBef>
              <a:spcAft>
                <a:spcPts val="600"/>
              </a:spcAft>
            </a:pPr>
            <a:r>
              <a:rPr sz="1300" b="0">
                <a:solidFill>
                  <a:srgbClr val="191D63"/>
                </a:solidFill>
              </a:rPr>
              <a:t>Ribonucleotide reductase, the other ciclopirox target, is essential in every line; the HIF axis and iron handling are not dependencies here.</a:t>
            </a:r>
          </a:p>
          <a:p>
            <a:pPr>
              <a:spcBef>
                <a:spcPts val="0"/>
              </a:spcBef>
              <a:spcAft>
                <a:spcPts val="600"/>
              </a:spcAft>
            </a:pPr>
            <a:r>
              <a:rPr sz="1300" b="0">
                <a:solidFill>
                  <a:srgbClr val="191D63"/>
                </a:solidFill>
              </a:rPr>
              <a:t>Delivery: LITT opens the blood–brain barrier at the margin for weeks after ablation², which is the window.</a:t>
            </a:r>
          </a:p>
          <a:p>
            <a:pPr>
              <a:spcBef>
                <a:spcPts val="0"/>
              </a:spcBef>
              <a:spcAft>
                <a:spcPts val="600"/>
              </a:spcAft>
            </a:pPr>
            <a:r>
              <a:rPr sz="1300" b="0">
                <a:solidFill>
                  <a:srgbClr val="4C70B7"/>
                </a:solidFill>
              </a:rPr>
              <a:t>Public screen data and a computational prediction; nothing has been dosed in this model.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14. Minden MD, et al. Am J Hematol 2014;89:363–368.   15. DepMap 24Q4, Broad Institute (depmap.org), Chronos gene effect, cell line ACH-000232.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Conclusions</a:t>
            </a:r>
          </a:p>
        </p:txBody>
      </p:sp>
      <p:pic>
        <p:nvPicPr>
          <p:cNvPr id="3" name="Picture 2" descr="chart_arms.png"/>
          <p:cNvPicPr>
            <a:picLocks noChangeAspect="1"/>
          </p:cNvPicPr>
          <p:nvPr/>
        </p:nvPicPr>
        <p:blipFill>
          <a:blip r:embed="rId2"/>
          <a:stretch>
            <a:fillRect/>
          </a:stretch>
        </p:blipFill>
        <p:spPr>
          <a:xfrm>
            <a:off x="1750000" y="1420000"/>
            <a:ext cx="5500000" cy="3824615"/>
          </a:xfrm>
          <a:prstGeom prst="rect">
            <a:avLst/>
          </a:prstGeom>
        </p:spPr>
      </p:pic>
      <p:sp>
        <p:nvSpPr>
          <p:cNvPr id="4" name="TextBox 3"/>
          <p:cNvSpPr txBox="1"/>
          <p:nvPr/>
        </p:nvSpPr>
        <p:spPr>
          <a:xfrm>
            <a:off x="7550000" y="1420000"/>
            <a:ext cx="4350000" cy="3824615"/>
          </a:xfrm>
          <a:prstGeom prst="rect">
            <a:avLst/>
          </a:prstGeom>
          <a:noFill/>
        </p:spPr>
        <p:txBody>
          <a:bodyPr wrap="square" lIns="0" rIns="0" tIns="0" bIns="0">
            <a:spAutoFit/>
          </a:bodyPr>
          <a:lstStyle/>
          <a:p>
            <a:pPr>
              <a:spcBef>
                <a:spcPts val="0"/>
              </a:spcBef>
              <a:spcAft>
                <a:spcPts val="500"/>
              </a:spcAft>
            </a:pPr>
            <a:r>
              <a:rPr sz="1300" b="0">
                <a:solidFill>
                  <a:srgbClr val="191D63"/>
                </a:solidFill>
              </a:rPr>
              <a:t>Post-LITT recurrence carries a coordinated shutdown of biosynthesis — translation initiation, elongation, the ribosome and the GCN2 stress arm, with ribosome biogenesis, mTORC1 and MYC output falling alongside them.</a:t>
            </a:r>
          </a:p>
          <a:p>
            <a:pPr>
              <a:spcBef>
                <a:spcPts val="0"/>
              </a:spcBef>
              <a:spcAft>
                <a:spcPts val="500"/>
              </a:spcAft>
            </a:pPr>
            <a:r>
              <a:rPr sz="1300" b="0">
                <a:solidFill>
                  <a:srgbClr val="191D63"/>
                </a:solidFill>
              </a:rPr>
              <a:t>It extends to energy metabolism on both arms — glycolysis and OXPHOS, and mitochondrial translation — while the TCA cycle is untouched.</a:t>
            </a:r>
          </a:p>
          <a:p>
            <a:pPr>
              <a:spcBef>
                <a:spcPts val="0"/>
              </a:spcBef>
              <a:spcAft>
                <a:spcPts val="500"/>
              </a:spcAft>
            </a:pPr>
            <a:r>
              <a:rPr sz="1300" b="0">
                <a:solidFill>
                  <a:srgbClr val="191D63"/>
                </a:solidFill>
              </a:rPr>
              <a:t>Hypoxic signalling collapses (HIF targets, hypoxia metagene both −1.79). Ablation removes the hypoxic core; what regrows is better perfused.</a:t>
            </a:r>
          </a:p>
          <a:p>
            <a:pPr>
              <a:spcBef>
                <a:spcPts val="0"/>
              </a:spcBef>
              <a:spcAft>
                <a:spcPts val="500"/>
              </a:spcAft>
            </a:pPr>
            <a:r>
              <a:rPr sz="1300" b="0">
                <a:solidFill>
                  <a:srgbClr val="191D63"/>
                </a:solidFill>
              </a:rPr>
              <a:t>Of the ten published subtype signatures, only loss of the astrocyte-like state reaches significance. Ciclopirox survives every filter — approved, phase 1 complete in cancer, and independently nominated by another group's screen.</a:t>
            </a:r>
          </a:p>
        </p:txBody>
      </p:sp>
      <p:sp>
        <p:nvSpPr>
          <p:cNvPr id="5" name="Rounded Rectangle 4"/>
          <p:cNvSpPr/>
          <p:nvPr/>
        </p:nvSpPr>
        <p:spPr>
          <a:xfrm>
            <a:off x="1750000" y="5364615"/>
            <a:ext cx="10150000" cy="885385"/>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This is the phenotype you would predict of a thermally stressed, reperfused margin — recovering it from an unbiased transcriptome is a positive control, and it is why the drug output of the same pipeline is worth acting on.</a:t>
            </a:r>
          </a:p>
        </p:txBody>
      </p:sp>
      <p:sp>
        <p:nvSpPr>
          <p:cNvPr id="6" name="TextBox 5"/>
          <p:cNvSpPr txBox="1"/>
          <p:nvPr/>
        </p:nvSpPr>
        <p:spPr>
          <a:xfrm>
            <a:off x="1750000" y="6380000"/>
            <a:ext cx="10150000" cy="40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investigational; a single cell line in a single animal model, n = 3 per arm; drug candidates are computational predictions. Orthotopic U251N glioblastoma xenograft in the athymic rat, MRI-guided LITT; bulk RNA-seq of primary and recurrent tumors, n = 3 per arm; GEO GSE338105.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next steps</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 = 3 per arm. Gene-set results are best read as directional, which is why nominal p is reported alongside FDR q.</a:t>
            </a:r>
          </a:p>
          <a:p>
            <a:pPr>
              <a:spcBef>
                <a:spcPts val="0"/>
              </a:spcBef>
              <a:spcAft>
                <a:spcPts val="1000"/>
              </a:spcAft>
            </a:pPr>
            <a:r>
              <a:rPr sz="1500" b="0">
                <a:solidFill>
                  <a:srgbClr val="191D63"/>
                </a:solidFill>
              </a:rPr>
              <a:t>A single cell line (U251N) in a single xenograft model — no patient tissue and no immune compartment.</a:t>
            </a:r>
          </a:p>
          <a:p>
            <a:pPr>
              <a:spcBef>
                <a:spcPts val="0"/>
              </a:spcBef>
              <a:spcAft>
                <a:spcPts val="1000"/>
              </a:spcAft>
            </a:pPr>
            <a:r>
              <a:rPr sz="1500" b="0">
                <a:solidFill>
                  <a:srgbClr val="191D63"/>
                </a:solidFill>
              </a:rPr>
              <a:t>Bulk RNA-seq averages the ablation margin with whatever else was harvested; the persister state is inferred, not isolated.</a:t>
            </a:r>
          </a:p>
          <a:p>
            <a:pPr>
              <a:spcBef>
                <a:spcPts val="0"/>
              </a:spcBef>
              <a:spcAft>
                <a:spcPts val="1000"/>
              </a:spcAft>
            </a:pPr>
            <a:r>
              <a:rPr sz="1500" b="0">
                <a:solidFill>
                  <a:srgbClr val="191D63"/>
                </a:solidFill>
              </a:rPr>
              <a:t>Every drug candidate is a computational prediction. None has been tested in this model.</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 steps</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Spatial or single-cell profiling of the sublethal margin, to test whether the persister state sits where we think it does.</a:t>
            </a:r>
          </a:p>
          <a:p>
            <a:pPr>
              <a:spcBef>
                <a:spcPts val="0"/>
              </a:spcBef>
              <a:spcAft>
                <a:spcPts val="1000"/>
              </a:spcAft>
            </a:pPr>
            <a:r>
              <a:rPr sz="1500" b="0">
                <a:solidFill>
                  <a:srgbClr val="191D63"/>
                </a:solidFill>
              </a:rPr>
              <a:t>Puromycin incorporation and polysome profiling, to confirm that translation is genuinely suppressed and not only transcriptionally down.</a:t>
            </a:r>
          </a:p>
          <a:p>
            <a:pPr>
              <a:spcBef>
                <a:spcPts val="0"/>
              </a:spcBef>
              <a:spcAft>
                <a:spcPts val="1000"/>
              </a:spcAft>
            </a:pPr>
            <a:r>
              <a:rPr sz="1500" b="0">
                <a:solidFill>
                  <a:srgbClr val="191D63"/>
                </a:solidFill>
              </a:rPr>
              <a:t>Ciclopirox and LY-294002 dosed into the post-ablation barrier window, with survival as the endpoint.</a:t>
            </a:r>
          </a:p>
          <a:p>
            <a:pPr>
              <a:spcBef>
                <a:spcPts val="0"/>
              </a:spcBef>
              <a:spcAft>
                <a:spcPts val="1000"/>
              </a:spcAft>
            </a:pPr>
            <a:r>
              <a:rPr sz="1500" b="0">
                <a:solidFill>
                  <a:srgbClr val="191D63"/>
                </a:solidFill>
              </a:rPr>
              <a:t>Validation in an immunocompetent model, and in patient tissue from the peri-ablation zone.</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Tavarekere N. Nagaraja, PhD, Indrani Datta, DHI, and Ian Y. Lee, MD — Hermelin Brain Tumor Center, Henry Ford Health, who built and characterized the model this analysis rests on.</a:t>
            </a:r>
          </a:p>
          <a:p>
            <a:pPr>
              <a:spcBef>
                <a:spcPts val="0"/>
              </a:spcBef>
              <a:spcAft>
                <a:spcPts val="1000"/>
              </a:spcAft>
            </a:pPr>
            <a:r>
              <a:rPr sz="1500" b="0">
                <a:solidFill>
                  <a:srgbClr val="191D63"/>
                </a:solidFill>
              </a:rPr>
              <a:t>Supported by a Henry Ford Health Physician Scientist Award A20050 (I.Y.L.).</a:t>
            </a:r>
          </a:p>
          <a:p>
            <a:pPr>
              <a:spcBef>
                <a:spcPts val="0"/>
              </a:spcBef>
              <a:spcAft>
                <a:spcPts val="1000"/>
              </a:spcAft>
            </a:pPr>
            <a:r>
              <a:rPr sz="1500" b="0">
                <a:solidFill>
                  <a:srgbClr val="191D63"/>
                </a:solidFill>
              </a:rPr>
              <a:t>Animal procedures were approved by the Henry Ford Health IACUC (protocol #1509) and conducted in accordance with the ARRIVE guidelines.</a:t>
            </a:r>
          </a:p>
          <a:p>
            <a:pPr>
              <a:spcBef>
                <a:spcPts val="0"/>
              </a:spcBef>
              <a:spcAft>
                <a:spcPts val="1000"/>
              </a:spcAft>
            </a:pPr>
            <a:r>
              <a:rPr sz="1500" b="0">
                <a:solidFill>
                  <a:srgbClr val="191D63"/>
                </a:solidFill>
              </a:rPr>
              <a:t>Sequencing data: GEO GSE338105. Differential-expression, enrichment and drug-ranking tables are released as Supplementary Data.</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
        <p:nvSpPr>
          <p:cNvPr id="5" name="TextBox 4"/>
          <p:cNvSpPr txBox="1"/>
          <p:nvPr/>
        </p:nvSpPr>
        <p:spPr>
          <a:xfrm>
            <a:off x="8300000" y="3220000"/>
            <a:ext cx="3600000" cy="1200000"/>
          </a:xfrm>
          <a:prstGeom prst="rect">
            <a:avLst/>
          </a:prstGeom>
          <a:noFill/>
        </p:spPr>
        <p:txBody>
          <a:bodyPr wrap="square" lIns="0" rIns="0" tIns="0" bIns="0">
            <a:spAutoFit/>
          </a:bodyPr>
          <a:lstStyle/>
          <a:p>
            <a:pPr algn="ctr">
              <a:spcBef>
                <a:spcPts val="0"/>
              </a:spcBef>
              <a:spcAft>
                <a:spcPts val="600"/>
              </a:spcAft>
            </a:pPr>
            <a:r>
              <a:rPr sz="1300" b="0">
                <a:solidFill>
                  <a:srgbClr val="7A7A7A"/>
                </a:solidFill>
              </a:rPr>
              <a:t>Sequencing data: GEO GSE338105</a:t>
            </a:r>
          </a:p>
          <a:p>
            <a:pPr algn="ctr">
              <a:spcBef>
                <a:spcPts val="0"/>
              </a:spcBef>
              <a:spcAft>
                <a:spcPts val="600"/>
              </a:spcAft>
            </a:pPr>
            <a:r>
              <a:rPr sz="1300" b="0">
                <a:solidFill>
                  <a:srgbClr val="7A7A7A"/>
                </a:solidFill>
              </a:rPr>
              <a:t>No commercial support. Animal work under Henry Ford Health IACUC protocol 1509, ARRIVE guidelines.</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