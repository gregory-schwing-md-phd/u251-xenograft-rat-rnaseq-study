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0:00–0:08  Title. Name, institutions, and that this is a rat model of MRI-guided LITT. Do not read the title aloud.</a:t>
            </a:r>
          </a:p>
          <a:p/>
          <a:p>
            <a:r>
              <a:t>Disclosures, read aloud (CNS displays the list; no disclosure slide per the ACCME speaker guidelines): I.Y.L. has consulting agreements with Medtronic, Inc. (Minneapolis, MN) and Monteris Medical, Inc. (Plymouth, MN). All other authors declare no conflicts of interest. Supported by a Henry Ford Health Physician Scientist Award A20050 (I.Y.L.). No commercial support was received for this analysis. Drug candidates discussed here are computational predictions. None is approved for glioblastoma and none has been tested in this model.</a:t>
            </a:r>
          </a:p>
          <a:p/>
          <a:p>
            <a:r>
              <a:t>Why the disclosures matter here: Medtronic makes Visualase, the LITT system used in this rat model, and Monteris makes NeuroBlate, a competing system, so the room will want to hear both named. Some agents that appear later (ifosfamide, ganciclovir, progesterone, metformin) have been studied in glioblastoma; ciclopirox has not been tested in patients with glioblastoma.</a:t>
            </a:r>
          </a:p>
          <a:p/>
          <a:p>
            <a:r>
              <a:t>Timing: 25 slides in six minutes, about 14 s each. If running long, cut in this order: 8 (dish to brain), 21 (prior-art table), 19 (scatter); then 17 (hubs; also drop the network from beat 4 of the roadmap) and 14 (what else moves; also drop '(next slide)' on slide 13 and the hypoxia beat of the conclusions). Each saves 8 to 12 s. Keep 15 and 24: the one-tumor caveat, the methylation result and the next steps are said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0:08–0:20  Roadmap. Five beats, twelve seconds; do not linger.</a:t>
            </a:r>
          </a:p>
          <a:p/>
          <a:p>
            <a:r>
              <a:t>The strip is the study in one line: the human line, the orthotopic tumor, the ablation (the frame is from the video three slides on), the recurrence, and the sequencing of three primary and three recurrent tumors.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0:20–0:38  Background. The one idea to land: LITT kills the core, but the cells that come back sat in the sublethal margin. Point at the diagram once.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0:38–0:55  The gap. The vessels and the immune side of that margin have been described, and a first-pass comparison of recurrent against primary on these same libraries found cell-cycle, motility and inflammatory genes up in recurrence (the J Neurosurg abstract reports four per arm; our Methods say four primary and three recurrent, the fourth being the failed graft now used as a control: reconcile before the talk). What has not been done is a read of the tumor's own program, sorted from host reads and read gene-set-wide, and whether it points to a drug. End on the question and pause.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0:55–1:12  The model. Move fast. The one thing to stress is that the graft is human and the host is rat, which is what makes the tumor compartment separable. The laser (Visualase) is stopped when the diffusion-weighted lesion covers the tumor.</a:t>
            </a:r>
          </a:p>
          <a:p/>
          <a:p>
            <a:r>
              <a:t>The video is the intra-MRI LITT with diffusion imaging from the 2021 technical note (Ablation video_TNN_18Sept26.pptx); the source clip is 64 x 64 px, re-encoded at 512 px for the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1:12–1:25  About 13 s. The point is the graft-fraction gradient: primary about half human, recurrent about a third. Say plainly that this is a confound and that it is tested on the contamination slide. The culture sample and the controls are not in the differential model.</a:t>
            </a:r>
          </a:p>
          <a:p/>
          <a:p>
            <a:r>
              <a:t>If asked about the controls: one of them, N269B, carries human Y-linked transcripts of the male U251 line, so it holds some tumor cells or carryover; it is a contamination anchor, not a pure rat brain.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1:25–1:40  The analysis. Enrichment was permuted on gene-set membership, not on samples, because n = 3. If someone challenges the statistics later, this slide is the answer. Mention the GEO accession is already public.</a:t>
            </a:r>
          </a:p>
          <a:p/>
          <a:p>
            <a:r>
              <a:t>If asked what a DSigDB drug set is: for the leading hits, including ciclopirox, it is the drug's expression signature, the genes it induces in cultured cells; those genes are lower in recurrence.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1:40–1:48  CUT FIRST if running long. The repository's framing (Camphausen 2005: the brain microenvironment dominates the expression of glioma lines) on our own data. One culture library, so no statistics; the manuscript's PCA is the six tumors alone on the next slide. On the first axis the recurrent centroid sits slightly closer to culture than the primary centroid does (4.2 against 8.7, culture at -38.7): do not say recurrence moves away from the dish.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1:48–2:03  Global structure. The arms are ordered on the first axis. Say the PERMANOVA p = 0.10 out loud. Frame it as: the arms are the best-separated split the design allows, and three per arm cannot return a smaller p. The expected R² for a random 3-vs-3 split is 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2:03–2:18  Differential expression. Only 35 genes. Walk the table once, do not read it: the six biggest fold changes are three readthrough transcripts, a U6 snRNA and two unannotated loci, on 14 to 111 mean counts against a median of 232 for the 35. Five of the six are all-or-none: every sample of one arm has no reads. TMEM189-UBE2V1 has 161 to 310 reads in each primary and none in any recurrence; RNU6-9 has none in any primary and 43 to 238 in each recurrence. They are large because one arm is empty. That is what justifies the pivot to gene sets, and it pre-empts the reviewer who asks why you did not chase the top hit.</a:t>
            </a:r>
          </a:p>
          <a:p/>
          <a:p>
            <a:r>
              <a:t>Bottom right: the count moves with the fold-change threshold (82 / 35 / 13 / 9 genes at 1.5, 2, 2.83 and 4-fold) and roughly two in three are up at every threshold. The protein-coding changes cluster in matrix and calcium genes, taken up on the network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2:18–2:43  The core result. Explain the plot in one breath: genes ranked from most up in recurrence to most down; walking down the list the score falls a little at every gene outside the set and jumps at every member, so a set whose members crowd the bottom drives the score to its floor just before the end. Then point at the ticks of translation initiation: all 80 at the far right.</a:t>
            </a:r>
          </a:p>
          <a:p/>
          <a:p>
            <a:r>
              <a:t>Say it this way: all six are nominally significant and point the same way; which one clears FDR is not stable (translation initiation's q is below 0.05 at 2 of 5 permutation seeds with all six tumors). The other sets have a few members elsewhere: say 'crowd', not 'all'. None of these genes is significant alone; it is the coordinated shift that matters. If asked how robust it is: with any one tumor left out, translation initiation keeps nominal p &lt; 0.001 and NES −1.88 to −2.02 in all 41 runs; without IL68B its q stays below 0.05 at every seed; without IL67B, IL69B, IL66B it is above 0.05 at every seed (slide 15).</a:t>
            </a:r>
          </a:p>
          <a:p/>
          <a:p>
            <a:r>
              <a:t>If asked about the ranking metric: Diff_of_Classes is a linear difference of means, so abundant genes sit at the ends of the list; the manuscript's ashr-shrunk DESeq2 fold changes, on the log scale, agree in direction for every translation-initiation and ribosome gene.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2:43–2:55  About 12 s. The manuscript's line is 'the biosynthetic and respiratory machinery, not core carbon flux'. The respiration half depends on the collection: Hallmark OXPHOS is down, the KEGG, Reactome and GO respiration sets are up, and mitochondrial translation is −1.43 in GO but +1.54 in Reactome. So say 'glycolysis', not 'energy'. Cholesterol synthesis rising means not every anabolic program falls.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2:55–3:08  One-sidedness. 8,869 sets tested, six clear q &lt; 0.25, all on the same side and all the same theme. Nothing on the up side survives FDR; at nominal p the up side is not empty (406 sets up against 303 down at p &lt; 0.05) and it is led by proliferation,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3:08–3:20  Cut if running long. Hypoxia is the cleanest story: HIF1 targets and the Buffa metagene both at −1.79 with nominal p near 0.01, angiogenesis down with them; the simplest reading is that the ablated core was the hypoxic core. Iron uptake down is worth one sentence because the top drug is an iron chelator, but do not build on it. The cell-cycle sets are up only nominally: say 'dividing again, as a direction'. The senescence and cell-cycle sets are not part of the positive-control argument.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3:20–3:42  About 22 s: the most important caveat of the talk, and the slide most likely to draw a question. Two questions, two answers.</a:t>
            </a:r>
          </a:p>
          <a:p/>
          <a:p>
            <a:r>
              <a:t>Contamination: every translation gene is detected in the rat-brain controls, as most abundant conserved genes are, but relative to their tumor level they are no more abundant in rat brain than a typical gene, so contamination predicts a shift of about zero for them. They fall 0.40 on the log2 scale; genes matched on abundance and that ratio fall about a third as much.</a:t>
            </a:r>
          </a:p>
          <a:p/>
          <a:p>
            <a:r>
              <a:t>One tumor: IL68B, a primary, is the highest of the six on every translation-initiation and ribosome gene while genome-wide it is average. Without it the sets fall −0.10 to −0.11, a quarter of the size, still more than matched genes (−0.03); dropping any other tumor makes the fall larger. The gene-set test was re-run with each tumor left out (41 runs of the published command, five seeds): without IL68B translation initiation stays at q 0.001 to 0.032; it is leaving out IL67B, IL69B, IL66B that pushes q above 0.05. Nominal p stays below 0.001 in every run. Say plainly: IL68B carries the size of the fall, not its rank.</a:t>
            </a:r>
          </a:p>
          <a:p/>
          <a:p>
            <a:r>
              <a:t>Adjustment: the RUVSeq factors estimated from the controls are higher in every primary than in every recurrent tumor, so adjusting removes part of the arm difference itself; at k = 1 the separation between arms collapses (silhouette −0.09). That is collinearity, not a refutation. This analysis is not in the manuscript.</a:t>
            </a:r>
          </a:p>
          <a:p/>
          <a:p>
            <a:r>
              <a:t>The unadjusted run here is the RUVSeq script's own DESeq2 without shrinkage, so its fold changes are larger than the manuscript's ashr-shrunk ones; the adjusted runs test 19,385 genes and the means are taken over the unadjusted run's 14,849.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3:42–3:57  Subtypes. Ten published signatures, scored per sample by GSVA over the published gene lists; using the published definitions rather than a hand-picked panel is the defence. One transition is nominally significant: a fall in the astrocyte-like score, p = 0.007, q = 0.075 after correction across the ten, so none clears FDR.</a:t>
            </a:r>
          </a:p>
          <a:p/>
          <a:p>
            <a:r>
              <a:t>Mitochondrial signature: −0.58, p = 0.14, q = 0.47. It shares genes and tumors with the Hallmark OXPHOS set, so the two agree without confirming each other. Note that the supplement's adjusted-p column is mis-ordered (it prints 0.075 for the mitochondrial signature); the q values on this chart are recomputed.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3:57–4:08  Cut if running long. Do not read the table; point at the sign column. The fibrillar matrix genes (COL1A1, BGN, PRELP, HMCN1) go down with IGFBP3 and LRP1; COL17A1 and GPC3 go up. The calcium and presynaptic genes (CALB1, RYR2, PCLO) go up. Offer the neuron–glioma synapse as a question, not a claim, and say plainly that six animals cannot separate it from a change in which cells survived. Know the two Nature 2019 papers.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4:08–4:23  Therapeutics. Explain the score in one sentence: how strongly the drug's gene set sits among the genes that fall in recurrence, weighted by predicted barrier penetration. Then the funnel: 92 compounds, 54 with a phase, 15 that clear both barrier models. Cobalt appears twice in the supplement, under two capitalisations, and is counted once. Own the filter's limits before anyone asks. The 100 is a cap on the most opposing signatures, not the total that opposed.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4:23–4:31  Cut if running long. A redrawn version of Figure 2A: only the 54 compounds with a phase, on the ADMET-AI probability, with the two barrier models marked. The two axes are the whole of the score. The manuscript text names LY-294002 among the strongest reversals; by |NES| it is sixth, below ciclopirox and metformin.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4:31–4:46  The candidate. Rank column: overall rank among the 54. Ciclopirox is approved, ranked first with and without the permeability weight, and both barrier models agree. Deliver the caveat sentence exactly as written; this is where a reviewer will push.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4:46–4:54  Cut if running long. Point at the tier column: ciclopirox is the only A in the top five, and ranks 2 to 5 are all C. The other As are ifosfamide (6), thioridazine (12) and ganciclovir (16, tested only as an HSV-tk prodrug). 4 are B and 12 are C. The audit is what separates a ranked list from a shortlist.</a:t>
            </a:r>
          </a:p>
          <a:p/>
          <a:p>
            <a:r>
              <a:t>Amiodarone: in 1,076 glioblastoma patients, active users had worse overall survival (HR 4.41). Diazepam: reduces temozolomide-induced apoptosis in U87 cells. The supplement's prior-art sheet marks thioridazine as outside the ranked list; it is rank 12 and is shown here.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4:54–5:14  About 20 s. The answer to 'why should an iron chelator work on a cell that is building less': ciclopirox also inhibits DOHH, and U-251 depends on the whole hypusination axis. DHPS and EIF5A are needed by most lines, so they are not a selective weakness; DOHH is the step most lines can do without, and U-251 needs it more than the typical line (−0.58 against −0.39), a modest margin. Say plainly that this is a public screen of the line in culture, not our data, and that nothing has been dosed. The barrier window is the delivery argument.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5:14–5:36  Conclusions. Four beats, then the closing line. The closing argument is that the translational, growth, glycolytic and hypoxic arms move together, not any single q value: only translation initiation clears FDR. The other group's screen is a signature-reversal analysis of glioblastoma that also nominated ciclopirox; say 'nominated', not 'validated'. Say the closing sentence and stop.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5:36–5:48  Keep if at all possible: n, purity and the computational caveat are on the results slides, but the methylation result and the next steps are said only here. Anticipated questions: why not more animals; why gene-set permutation; has any drug been tested (no); is the fall contamination (slide 15).</a:t>
            </a:r>
          </a:p>
          <a:p/>
          <a:p>
            <a:r>
              <a:t>The methylation line is from REVIEW/purity_confound.py run on beta_values.rda: 0 probes at q &lt; 0.05, 39 at q &lt; 0.25, smallest q 0.092; the r = −0.92 between effect size and purity across the 9,079 nominally changed probes is NOT said: any covariate correlated with arm as strongly returns about the same value, so it says nothing about purity specifically. Not in either manuscript.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5:48–6:00  Thanks. Name the Henry Ford group. Leave the GEO accession on screen during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2.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950000"/>
            <a:ext cx="6600000" cy="2000000"/>
          </a:xfrm>
        </p:spPr>
        <p:txBody>
          <a:bodyPr wrap="square"/>
          <a:lstStyle/>
          <a:p>
            <a:r>
              <a:rPr sz="2400" b="1">
                <a:solidFill>
                  <a:srgbClr val="FFFFFF"/>
                </a:solidFill>
              </a:rPr>
              <a:t>Characterizing the Transcriptomic Recurrence Signature of Glioblastoma Following Laser Interstitial Thermal Therapy</a:t>
            </a:r>
          </a:p>
        </p:txBody>
      </p:sp>
      <p:sp>
        <p:nvSpPr>
          <p:cNvPr id="3" name="Subtitle 2"/>
          <p:cNvSpPr>
            <a:spLocks noGrp="1"/>
          </p:cNvSpPr>
          <p:nvPr>
            <p:ph type="subTitle" idx="1"/>
          </p:nvPr>
        </p:nvSpPr>
        <p:spPr>
          <a:xfrm>
            <a:off x="5185558" y="3050000"/>
            <a:ext cx="6600000" cy="1350000"/>
          </a:xfrm>
        </p:spPr>
        <p:txBody>
          <a:bodyPr wrap="square"/>
          <a:lstStyle/>
          <a:p>
            <a:pPr marL="0" indent="0">
              <a:spcAft>
                <a:spcPts val="100"/>
              </a:spcAft>
            </a:pPr>
            <a:r>
              <a:rPr sz="1500">
                <a:solidFill>
                  <a:srgbClr val="FFFFFF"/>
                </a:solidFill>
              </a:rPr>
              <a:t>Gregory J. Schwing, MD, PhD¹  ·  Tavarekere N. Nagaraja, PhD²</a:t>
            </a:r>
          </a:p>
          <a:p>
            <a:pPr marL="0" indent="0">
              <a:spcAft>
                <a:spcPts val="500"/>
              </a:spcAft>
            </a:pPr>
            <a:r>
              <a:rPr sz="1500">
                <a:solidFill>
                  <a:srgbClr val="FFFFFF"/>
                </a:solidFill>
              </a:rPr>
              <a:t>Indrani Datta, DHI²  ·  Ian Y. Lee, MD²</a:t>
            </a:r>
          </a:p>
          <a:p>
            <a:pPr marL="0" indent="0">
              <a:spcAft>
                <a:spcPts val="100"/>
              </a:spcAft>
            </a:pPr>
            <a:r>
              <a:rPr sz="1100">
                <a:solidFill>
                  <a:srgbClr val="FFFFFF"/>
                </a:solidFill>
              </a:rPr>
              <a:t>¹ Department of General Surgery, Detroit Medical Center and Wayne State University, Detroit, MI</a:t>
            </a:r>
          </a:p>
          <a:p>
            <a:pPr marL="0" indent="0">
              <a:spcAft>
                <a:spcPts val="100"/>
              </a:spcAft>
            </a:pPr>
            <a:r>
              <a:rPr sz="1100">
                <a:solidFill>
                  <a:srgbClr val="FFFFFF"/>
                </a:solidFill>
              </a:rPr>
              <a:t>² Department of Neurosurgery, Hermelin Brain Tumor Center, Henry Ford Health, Detroit, MI</a:t>
            </a:r>
          </a:p>
        </p:txBody>
      </p:sp>
      <p:sp>
        <p:nvSpPr>
          <p:cNvPr id="4" name="Text Placeholder 3"/>
          <p:cNvSpPr>
            <a:spLocks noGrp="1"/>
          </p:cNvSpPr>
          <p:nvPr>
            <p:ph type="body" idx="10" sz="quarter"/>
          </p:nvPr>
        </p:nvSpPr>
        <p:spPr>
          <a:xfrm>
            <a:off x="5185558" y="4550000"/>
            <a:ext cx="6600000" cy="1450000"/>
          </a:xfrm>
        </p:spPr>
        <p:txBody>
          <a:bodyPr wrap="square"/>
          <a:lstStyle/>
          <a:p>
            <a:pPr marL="0" indent="0">
              <a:spcAft>
                <a:spcPts val="300"/>
              </a:spcAft>
            </a:pPr>
            <a:r>
              <a:rPr sz="1200">
                <a:solidFill>
                  <a:srgbClr val="FFFFFF"/>
                </a:solidFill>
              </a:rPr>
              <a:t>CNS 2026 Annual Meeting, Washington, DC</a:t>
            </a:r>
          </a:p>
          <a:p>
            <a:pPr marL="0" indent="0">
              <a:spcAft>
                <a:spcPts val="300"/>
              </a:spcAft>
            </a:pPr>
            <a:r>
              <a:rPr sz="1200">
                <a:solidFill>
                  <a:srgbClr val="FFFFFF"/>
                </a:solidFill>
              </a:rPr>
              <a:t>Presentation SSTU02 (Abstract 418)  ·  Sunrise Science Session, Tumor 2</a:t>
            </a:r>
          </a:p>
          <a:p>
            <a:pPr marL="0" indent="0">
              <a:spcAft>
                <a:spcPts val="300"/>
              </a:spcAft>
            </a:pPr>
            <a:r>
              <a:rPr sz="1200">
                <a:solidFill>
                  <a:srgbClr val="FFFFFF"/>
                </a:solidFill>
              </a:rPr>
              <a:t>Monday 2 November 2026, 7:00–7:06 AM</a:t>
            </a:r>
          </a:p>
          <a:p>
            <a:pPr marL="0" indent="0">
              <a:spcAft>
                <a:spcPts val="300"/>
              </a:spcAft>
            </a:pPr>
            <a:r>
              <a:rPr sz="1200">
                <a:solidFill>
                  <a:srgbClr val="FFFFFF"/>
                </a:solidFill>
              </a:rPr>
              <a:t>Room 147B, Walter E. Washington Convention Center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Where this is going</a:t>
            </a:r>
          </a:p>
        </p:txBody>
      </p:sp>
      <p:sp>
        <p:nvSpPr>
          <p:cNvPr id="3" name="Rectangle 2"/>
          <p:cNvSpPr/>
          <p:nvPr/>
        </p:nvSpPr>
        <p:spPr>
          <a:xfrm>
            <a:off x="1750000" y="1420000"/>
            <a:ext cx="400000" cy="400000"/>
          </a:xfrm>
          <a:prstGeom prst="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4" name="TextBox 3"/>
          <p:cNvSpPr txBox="1"/>
          <p:nvPr/>
        </p:nvSpPr>
        <p:spPr>
          <a:xfrm>
            <a:off x="2290000" y="1390000"/>
            <a:ext cx="9610000" cy="500000"/>
          </a:xfrm>
          <a:prstGeom prst="rect">
            <a:avLst/>
          </a:prstGeom>
          <a:noFill/>
        </p:spPr>
        <p:txBody>
          <a:bodyPr wrap="square" lIns="0" rIns="0" tIns="0" bIns="0">
            <a:spAutoFit/>
          </a:bodyPr>
          <a:lstStyle/>
          <a:p>
            <a:pPr>
              <a:spcBef>
                <a:spcPts val="0"/>
              </a:spcBef>
              <a:spcAft>
                <a:spcPts val="0"/>
              </a:spcAft>
            </a:pPr>
            <a:r>
              <a:rPr sz="1500" b="0">
                <a:solidFill>
                  <a:srgbClr val="191D63"/>
                </a:solidFill>
              </a:rPr>
              <a:t>The problem: LITT kills the core; the cells that come back sat in the sublethal margin</a:t>
            </a:r>
          </a:p>
        </p:txBody>
      </p:sp>
      <p:sp>
        <p:nvSpPr>
          <p:cNvPr id="5" name="Rectangle 4"/>
          <p:cNvSpPr/>
          <p:nvPr/>
        </p:nvSpPr>
        <p:spPr>
          <a:xfrm>
            <a:off x="1750000" y="1940000"/>
            <a:ext cx="400000" cy="400000"/>
          </a:xfrm>
          <a:prstGeom prst="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6" name="TextBox 5"/>
          <p:cNvSpPr txBox="1"/>
          <p:nvPr/>
        </p:nvSpPr>
        <p:spPr>
          <a:xfrm>
            <a:off x="2290000" y="1910000"/>
            <a:ext cx="9610000" cy="500000"/>
          </a:xfrm>
          <a:prstGeom prst="rect">
            <a:avLst/>
          </a:prstGeom>
          <a:noFill/>
        </p:spPr>
        <p:txBody>
          <a:bodyPr wrap="square" lIns="0" rIns="0" tIns="0" bIns="0">
            <a:spAutoFit/>
          </a:bodyPr>
          <a:lstStyle/>
          <a:p>
            <a:pPr>
              <a:spcBef>
                <a:spcPts val="0"/>
              </a:spcBef>
              <a:spcAft>
                <a:spcPts val="0"/>
              </a:spcAft>
            </a:pPr>
            <a:r>
              <a:rPr sz="1500" b="0">
                <a:solidFill>
                  <a:srgbClr val="191D63"/>
                </a:solidFill>
              </a:rPr>
              <a:t>The model: MRI-guided LITT in an orthotopic rat xenograft, primary and recurrent tumors, three per arm</a:t>
            </a:r>
          </a:p>
        </p:txBody>
      </p:sp>
      <p:sp>
        <p:nvSpPr>
          <p:cNvPr id="7" name="Rectangle 6"/>
          <p:cNvSpPr/>
          <p:nvPr/>
        </p:nvSpPr>
        <p:spPr>
          <a:xfrm>
            <a:off x="1750000" y="2460000"/>
            <a:ext cx="400000" cy="400000"/>
          </a:xfrm>
          <a:prstGeom prst="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8" name="TextBox 7"/>
          <p:cNvSpPr txBox="1"/>
          <p:nvPr/>
        </p:nvSpPr>
        <p:spPr>
          <a:xfrm>
            <a:off x="2290000" y="2430000"/>
            <a:ext cx="9610000" cy="500000"/>
          </a:xfrm>
          <a:prstGeom prst="rect">
            <a:avLst/>
          </a:prstGeom>
          <a:noFill/>
        </p:spPr>
        <p:txBody>
          <a:bodyPr wrap="square" lIns="0" rIns="0" tIns="0" bIns="0">
            <a:spAutoFit/>
          </a:bodyPr>
          <a:lstStyle/>
          <a:p>
            <a:pPr>
              <a:spcBef>
                <a:spcPts val="0"/>
              </a:spcBef>
              <a:spcAft>
                <a:spcPts val="0"/>
              </a:spcAft>
            </a:pPr>
            <a:r>
              <a:rPr sz="1500" b="0">
                <a:solidFill>
                  <a:srgbClr val="191D63"/>
                </a:solidFill>
              </a:rPr>
              <a:t>The finding: the recurrent tumor turns its translation machinery down; hypoxia signalling falls too, nominally</a:t>
            </a:r>
          </a:p>
        </p:txBody>
      </p:sp>
      <p:sp>
        <p:nvSpPr>
          <p:cNvPr id="9" name="Rectangle 8"/>
          <p:cNvSpPr/>
          <p:nvPr/>
        </p:nvSpPr>
        <p:spPr>
          <a:xfrm>
            <a:off x="1750000" y="2980000"/>
            <a:ext cx="400000" cy="400000"/>
          </a:xfrm>
          <a:prstGeom prst="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10" name="TextBox 9"/>
          <p:cNvSpPr txBox="1"/>
          <p:nvPr/>
        </p:nvSpPr>
        <p:spPr>
          <a:xfrm>
            <a:off x="2290000" y="2950000"/>
            <a:ext cx="9610000" cy="500000"/>
          </a:xfrm>
          <a:prstGeom prst="rect">
            <a:avLst/>
          </a:prstGeom>
          <a:noFill/>
        </p:spPr>
        <p:txBody>
          <a:bodyPr wrap="square" lIns="0" rIns="0" tIns="0" bIns="0">
            <a:spAutoFit/>
          </a:bodyPr>
          <a:lstStyle/>
          <a:p>
            <a:pPr>
              <a:spcBef>
                <a:spcPts val="0"/>
              </a:spcBef>
              <a:spcAft>
                <a:spcPts val="0"/>
              </a:spcAft>
            </a:pPr>
            <a:r>
              <a:rPr sz="1500" b="0">
                <a:solidFill>
                  <a:srgbClr val="191D63"/>
                </a:solidFill>
              </a:rPr>
              <a:t>The context: published subtype scores, and the network the changed genes form</a:t>
            </a:r>
          </a:p>
        </p:txBody>
      </p:sp>
      <p:sp>
        <p:nvSpPr>
          <p:cNvPr id="11" name="Rectangle 10"/>
          <p:cNvSpPr/>
          <p:nvPr/>
        </p:nvSpPr>
        <p:spPr>
          <a:xfrm>
            <a:off x="1750000" y="3500000"/>
            <a:ext cx="400000" cy="400000"/>
          </a:xfrm>
          <a:prstGeom prst="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5</a:t>
            </a:r>
          </a:p>
        </p:txBody>
      </p:sp>
      <p:sp>
        <p:nvSpPr>
          <p:cNvPr id="12" name="TextBox 11"/>
          <p:cNvSpPr txBox="1"/>
          <p:nvPr/>
        </p:nvSpPr>
        <p:spPr>
          <a:xfrm>
            <a:off x="2290000" y="3470000"/>
            <a:ext cx="9610000" cy="500000"/>
          </a:xfrm>
          <a:prstGeom prst="rect">
            <a:avLst/>
          </a:prstGeom>
          <a:noFill/>
        </p:spPr>
        <p:txBody>
          <a:bodyPr wrap="square" lIns="0" rIns="0" tIns="0" bIns="0">
            <a:spAutoFit/>
          </a:bodyPr>
          <a:lstStyle/>
          <a:p>
            <a:pPr>
              <a:spcBef>
                <a:spcPts val="0"/>
              </a:spcBef>
              <a:spcAft>
                <a:spcPts val="0"/>
              </a:spcAft>
            </a:pPr>
            <a:r>
              <a:rPr sz="1500" b="0">
                <a:solidFill>
                  <a:srgbClr val="191D63"/>
                </a:solidFill>
              </a:rPr>
              <a:t>The opening: which existing drug, predicted to cross the blood–brain barrier, opposes that state, and whether the tumor depends on its target</a:t>
            </a:r>
          </a:p>
        </p:txBody>
      </p:sp>
      <p:pic>
        <p:nvPicPr>
          <p:cNvPr id="13" name="Picture 12" descr="overview_pipeline.png"/>
          <p:cNvPicPr>
            <a:picLocks noChangeAspect="1"/>
          </p:cNvPicPr>
          <p:nvPr/>
        </p:nvPicPr>
        <p:blipFill>
          <a:blip r:embed="rId2"/>
          <a:stretch>
            <a:fillRect/>
          </a:stretch>
        </p:blipFill>
        <p:spPr>
          <a:xfrm>
            <a:off x="1938000" y="4120000"/>
            <a:ext cx="9774000" cy="1810000"/>
          </a:xfrm>
          <a:prstGeom prst="rect">
            <a:avLst/>
          </a:prstGeom>
        </p:spPr>
      </p:pic>
      <p:sp>
        <p:nvSpPr>
          <p:cNvPr id="14" name="TextBox 13"/>
          <p:cNvSpPr txBox="1"/>
          <p:nvPr/>
        </p:nvSpPr>
        <p:spPr>
          <a:xfrm>
            <a:off x="1750000" y="5970000"/>
            <a:ext cx="10150000" cy="300000"/>
          </a:xfrm>
          <a:prstGeom prst="rect">
            <a:avLst/>
          </a:prstGeom>
          <a:noFill/>
        </p:spPr>
        <p:txBody>
          <a:bodyPr wrap="square" lIns="0" rIns="0" tIns="0" bIns="0">
            <a:spAutoFit/>
          </a:bodyPr>
          <a:lstStyle/>
          <a:p>
            <a:pPr>
              <a:spcBef>
                <a:spcPts val="0"/>
              </a:spcBef>
              <a:spcAft>
                <a:spcPts val="0"/>
              </a:spcAft>
            </a:pPr>
            <a:r>
              <a:rPr sz="1200" b="0">
                <a:solidFill>
                  <a:srgbClr val="7A7A7A"/>
                </a:solidFill>
              </a:rPr>
              <a:t>Then: differential expression, gene-set enrichment, published subtype signatures, a STRING network, and the drug gene sets that oppose the recurrence signature.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LITT ablates the core; recurrence starts at the margin</a:t>
            </a:r>
          </a:p>
        </p:txBody>
      </p:sp>
      <p:pic>
        <p:nvPicPr>
          <p:cNvPr id="3" name="Picture 2" descr="fig_margin.png"/>
          <p:cNvPicPr>
            <a:picLocks noChangeAspect="1"/>
          </p:cNvPicPr>
          <p:nvPr/>
        </p:nvPicPr>
        <p:blipFill>
          <a:blip r:embed="rId2"/>
          <a:stretch>
            <a:fillRect/>
          </a:stretch>
        </p:blipFill>
        <p:spPr>
          <a:xfrm>
            <a:off x="1750000" y="1420000"/>
            <a:ext cx="6400000" cy="3859365"/>
          </a:xfrm>
          <a:prstGeom prst="rect">
            <a:avLst/>
          </a:prstGeom>
        </p:spPr>
      </p:pic>
      <p:sp>
        <p:nvSpPr>
          <p:cNvPr id="4" name="TextBox 3"/>
          <p:cNvSpPr txBox="1"/>
          <p:nvPr/>
        </p:nvSpPr>
        <p:spPr>
          <a:xfrm>
            <a:off x="8450000" y="1520000"/>
            <a:ext cx="3450000" cy="473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LITT is increasingly used for deep-seated and recurrent glioblastoma, where open resection carries high morbidity.¹</a:t>
            </a:r>
          </a:p>
          <a:p>
            <a:pPr>
              <a:spcBef>
                <a:spcPts val="0"/>
              </a:spcBef>
              <a:spcAft>
                <a:spcPts val="1200"/>
              </a:spcAft>
            </a:pPr>
            <a:r>
              <a:rPr sz="1600" b="0">
                <a:solidFill>
                  <a:srgbClr val="191D63"/>
                </a:solidFill>
              </a:rPr>
              <a:t>Thermal dose falls off with distance from the fiber. Beyond the ablative threshold lies a sublethal margin.</a:t>
            </a:r>
          </a:p>
          <a:p>
            <a:pPr>
              <a:spcBef>
                <a:spcPts val="0"/>
              </a:spcBef>
              <a:spcAft>
                <a:spcPts val="1200"/>
              </a:spcAft>
            </a:pPr>
            <a:r>
              <a:rPr sz="1600" b="0">
                <a:solidFill>
                  <a:srgbClr val="191D63"/>
                </a:solidFill>
              </a:rPr>
              <a:t>The cells that seed recurrence are the ones that survive there.</a:t>
            </a:r>
          </a:p>
          <a:p>
            <a:pPr>
              <a:spcBef>
                <a:spcPts val="0"/>
              </a:spcBef>
              <a:spcAft>
                <a:spcPts val="1200"/>
              </a:spcAft>
            </a:pPr>
            <a:r>
              <a:rPr sz="1600" b="0">
                <a:solidFill>
                  <a:srgbClr val="191D63"/>
                </a:solidFill>
              </a:rPr>
              <a:t>So the question is not whether ablation works at the core. It is what the cells that survived the margin look like when they regrow.</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 Chen C, et al. J Neurooncol 2021;151:429–442.   Diagram: thermal dose falls with distance from the fiber; schematic, not to 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is known about the margin, and what is not</a:t>
            </a:r>
          </a:p>
        </p:txBody>
      </p:sp>
      <p:pic>
        <p:nvPicPr>
          <p:cNvPr id="3" name="Picture 2" descr="fig_margin_known.png"/>
          <p:cNvPicPr>
            <a:picLocks noChangeAspect="1"/>
          </p:cNvPicPr>
          <p:nvPr/>
        </p:nvPicPr>
        <p:blipFill>
          <a:blip r:embed="rId2"/>
          <a:stretch>
            <a:fillRect/>
          </a:stretch>
        </p:blipFill>
        <p:spPr>
          <a:xfrm>
            <a:off x="1750000" y="1420000"/>
            <a:ext cx="10150000" cy="3493027"/>
          </a:xfrm>
          <a:prstGeom prst="rect">
            <a:avLst/>
          </a:prstGeom>
        </p:spPr>
      </p:pic>
      <p:sp>
        <p:nvSpPr>
          <p:cNvPr id="4" name="Rounded Rectangle 3"/>
          <p:cNvSpPr/>
          <p:nvPr/>
        </p:nvSpPr>
        <p:spPr>
          <a:xfrm>
            <a:off x="1750000" y="5033027"/>
            <a:ext cx="10150000" cy="7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Does post-LITT recurrence carry its own transcriptional program, and does that program point to a drug?</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 Cleary RT, et al. Neuro Oncol 2026;28:1649–1661.   3. Tao R, et al. J Immunol 2026;215:vkaf327.   4. Nagaraja TN, et al. J Neurosurg 2026;145:364–377.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model: MRI-guided LITT in a rat xenograft</a:t>
            </a:r>
          </a:p>
        </p:txBody>
      </p:sp>
      <p:sp>
        <p:nvSpPr>
          <p:cNvPr id="3" name="Rounded Rectangle 2"/>
          <p:cNvSpPr/>
          <p:nvPr/>
        </p:nvSpPr>
        <p:spPr>
          <a:xfrm>
            <a:off x="1750000" y="1420000"/>
            <a:ext cx="3143333" cy="48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U251N xenograft</a:t>
            </a:r>
          </a:p>
        </p:txBody>
      </p:sp>
      <p:sp>
        <p:nvSpPr>
          <p:cNvPr id="4" name="TextBox 3"/>
          <p:cNvSpPr txBox="1"/>
          <p:nvPr/>
        </p:nvSpPr>
        <p:spPr>
          <a:xfrm>
            <a:off x="1750000" y="1980000"/>
            <a:ext cx="3143333" cy="800000"/>
          </a:xfrm>
          <a:prstGeom prst="rect">
            <a:avLst/>
          </a:prstGeom>
          <a:noFill/>
        </p:spPr>
        <p:txBody>
          <a:bodyPr wrap="square" lIns="0" rIns="0" tIns="0" bIns="0">
            <a:spAutoFit/>
          </a:bodyPr>
          <a:lstStyle/>
          <a:p>
            <a:pPr algn="ctr">
              <a:spcBef>
                <a:spcPts val="0"/>
              </a:spcBef>
              <a:spcAft>
                <a:spcPts val="0"/>
              </a:spcAft>
            </a:pPr>
            <a:r>
              <a:rPr sz="1500" b="0">
                <a:solidFill>
                  <a:srgbClr val="191D63"/>
                </a:solidFill>
              </a:rPr>
              <a:t>orthotopic human glioblastoma line in the athymic RNU/RNU rat</a:t>
            </a:r>
          </a:p>
        </p:txBody>
      </p:sp>
      <p:sp>
        <p:nvSpPr>
          <p:cNvPr id="5" name="Rounded Rectangle 4"/>
          <p:cNvSpPr/>
          <p:nvPr/>
        </p:nvSpPr>
        <p:spPr>
          <a:xfrm>
            <a:off x="5253333" y="1420000"/>
            <a:ext cx="3143333" cy="48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MRI-guided LITT</a:t>
            </a:r>
          </a:p>
        </p:txBody>
      </p:sp>
      <p:sp>
        <p:nvSpPr>
          <p:cNvPr id="6" name="TextBox 5"/>
          <p:cNvSpPr txBox="1"/>
          <p:nvPr/>
        </p:nvSpPr>
        <p:spPr>
          <a:xfrm>
            <a:off x="5253333" y="1980000"/>
            <a:ext cx="3143333" cy="800000"/>
          </a:xfrm>
          <a:prstGeom prst="rect">
            <a:avLst/>
          </a:prstGeom>
          <a:noFill/>
        </p:spPr>
        <p:txBody>
          <a:bodyPr wrap="square" lIns="0" rIns="0" tIns="0" bIns="0">
            <a:spAutoFit/>
          </a:bodyPr>
          <a:lstStyle/>
          <a:p>
            <a:pPr algn="ctr">
              <a:spcBef>
                <a:spcPts val="0"/>
              </a:spcBef>
              <a:spcAft>
                <a:spcPts val="0"/>
              </a:spcAft>
            </a:pPr>
            <a:r>
              <a:rPr sz="1500" b="0">
                <a:solidFill>
                  <a:srgbClr val="191D63"/>
                </a:solidFill>
              </a:rPr>
              <a:t>ablation of the primary tumor, watched by diffusion-weighted MRI</a:t>
            </a:r>
          </a:p>
        </p:txBody>
      </p:sp>
      <p:sp>
        <p:nvSpPr>
          <p:cNvPr id="7" name="Rounded Rectangle 6"/>
          <p:cNvSpPr/>
          <p:nvPr/>
        </p:nvSpPr>
        <p:spPr>
          <a:xfrm>
            <a:off x="8756666" y="1420000"/>
            <a:ext cx="3143333" cy="48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Tumors harvested</a:t>
            </a:r>
          </a:p>
        </p:txBody>
      </p:sp>
      <p:sp>
        <p:nvSpPr>
          <p:cNvPr id="8" name="TextBox 7"/>
          <p:cNvSpPr txBox="1"/>
          <p:nvPr/>
        </p:nvSpPr>
        <p:spPr>
          <a:xfrm>
            <a:off x="8756666" y="1980000"/>
            <a:ext cx="3143333" cy="800000"/>
          </a:xfrm>
          <a:prstGeom prst="rect">
            <a:avLst/>
          </a:prstGeom>
          <a:noFill/>
        </p:spPr>
        <p:txBody>
          <a:bodyPr wrap="square" lIns="0" rIns="0" tIns="0" bIns="0">
            <a:spAutoFit/>
          </a:bodyPr>
          <a:lstStyle/>
          <a:p>
            <a:pPr algn="ctr">
              <a:spcBef>
                <a:spcPts val="0"/>
              </a:spcBef>
              <a:spcAft>
                <a:spcPts val="0"/>
              </a:spcAft>
            </a:pPr>
            <a:r>
              <a:rPr sz="1500" b="0">
                <a:solidFill>
                  <a:srgbClr val="191D63"/>
                </a:solidFill>
              </a:rPr>
              <a:t>primary before ablation, recurrent after regrowth, three animals per arm</a:t>
            </a:r>
          </a:p>
        </p:txBody>
      </p:sp>
      <p:sp>
        <p:nvSpPr>
          <p:cNvPr id="9" name="Right Arrow 8"/>
          <p:cNvSpPr/>
          <p:nvPr/>
        </p:nvSpPr>
        <p:spPr>
          <a:xfrm>
            <a:off x="4913333" y="1500000"/>
            <a:ext cx="320000" cy="320000"/>
          </a:xfrm>
          <a:prstGeom prst="rightArrow">
            <a:avLst/>
          </a:prstGeom>
          <a:solidFill>
            <a:srgbClr val="FFC42F"/>
          </a:solidFill>
          <a:ln>
            <a:solidFill>
              <a:srgbClr val="FFC4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8416666" y="1500000"/>
            <a:ext cx="320000" cy="320000"/>
          </a:xfrm>
          <a:prstGeom prst="rightArrow">
            <a:avLst/>
          </a:prstGeom>
          <a:solidFill>
            <a:srgbClr val="FFC42F"/>
          </a:solidFill>
          <a:ln>
            <a:solidFill>
              <a:srgbClr val="FFC4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ablation_512.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750000" y="2720000"/>
            <a:ext cx="3530000" cy="3530000"/>
          </a:xfrm>
          <a:prstGeom prst="rect">
            <a:avLst/>
          </a:prstGeom>
        </p:spPr>
      </p:pic>
      <p:sp>
        <p:nvSpPr>
          <p:cNvPr id="12" name="TextBox 11"/>
          <p:cNvSpPr txBox="1"/>
          <p:nvPr/>
        </p:nvSpPr>
        <p:spPr>
          <a:xfrm>
            <a:off x="5580000" y="2720000"/>
            <a:ext cx="6320000" cy="2700000"/>
          </a:xfrm>
          <a:prstGeom prst="rect">
            <a:avLst/>
          </a:prstGeom>
          <a:noFill/>
        </p:spPr>
        <p:txBody>
          <a:bodyPr wrap="square" lIns="0" rIns="0" tIns="0" bIns="0">
            <a:spAutoFit/>
          </a:bodyPr>
          <a:lstStyle/>
          <a:p>
            <a:pPr>
              <a:spcBef>
                <a:spcPts val="0"/>
              </a:spcBef>
              <a:spcAft>
                <a:spcPts val="800"/>
              </a:spcAft>
            </a:pPr>
            <a:r>
              <a:rPr sz="1450" b="0">
                <a:solidFill>
                  <a:srgbClr val="191D63"/>
                </a:solidFill>
              </a:rPr>
              <a:t>A model the Henry Ford group established and characterized.⁴˒⁵ The ablation is watched in real time by diffusion-weighted MRI and the laser is stopped when the diffusion lesion covers the tumor; MR thermometry could not run on the animal scanner.</a:t>
            </a:r>
          </a:p>
          <a:p>
            <a:pPr>
              <a:spcBef>
                <a:spcPts val="0"/>
              </a:spcBef>
              <a:spcAft>
                <a:spcPts val="800"/>
              </a:spcAft>
            </a:pPr>
            <a:r>
              <a:rPr sz="1450" b="0">
                <a:solidFill>
                  <a:srgbClr val="191D63"/>
                </a:solidFill>
              </a:rPr>
              <a:t>The graft is human and the host is rat, which is the point: about nine reads in ten (89 to 92 %) can be assigned to one species, so the tumor compartment can be read largely on its own.</a:t>
            </a:r>
          </a:p>
          <a:p>
            <a:pPr>
              <a:spcBef>
                <a:spcPts val="0"/>
              </a:spcBef>
              <a:spcAft>
                <a:spcPts val="800"/>
              </a:spcAft>
            </a:pPr>
            <a:r>
              <a:rPr sz="1450" b="0">
                <a:solidFill>
                  <a:srgbClr val="191D63"/>
                </a:solidFill>
              </a:rPr>
              <a:t>Primary tumors were harvested before ablation and recurrent tumors after regrowth; the primary-versus-recurrent comparison rests on those six transcriptomes.</a:t>
            </a:r>
          </a:p>
        </p:txBody>
      </p:sp>
      <p:sp>
        <p:nvSpPr>
          <p:cNvPr id="13" name="TextBox 12"/>
          <p:cNvSpPr txBox="1"/>
          <p:nvPr/>
        </p:nvSpPr>
        <p:spPr>
          <a:xfrm>
            <a:off x="5580000" y="5470000"/>
            <a:ext cx="6320000" cy="650000"/>
          </a:xfrm>
          <a:prstGeom prst="rect">
            <a:avLst/>
          </a:prstGeom>
          <a:noFill/>
        </p:spPr>
        <p:txBody>
          <a:bodyPr wrap="square" lIns="0" rIns="0" tIns="0" bIns="0">
            <a:spAutoFit/>
          </a:bodyPr>
          <a:lstStyle/>
          <a:p>
            <a:pPr>
              <a:spcBef>
                <a:spcPts val="0"/>
              </a:spcBef>
              <a:spcAft>
                <a:spcPts val="0"/>
              </a:spcAft>
            </a:pPr>
            <a:r>
              <a:rPr sz="1200" b="0">
                <a:solidFill>
                  <a:srgbClr val="7A7A7A"/>
                </a:solidFill>
              </a:rPr>
              <a:t>Video: an ablation under diffusion-weighted MRI in this model; click to play (7.9 s).</a:t>
            </a:r>
          </a:p>
        </p:txBody>
      </p:sp>
      <p:sp>
        <p:nvSpPr>
          <p:cNvPr id="14" name="TextBox 1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4. Nagaraja TN, et al. J Neurosurg 2026;145:364–377.   5. Nagaraja TN, et al. Acta Neurochir 2021;163:3455–3463.</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Ten libraries: what fraction of each is human</a:t>
            </a:r>
          </a:p>
        </p:txBody>
      </p:sp>
      <p:pic>
        <p:nvPicPr>
          <p:cNvPr id="3" name="Picture 2" descr="chart_sorting.png"/>
          <p:cNvPicPr>
            <a:picLocks noChangeAspect="1"/>
          </p:cNvPicPr>
          <p:nvPr/>
        </p:nvPicPr>
        <p:blipFill>
          <a:blip r:embed="rId2"/>
          <a:stretch>
            <a:fillRect/>
          </a:stretch>
        </p:blipFill>
        <p:spPr>
          <a:xfrm>
            <a:off x="1750000" y="1420000"/>
            <a:ext cx="6500000" cy="2896236"/>
          </a:xfrm>
          <a:prstGeom prst="rect">
            <a:avLst/>
          </a:prstGeom>
        </p:spPr>
      </p:pic>
      <p:sp>
        <p:nvSpPr>
          <p:cNvPr id="4" name="TextBox 3"/>
          <p:cNvSpPr txBox="1"/>
          <p:nvPr/>
        </p:nvSpPr>
        <p:spPr>
          <a:xfrm>
            <a:off x="8550000" y="1460000"/>
            <a:ext cx="3350000" cy="4790000"/>
          </a:xfrm>
          <a:prstGeom prst="rect">
            <a:avLst/>
          </a:prstGeom>
          <a:noFill/>
        </p:spPr>
        <p:txBody>
          <a:bodyPr wrap="square" lIns="0" rIns="0" tIns="0" bIns="0">
            <a:spAutoFit/>
          </a:bodyPr>
          <a:lstStyle/>
          <a:p>
            <a:pPr>
              <a:spcBef>
                <a:spcPts val="0"/>
              </a:spcBef>
              <a:spcAft>
                <a:spcPts val="800"/>
              </a:spcAft>
            </a:pPr>
            <a:r>
              <a:rPr sz="1350" b="0">
                <a:solidFill>
                  <a:srgbClr val="191D63"/>
                </a:solidFill>
              </a:rPr>
              <a:t>Every read is classified by its sequence as human, rat, shared by both genomes, or unresolved before anything is counted.⁶</a:t>
            </a:r>
          </a:p>
          <a:p>
            <a:pPr>
              <a:spcBef>
                <a:spcPts val="0"/>
              </a:spcBef>
              <a:spcAft>
                <a:spcPts val="800"/>
              </a:spcAft>
            </a:pPr>
            <a:r>
              <a:rPr sz="1350" b="0">
                <a:solidFill>
                  <a:srgbClr val="191D63"/>
                </a:solidFill>
              </a:rPr>
              <a:t>The culture sample is 86 % human. In the brain the tumors are 43 to 64 % human before ablation and 29 to 43 % after. Human reads enter the analysis together with the reads shared by both genomes, a further 7 to 10 % of each tumor library; the shared reads are the route by which rat signal could leak in.</a:t>
            </a:r>
          </a:p>
          <a:p>
            <a:pPr>
              <a:spcBef>
                <a:spcPts val="0"/>
              </a:spcBef>
              <a:spcAft>
                <a:spcPts val="800"/>
              </a:spcAft>
            </a:pPr>
            <a:r>
              <a:rPr sz="1350" b="0">
                <a:solidFill>
                  <a:srgbClr val="191D63"/>
                </a:solidFill>
              </a:rPr>
              <a:t>The three rat-brain controls went through the identical pipeline. Their human reads (0.3 to 4.9 %) show what the human stream picks up in brain without an established tumor, and anchor the contamination check.</a:t>
            </a:r>
          </a:p>
          <a:p>
            <a:pPr>
              <a:spcBef>
                <a:spcPts val="0"/>
              </a:spcBef>
              <a:spcAft>
                <a:spcPts val="800"/>
              </a:spcAft>
            </a:pPr>
            <a:r>
              <a:rPr sz="1350" b="0">
                <a:solidFill>
                  <a:srgbClr val="4C70B7"/>
                </a:solidFill>
              </a:rPr>
              <a:t>The recurrent tumors carry more rat than the primaries (35 % against 51 % human): a confound to test, not to ignore.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6. Zentgraf J, Rahmann S. Algorithms Mol Biol 2021;16:2.   k = 25; percentages from the classification logs. Orthotopic U251N glioblastoma xenograft in the athymic rat, MRI-guided LITT; bulk RNA-seq of primary and recurrent tumors, n = 3 per arm; GEO GSE338105.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analysis, and how to read the numbers that follow</a:t>
            </a:r>
          </a:p>
        </p:txBody>
      </p:sp>
      <p:sp>
        <p:nvSpPr>
          <p:cNvPr id="3" name="Rounded Rectangle 2"/>
          <p:cNvSpPr/>
          <p:nvPr/>
        </p:nvSpPr>
        <p:spPr>
          <a:xfrm>
            <a:off x="1750000" y="1420000"/>
            <a:ext cx="3143333" cy="48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Sort</a:t>
            </a:r>
          </a:p>
        </p:txBody>
      </p:sp>
      <p:sp>
        <p:nvSpPr>
          <p:cNvPr id="4" name="TextBox 3"/>
          <p:cNvSpPr txBox="1"/>
          <p:nvPr/>
        </p:nvSpPr>
        <p:spPr>
          <a:xfrm>
            <a:off x="1750000" y="1980000"/>
            <a:ext cx="3143333" cy="800000"/>
          </a:xfrm>
          <a:prstGeom prst="rect">
            <a:avLst/>
          </a:prstGeom>
          <a:noFill/>
        </p:spPr>
        <p:txBody>
          <a:bodyPr wrap="square" lIns="0" rIns="0" tIns="0" bIns="0">
            <a:spAutoFit/>
          </a:bodyPr>
          <a:lstStyle/>
          <a:p>
            <a:pPr algn="ctr">
              <a:spcBef>
                <a:spcPts val="0"/>
              </a:spcBef>
              <a:spcAft>
                <a:spcPts val="0"/>
              </a:spcAft>
            </a:pPr>
            <a:r>
              <a:rPr sz="1500" b="0">
                <a:solidFill>
                  <a:srgbClr val="191D63"/>
                </a:solidFill>
              </a:rPr>
              <a:t>reads sorted into human, rat, shared and unresolved (xengsort, k = 25)</a:t>
            </a:r>
          </a:p>
        </p:txBody>
      </p:sp>
      <p:sp>
        <p:nvSpPr>
          <p:cNvPr id="5" name="Rounded Rectangle 4"/>
          <p:cNvSpPr/>
          <p:nvPr/>
        </p:nvSpPr>
        <p:spPr>
          <a:xfrm>
            <a:off x="5253333" y="1420000"/>
            <a:ext cx="3143333" cy="48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Test</a:t>
            </a:r>
          </a:p>
        </p:txBody>
      </p:sp>
      <p:sp>
        <p:nvSpPr>
          <p:cNvPr id="6" name="TextBox 5"/>
          <p:cNvSpPr txBox="1"/>
          <p:nvPr/>
        </p:nvSpPr>
        <p:spPr>
          <a:xfrm>
            <a:off x="5253333" y="1980000"/>
            <a:ext cx="3143333" cy="800000"/>
          </a:xfrm>
          <a:prstGeom prst="rect">
            <a:avLst/>
          </a:prstGeom>
          <a:noFill/>
        </p:spPr>
        <p:txBody>
          <a:bodyPr wrap="square" lIns="0" rIns="0" tIns="0" bIns="0">
            <a:spAutoFit/>
          </a:bodyPr>
          <a:lstStyle/>
          <a:p>
            <a:pPr algn="ctr">
              <a:spcBef>
                <a:spcPts val="0"/>
              </a:spcBef>
              <a:spcAft>
                <a:spcPts val="0"/>
              </a:spcAft>
            </a:pPr>
            <a:r>
              <a:rPr sz="1500" b="0">
                <a:solidFill>
                  <a:srgbClr val="191D63"/>
                </a:solidFill>
              </a:rPr>
              <a:t>DESeq2 Wald test with ashr shrinkage; FDR &lt; 0.05, |log₂ fold change| &gt; 1</a:t>
            </a:r>
          </a:p>
        </p:txBody>
      </p:sp>
      <p:sp>
        <p:nvSpPr>
          <p:cNvPr id="7" name="Rounded Rectangle 6"/>
          <p:cNvSpPr/>
          <p:nvPr/>
        </p:nvSpPr>
        <p:spPr>
          <a:xfrm>
            <a:off x="8756666" y="1420000"/>
            <a:ext cx="3143333" cy="48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Interpret</a:t>
            </a:r>
          </a:p>
        </p:txBody>
      </p:sp>
      <p:sp>
        <p:nvSpPr>
          <p:cNvPr id="8" name="TextBox 7"/>
          <p:cNvSpPr txBox="1"/>
          <p:nvPr/>
        </p:nvSpPr>
        <p:spPr>
          <a:xfrm>
            <a:off x="8756666" y="1980000"/>
            <a:ext cx="3143333" cy="800000"/>
          </a:xfrm>
          <a:prstGeom prst="rect">
            <a:avLst/>
          </a:prstGeom>
          <a:noFill/>
        </p:spPr>
        <p:txBody>
          <a:bodyPr wrap="square" lIns="0" rIns="0" tIns="0" bIns="0">
            <a:spAutoFit/>
          </a:bodyPr>
          <a:lstStyle/>
          <a:p>
            <a:pPr algn="ctr">
              <a:spcBef>
                <a:spcPts val="0"/>
              </a:spcBef>
              <a:spcAft>
                <a:spcPts val="0"/>
              </a:spcAft>
            </a:pPr>
            <a:r>
              <a:rPr sz="1500" b="0">
                <a:solidFill>
                  <a:srgbClr val="191D63"/>
                </a:solidFill>
              </a:rPr>
              <a:t>GSEA enrichment, GSVA subtypes, STRING network, DSigDB drug gene sets</a:t>
            </a:r>
          </a:p>
        </p:txBody>
      </p:sp>
      <p:sp>
        <p:nvSpPr>
          <p:cNvPr id="9" name="Right Arrow 8"/>
          <p:cNvSpPr/>
          <p:nvPr/>
        </p:nvSpPr>
        <p:spPr>
          <a:xfrm>
            <a:off x="4913333" y="1500000"/>
            <a:ext cx="320000" cy="320000"/>
          </a:xfrm>
          <a:prstGeom prst="rightArrow">
            <a:avLst/>
          </a:prstGeom>
          <a:solidFill>
            <a:srgbClr val="FFC42F"/>
          </a:solidFill>
          <a:ln>
            <a:solidFill>
              <a:srgbClr val="FFC4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8416666" y="1500000"/>
            <a:ext cx="320000" cy="320000"/>
          </a:xfrm>
          <a:prstGeom prst="rightArrow">
            <a:avLst/>
          </a:prstGeom>
          <a:solidFill>
            <a:srgbClr val="FFC42F"/>
          </a:solidFill>
          <a:ln>
            <a:solidFill>
              <a:srgbClr val="FFC4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50000" y="2870000"/>
            <a:ext cx="10150000" cy="3380000"/>
          </a:xfrm>
          <a:prstGeom prst="rect">
            <a:avLst/>
          </a:prstGeom>
          <a:noFill/>
        </p:spPr>
        <p:txBody>
          <a:bodyPr wrap="square" lIns="0" rIns="0" tIns="0" bIns="0">
            <a:spAutoFit/>
          </a:bodyPr>
          <a:lstStyle/>
          <a:p>
            <a:pPr>
              <a:spcBef>
                <a:spcPts val="0"/>
              </a:spcBef>
              <a:spcAft>
                <a:spcPts val="800"/>
              </a:spcAft>
            </a:pPr>
            <a:r>
              <a:rPr sz="1450" b="0">
                <a:solidFill>
                  <a:srgbClr val="191D63"/>
                </a:solidFill>
              </a:rPr>
              <a:t>Enrichment asks whether a whole gene set drifts toward the down- or up-regulated end of the ranked transcriptome. The normalized enrichment score (NES) is that drift; negative means down in recurrence.</a:t>
            </a:r>
          </a:p>
          <a:p>
            <a:pPr>
              <a:spcBef>
                <a:spcPts val="0"/>
              </a:spcBef>
              <a:spcAft>
                <a:spcPts val="800"/>
              </a:spcAft>
            </a:pPr>
            <a:r>
              <a:rPr sz="1450" b="0">
                <a:solidFill>
                  <a:srgbClr val="191D63"/>
                </a:solidFill>
              </a:rPr>
              <a:t>Significance is permuted on gene-set membership, not on samples: with three per arm there are too few sample permutations. Gene-set permutation is more reproducible than sample permutation at this size⁷, but it is anti-conservative for correlated sets, so nominal p is shown beside FDR q throughout.</a:t>
            </a:r>
          </a:p>
          <a:p>
            <a:pPr>
              <a:spcBef>
                <a:spcPts val="0"/>
              </a:spcBef>
              <a:spcAft>
                <a:spcPts val="800"/>
              </a:spcAft>
            </a:pPr>
            <a:r>
              <a:rPr sz="1450" b="0">
                <a:solidFill>
                  <a:srgbClr val="191D63"/>
                </a:solidFill>
              </a:rPr>
              <a:t>Subtypes are scored per tumor by GSVA over the published Neftel⁸ and Garofano⁹ signatures. Drugs are ranked by how strongly each compound's DSigDB gene set¹⁰ sits among the genes that fall in recurrence, then weighted by predicted blood–brain barrier permeability.</a:t>
            </a:r>
          </a:p>
          <a:p>
            <a:pPr>
              <a:spcBef>
                <a:spcPts val="0"/>
              </a:spcBef>
              <a:spcAft>
                <a:spcPts val="800"/>
              </a:spcAft>
            </a:pPr>
            <a:r>
              <a:rPr sz="1450" b="0">
                <a:solidFill>
                  <a:srgbClr val="191D63"/>
                </a:solidFill>
              </a:rPr>
              <a:t>Raw sequencing data are public: GEO accession GSE338105.</a:t>
            </a:r>
          </a:p>
        </p:txBody>
      </p:sp>
      <p:sp>
        <p:nvSpPr>
          <p:cNvPr id="12" name="TextBox 11"/>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7. Maleki F, et al. Hum Genomics 2019;13(Suppl 1):42.   8. Neftel C, et al. Cell 2019;178:835–849.   9. Garofano L, et al. Nat Cancer 2021;2:141–156.   10. Yoo M, et al. Bioinformatics 2015;31:3069–3071.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From the dish to the brain, then after ablation</a:t>
            </a:r>
          </a:p>
        </p:txBody>
      </p:sp>
      <p:pic>
        <p:nvPicPr>
          <p:cNvPr id="3" name="Picture 2" descr="chart_trajectory_pca.png"/>
          <p:cNvPicPr>
            <a:picLocks noChangeAspect="1"/>
          </p:cNvPicPr>
          <p:nvPr/>
        </p:nvPicPr>
        <p:blipFill>
          <a:blip r:embed="rId2"/>
          <a:stretch>
            <a:fillRect/>
          </a:stretch>
        </p:blipFill>
        <p:spPr>
          <a:xfrm>
            <a:off x="1750000" y="1420000"/>
            <a:ext cx="5600000" cy="4535810"/>
          </a:xfrm>
          <a:prstGeom prst="rect">
            <a:avLst/>
          </a:prstGeom>
        </p:spPr>
      </p:pic>
      <p:sp>
        <p:nvSpPr>
          <p:cNvPr id="4" name="TextBox 3"/>
          <p:cNvSpPr txBox="1"/>
          <p:nvPr/>
        </p:nvSpPr>
        <p:spPr>
          <a:xfrm>
            <a:off x="7650000" y="1500000"/>
            <a:ext cx="4250000" cy="4750000"/>
          </a:xfrm>
          <a:prstGeom prst="rect">
            <a:avLst/>
          </a:prstGeom>
          <a:noFill/>
        </p:spPr>
        <p:txBody>
          <a:bodyPr wrap="square" lIns="0" rIns="0" tIns="0" bIns="0">
            <a:spAutoFit/>
          </a:bodyPr>
          <a:lstStyle/>
          <a:p>
            <a:pPr>
              <a:spcBef>
                <a:spcPts val="0"/>
              </a:spcBef>
              <a:spcAft>
                <a:spcPts val="1000"/>
              </a:spcAft>
            </a:pPr>
            <a:r>
              <a:rPr sz="1450" b="0">
                <a:solidFill>
                  <a:srgbClr val="191D63"/>
                </a:solidFill>
              </a:rPr>
              <a:t>Exploratory: the culture sample beside the six tumors, log₂ counts per million over the 500 most variable genes. The culture sample is one library and sits outside every test in this talk.</a:t>
            </a:r>
          </a:p>
          <a:p>
            <a:pPr>
              <a:spcBef>
                <a:spcPts val="0"/>
              </a:spcBef>
              <a:spcAft>
                <a:spcPts val="1000"/>
              </a:spcAft>
            </a:pPr>
            <a:r>
              <a:rPr sz="1450" b="0">
                <a:solidFill>
                  <a:srgbClr val="191D63"/>
                </a:solidFill>
              </a:rPr>
              <a:t>Culture separates from the tumors on the first axis (41.5 % of the variance in those genes); primary and recurrent separate mainly on the second (18.1 %).</a:t>
            </a:r>
          </a:p>
          <a:p>
            <a:pPr>
              <a:spcBef>
                <a:spcPts val="0"/>
              </a:spcBef>
              <a:spcAft>
                <a:spcPts val="1000"/>
              </a:spcAft>
            </a:pPr>
            <a:r>
              <a:rPr sz="1450" b="0">
                <a:solidFill>
                  <a:srgbClr val="191D63"/>
                </a:solidFill>
              </a:rPr>
              <a:t>Across those genes the culture sample is 45 log₂ units from the tumor centroid, about 2 times the 22 between the primary and recurrent centroids: growth in the brain moves the transcriptome more than ablation and regrowth do.</a:t>
            </a:r>
          </a:p>
          <a:p>
            <a:pPr>
              <a:spcBef>
                <a:spcPts val="0"/>
              </a:spcBef>
              <a:spcAft>
                <a:spcPts val="1000"/>
              </a:spcAft>
            </a:pPr>
            <a:r>
              <a:rPr sz="1450" b="0">
                <a:solidFill>
                  <a:srgbClr val="4C70B7"/>
                </a:solidFill>
              </a:rPr>
              <a:t>Part of the culture distance may be rat signal: the culture library carries none, the tumor libraries carry some.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Principal components of log2 CPM, genes with mean CPM ≥ 1, 500 most variable, seven libraries; Euclidean distances between centroids in the same 500 genes; exploratory, outside the differential model. Orthotopic U251N glioblastoma xenograft in the athymic rat, MRI-guided LITT; bulk RNA-seq of primary and recurrent tumors, n = 3 per arm; GEO GSE338105.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Primary and recurrent tumors separate, modestly</a:t>
            </a:r>
          </a:p>
        </p:txBody>
      </p:sp>
      <p:pic>
        <p:nvPicPr>
          <p:cNvPr id="3" name="Picture 2" descr="chart_pca.png"/>
          <p:cNvPicPr>
            <a:picLocks noChangeAspect="1"/>
          </p:cNvPicPr>
          <p:nvPr/>
        </p:nvPicPr>
        <p:blipFill>
          <a:blip r:embed="rId2"/>
          <a:stretch>
            <a:fillRect/>
          </a:stretch>
        </p:blipFill>
        <p:spPr>
          <a:xfrm>
            <a:off x="1750000" y="1420000"/>
            <a:ext cx="5069751" cy="4830000"/>
          </a:xfrm>
          <a:prstGeom prst="rect">
            <a:avLst/>
          </a:prstGeom>
        </p:spPr>
      </p:pic>
      <p:sp>
        <p:nvSpPr>
          <p:cNvPr id="4" name="TextBox 3"/>
          <p:cNvSpPr txBox="1"/>
          <p:nvPr/>
        </p:nvSpPr>
        <p:spPr>
          <a:xfrm>
            <a:off x="7119751" y="1500000"/>
            <a:ext cx="4780249" cy="4750000"/>
          </a:xfrm>
          <a:prstGeom prst="rect">
            <a:avLst/>
          </a:prstGeom>
          <a:noFill/>
        </p:spPr>
        <p:txBody>
          <a:bodyPr wrap="square" lIns="0" rIns="0" tIns="0" bIns="0">
            <a:spAutoFit/>
          </a:bodyPr>
          <a:lstStyle/>
          <a:p>
            <a:pPr>
              <a:spcBef>
                <a:spcPts val="0"/>
              </a:spcBef>
              <a:spcAft>
                <a:spcPts val="1000"/>
              </a:spcAft>
            </a:pPr>
            <a:r>
              <a:rPr sz="1450" b="0">
                <a:solidFill>
                  <a:srgbClr val="191D63"/>
                </a:solidFill>
              </a:rPr>
              <a:t>Each point is one tumor, placed by its 500 most variable genes. Every recurrent tumor lies to the right of every primary on the first axis, which carries 41.8 % of the variance in those genes; the second carries 26.2 %.</a:t>
            </a:r>
          </a:p>
          <a:p>
            <a:pPr>
              <a:spcBef>
                <a:spcPts val="0"/>
              </a:spcBef>
              <a:spcAft>
                <a:spcPts val="1000"/>
              </a:spcAft>
            </a:pPr>
            <a:r>
              <a:rPr sz="1450" b="0">
                <a:solidFill>
                  <a:srgbClr val="191D63"/>
                </a:solidFill>
              </a:rPr>
              <a:t>PERMANOVA on all genes puts 27.8 % of the variance between the arms (F = 1.54), against 20 % expected for a random split of six tumors into three and three.</a:t>
            </a:r>
          </a:p>
          <a:p>
            <a:pPr>
              <a:spcBef>
                <a:spcPts val="0"/>
              </a:spcBef>
              <a:spcAft>
                <a:spcPts val="1000"/>
              </a:spcAft>
            </a:pPr>
            <a:r>
              <a:rPr sz="1450" b="0">
                <a:solidFill>
                  <a:srgbClr val="191D63"/>
                </a:solidFill>
              </a:rPr>
              <a:t>p = 0.10 is the smallest value this test can return: with three per arm there are only ten ways to split six samples, and the observed split is the best-separated of them.</a:t>
            </a:r>
          </a:p>
          <a:p>
            <a:pPr>
              <a:spcBef>
                <a:spcPts val="0"/>
              </a:spcBef>
              <a:spcAft>
                <a:spcPts val="1000"/>
              </a:spcAft>
            </a:pPr>
            <a:r>
              <a:rPr sz="1450" b="0">
                <a:solidFill>
                  <a:srgbClr val="191D63"/>
                </a:solidFill>
              </a:rPr>
              <a:t>A modest, directional separation that three per arm cannot push below p = 0.10; said out loud rather than left in the supplement.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Principal components of the 500 most variable rlog genes; PERMANOVA (adonis2) on all genes. Orthotopic U251N glioblastoma xenograft in the athymic rat, MRI-guided LITT; bulk RNA-seq of primary and recurrent tumors, n = 3 per arm; GEO GSE338105.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Only 35 genes move, and the biggest movers are readthrough and non-coding loci</a:t>
            </a:r>
          </a:p>
        </p:txBody>
      </p:sp>
      <p:pic>
        <p:nvPicPr>
          <p:cNvPr id="3" name="Picture 2" descr="chart_volcano.png"/>
          <p:cNvPicPr>
            <a:picLocks noChangeAspect="1"/>
          </p:cNvPicPr>
          <p:nvPr/>
        </p:nvPicPr>
        <p:blipFill>
          <a:blip r:embed="rId2"/>
          <a:stretch>
            <a:fillRect/>
          </a:stretch>
        </p:blipFill>
        <p:spPr>
          <a:xfrm>
            <a:off x="1750000" y="1420000"/>
            <a:ext cx="6000000" cy="4204724"/>
          </a:xfrm>
          <a:prstGeom prst="rect">
            <a:avLst/>
          </a:prstGeom>
        </p:spPr>
      </p:pic>
      <p:pic>
        <p:nvPicPr>
          <p:cNvPr id="4" name="Picture 3" descr="table_fold.png"/>
          <p:cNvPicPr>
            <a:picLocks noChangeAspect="1"/>
          </p:cNvPicPr>
          <p:nvPr/>
        </p:nvPicPr>
        <p:blipFill>
          <a:blip r:embed="rId3"/>
          <a:stretch>
            <a:fillRect/>
          </a:stretch>
        </p:blipFill>
        <p:spPr>
          <a:xfrm>
            <a:off x="8050000" y="1420000"/>
            <a:ext cx="3129737" cy="1650000"/>
          </a:xfrm>
          <a:prstGeom prst="rect">
            <a:avLst/>
          </a:prstGeom>
        </p:spPr>
      </p:pic>
      <p:pic>
        <p:nvPicPr>
          <p:cNvPr id="5" name="Picture 4" descr="chart_threshold_sweep.png"/>
          <p:cNvPicPr>
            <a:picLocks noChangeAspect="1"/>
          </p:cNvPicPr>
          <p:nvPr/>
        </p:nvPicPr>
        <p:blipFill>
          <a:blip r:embed="rId4"/>
          <a:stretch>
            <a:fillRect/>
          </a:stretch>
        </p:blipFill>
        <p:spPr>
          <a:xfrm>
            <a:off x="8050000" y="3170000"/>
            <a:ext cx="3257250" cy="2150000"/>
          </a:xfrm>
          <a:prstGeom prst="rect">
            <a:avLst/>
          </a:prstGeom>
        </p:spPr>
      </p:pic>
      <p:sp>
        <p:nvSpPr>
          <p:cNvPr id="6" name="TextBox 5"/>
          <p:cNvSpPr txBox="1"/>
          <p:nvPr/>
        </p:nvSpPr>
        <p:spPr>
          <a:xfrm>
            <a:off x="8050000" y="5380000"/>
            <a:ext cx="3850000" cy="870000"/>
          </a:xfrm>
          <a:prstGeom prst="rect">
            <a:avLst/>
          </a:prstGeom>
          <a:noFill/>
        </p:spPr>
        <p:txBody>
          <a:bodyPr wrap="square" lIns="0" rIns="0" tIns="0" bIns="0">
            <a:spAutoFit/>
          </a:bodyPr>
          <a:lstStyle/>
          <a:p>
            <a:pPr>
              <a:spcBef>
                <a:spcPts val="0"/>
              </a:spcBef>
              <a:spcAft>
                <a:spcPts val="0"/>
              </a:spcAft>
            </a:pPr>
            <a:r>
              <a:rPr sz="1200" b="0">
                <a:solidFill>
                  <a:srgbClr val="7A7A7A"/>
                </a:solidFill>
              </a:rPr>
              <a:t>35 genes pass FDR &lt; 0.05 at two-fold (23 up, 12 down); 82 at 1.5-fold, 9 at four-fold. The six largest changes are three readthrough transcripts, a U6 snRNA and two unannotated loci, on 14 to 111 mean counts; five of the six are zero in every sample of one arm.</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Orthotopic U251N glioblastoma xenograft in the athymic rat, MRI-guided LITT; bulk RNA-seq of primary and recurrent tumors, n = 3 per arm; GEO GSE338105. Wald test with ashr shrinkage; FDR &lt; 0.05 at every threshold; the sweep is Online Resource 1, S4.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dominant theme: translation is turned down</a:t>
            </a:r>
          </a:p>
        </p:txBody>
      </p:sp>
      <p:pic>
        <p:nvPicPr>
          <p:cNvPr id="3" name="Picture 2" descr="chart_running_sum.png"/>
          <p:cNvPicPr>
            <a:picLocks noChangeAspect="1"/>
          </p:cNvPicPr>
          <p:nvPr/>
        </p:nvPicPr>
        <p:blipFill>
          <a:blip r:embed="rId2"/>
          <a:stretch>
            <a:fillRect/>
          </a:stretch>
        </p:blipFill>
        <p:spPr>
          <a:xfrm>
            <a:off x="3097166" y="1420000"/>
            <a:ext cx="7455667" cy="3680000"/>
          </a:xfrm>
          <a:prstGeom prst="rect">
            <a:avLst/>
          </a:prstGeom>
        </p:spPr>
      </p:pic>
      <p:sp>
        <p:nvSpPr>
          <p:cNvPr id="4" name="TextBox 3"/>
          <p:cNvSpPr txBox="1"/>
          <p:nvPr/>
        </p:nvSpPr>
        <p:spPr>
          <a:xfrm>
            <a:off x="1750000" y="5160000"/>
            <a:ext cx="10150000" cy="1090000"/>
          </a:xfrm>
          <a:prstGeom prst="rect">
            <a:avLst/>
          </a:prstGeom>
          <a:noFill/>
        </p:spPr>
        <p:txBody>
          <a:bodyPr wrap="square" lIns="0" rIns="0" tIns="0" bIns="0">
            <a:spAutoFit/>
          </a:bodyPr>
          <a:lstStyle/>
          <a:p>
            <a:pPr>
              <a:spcBef>
                <a:spcPts val="0"/>
              </a:spcBef>
              <a:spcAft>
                <a:spcPts val="500"/>
              </a:spcAft>
            </a:pPr>
            <a:r>
              <a:rPr sz="1300" b="0">
                <a:solidFill>
                  <a:srgbClr val="191D63"/>
                </a:solidFill>
              </a:rPr>
              <a:t>Of 8,869 gene sets, the six most depleted in recurrence are all translation or amino-acid stress. They are nominally significant (p ≤ 0.002) and point the same way. Translation initiation leads (NES −1.99, q = 0.022 in the published run), but its FDR q moves with the permutation seed: 0.022 to 0.31 over five seeds of the same analysis.</a:t>
            </a:r>
          </a:p>
          <a:p>
            <a:pPr>
              <a:spcBef>
                <a:spcPts val="0"/>
              </a:spcBef>
              <a:spcAft>
                <a:spcPts val="500"/>
              </a:spcAft>
            </a:pPr>
            <a:r>
              <a:rPr sz="1300" b="0">
                <a:solidFill>
                  <a:srgbClr val="191D63"/>
                </a:solidFill>
              </a:rPr>
              <a:t>All 80 translation-initiation genes sit in the bottom 6.6 % of the 19,236 ranked genes, each lower in recurrence (on average by about 8 %). In the bottom tenth sit 96 % of elongation and 98 % of ribosome members.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Orthotopic U251N glioblastoma xenograft in the athymic rat, MRI-guided LITT; bulk RNA-seq of primary and recurrent tumors, n = 3 per arm; GEO GSE338105. GSEA running score (Diff_of_Classes ranking, gene-set permutation) from the pipeline's tables; fold changes, Online Resource 1, S2.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Beyond translation: growth and glycolysis fall, respiration does not agree</a:t>
            </a:r>
          </a:p>
        </p:txBody>
      </p:sp>
      <p:pic>
        <p:nvPicPr>
          <p:cNvPr id="3" name="Picture 2" descr="chart_themes.png"/>
          <p:cNvPicPr>
            <a:picLocks noChangeAspect="1"/>
          </p:cNvPicPr>
          <p:nvPr/>
        </p:nvPicPr>
        <p:blipFill>
          <a:blip r:embed="rId2"/>
          <a:stretch>
            <a:fillRect/>
          </a:stretch>
        </p:blipFill>
        <p:spPr>
          <a:xfrm>
            <a:off x="1750000" y="1420000"/>
            <a:ext cx="10150000" cy="3700041"/>
          </a:xfrm>
          <a:prstGeom prst="rect">
            <a:avLst/>
          </a:prstGeom>
        </p:spPr>
      </p:pic>
      <p:sp>
        <p:nvSpPr>
          <p:cNvPr id="4" name="TextBox 3"/>
          <p:cNvSpPr txBox="1"/>
          <p:nvPr/>
        </p:nvSpPr>
        <p:spPr>
          <a:xfrm>
            <a:off x="1750000" y="5180041"/>
            <a:ext cx="10150000" cy="1069959"/>
          </a:xfrm>
          <a:prstGeom prst="rect">
            <a:avLst/>
          </a:prstGeom>
          <a:noFill/>
        </p:spPr>
        <p:txBody>
          <a:bodyPr wrap="square" lIns="0" rIns="0" tIns="0" bIns="0">
            <a:spAutoFit/>
          </a:bodyPr>
          <a:lstStyle/>
          <a:p>
            <a:pPr>
              <a:spcBef>
                <a:spcPts val="0"/>
              </a:spcBef>
              <a:spcAft>
                <a:spcPts val="500"/>
              </a:spcAft>
            </a:pPr>
            <a:r>
              <a:rPr sz="1300" b="0">
                <a:solidFill>
                  <a:srgbClr val="191D63"/>
                </a:solidFill>
              </a:rPr>
              <a:t>Growth signalling points the same way (ribosome biogenesis −1.62, mTORC1 −1.46, MYC −1.29; p 0.05 to 0.15). Glycolysis falls in all three collections (−1.57 to −1.67; p 0.03 to 0.05).</a:t>
            </a:r>
          </a:p>
          <a:p>
            <a:pPr>
              <a:spcBef>
                <a:spcPts val="0"/>
              </a:spcBef>
              <a:spcAft>
                <a:spcPts val="500"/>
              </a:spcAft>
            </a:pPr>
            <a:r>
              <a:rPr sz="1300" b="0">
                <a:solidFill>
                  <a:srgbClr val="191D63"/>
                </a:solidFill>
              </a:rPr>
              <a:t>Respiration does not agree across collections (Hallmark OXPHOS −1.45, KEGG OXPHOS +1.20, Reactome electron transport +1.27), the TCA cycle does not move (−0.67), and cholesterol synthesis rises (+1.51, p = 0.03). Nothing on this chart clears FDR (q ≥ 0.60).</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Orthotopic U251N glioblastoma xenograft in the athymic rat, MRI-guided LITT; bulk RNA-seq of primary and recurrent tumors, n = 3 per arm; GEO GSE338105. Broad GSEA, gene-set permutation; Hallmark, KEGG, Reactome and GO collections as named; nominal 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effect is one-sided at q &lt; 0.25</a:t>
            </a:r>
          </a:p>
        </p:txBody>
      </p:sp>
      <p:pic>
        <p:nvPicPr>
          <p:cNvPr id="3" name="Picture 2" descr="chart_gsea_landscape.png"/>
          <p:cNvPicPr>
            <a:picLocks noChangeAspect="1"/>
          </p:cNvPicPr>
          <p:nvPr/>
        </p:nvPicPr>
        <p:blipFill>
          <a:blip r:embed="rId2"/>
          <a:stretch>
            <a:fillRect/>
          </a:stretch>
        </p:blipFill>
        <p:spPr>
          <a:xfrm>
            <a:off x="1750000" y="1420000"/>
            <a:ext cx="6500000" cy="4461740"/>
          </a:xfrm>
          <a:prstGeom prst="rect">
            <a:avLst/>
          </a:prstGeom>
        </p:spPr>
      </p:pic>
      <p:sp>
        <p:nvSpPr>
          <p:cNvPr id="4" name="TextBox 3"/>
          <p:cNvSpPr txBox="1"/>
          <p:nvPr/>
        </p:nvSpPr>
        <p:spPr>
          <a:xfrm>
            <a:off x="8550000" y="1500000"/>
            <a:ext cx="3350000" cy="4750000"/>
          </a:xfrm>
          <a:prstGeom prst="rect">
            <a:avLst/>
          </a:prstGeom>
          <a:noFill/>
        </p:spPr>
        <p:txBody>
          <a:bodyPr wrap="square" lIns="0" rIns="0" tIns="0" bIns="0">
            <a:spAutoFit/>
          </a:bodyPr>
          <a:lstStyle/>
          <a:p>
            <a:pPr>
              <a:spcBef>
                <a:spcPts val="0"/>
              </a:spcBef>
              <a:spcAft>
                <a:spcPts val="1000"/>
              </a:spcAft>
            </a:pPr>
            <a:r>
              <a:rPr sz="1500" b="0">
                <a:solidFill>
                  <a:srgbClr val="191D63"/>
                </a:solidFill>
              </a:rPr>
              <a:t>Every one of the 8,869 gene sets is a dot: its enrichment score against how far it clears FDR.</a:t>
            </a:r>
          </a:p>
          <a:p>
            <a:pPr>
              <a:spcBef>
                <a:spcPts val="0"/>
              </a:spcBef>
              <a:spcAft>
                <a:spcPts val="1000"/>
              </a:spcAft>
            </a:pPr>
            <a:r>
              <a:rPr sz="1500" b="0">
                <a:solidFill>
                  <a:srgbClr val="191D63"/>
                </a:solidFill>
              </a:rPr>
              <a:t>In the published run six reach GSEA's exploratory q &lt; 0.25, one of them q &lt; 0.05; all six are down-regulated translation or stress sets. Those counts move with the permutation seed (slide 11).</a:t>
            </a:r>
          </a:p>
          <a:p>
            <a:pPr>
              <a:spcBef>
                <a:spcPts val="0"/>
              </a:spcBef>
              <a:spcAft>
                <a:spcPts val="1000"/>
              </a:spcAft>
            </a:pPr>
            <a:r>
              <a:rPr sz="1500" b="0">
                <a:solidFill>
                  <a:srgbClr val="191D63"/>
                </a:solidFill>
              </a:rPr>
              <a:t>Nothing on the up-regulated side survives correction (best q = 0.61); at nominal p the up side is led by proliferation (next slide).</a:t>
            </a:r>
          </a:p>
          <a:p>
            <a:pPr>
              <a:spcBef>
                <a:spcPts val="0"/>
              </a:spcBef>
              <a:spcAft>
                <a:spcPts val="1000"/>
              </a:spcAft>
            </a:pPr>
            <a:r>
              <a:rPr sz="1500" b="0">
                <a:solidFill>
                  <a:srgbClr val="191D63"/>
                </a:solidFill>
              </a:rPr>
              <a:t>Past that threshold, the recurrent state is defined by what it turns down.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Orthotopic U251N glioblastoma xenograft in the athymic rat, MRI-guided LITT; bulk RNA-seq of primary and recurrent tumors, n = 3 per arm; GEO GSE338105. Broad GSEA, gene-set permutation, 1,000 permutations.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else moves: hypoxia and iron down, cell cycle up, all nominal</a:t>
            </a:r>
          </a:p>
        </p:txBody>
      </p:sp>
      <p:pic>
        <p:nvPicPr>
          <p:cNvPr id="3" name="Picture 2" descr="chart_themes2.png"/>
          <p:cNvPicPr>
            <a:picLocks noChangeAspect="1"/>
          </p:cNvPicPr>
          <p:nvPr/>
        </p:nvPicPr>
        <p:blipFill>
          <a:blip r:embed="rId2"/>
          <a:stretch>
            <a:fillRect/>
          </a:stretch>
        </p:blipFill>
        <p:spPr>
          <a:xfrm>
            <a:off x="1750000" y="1420000"/>
            <a:ext cx="6300000" cy="3011755"/>
          </a:xfrm>
          <a:prstGeom prst="rect">
            <a:avLst/>
          </a:prstGeom>
        </p:spPr>
      </p:pic>
      <p:sp>
        <p:nvSpPr>
          <p:cNvPr id="4" name="TextBox 3"/>
          <p:cNvSpPr txBox="1"/>
          <p:nvPr/>
        </p:nvSpPr>
        <p:spPr>
          <a:xfrm>
            <a:off x="8350000" y="1460000"/>
            <a:ext cx="3550000" cy="4790000"/>
          </a:xfrm>
          <a:prstGeom prst="rect">
            <a:avLst/>
          </a:prstGeom>
          <a:noFill/>
        </p:spPr>
        <p:txBody>
          <a:bodyPr wrap="square" lIns="0" rIns="0" tIns="0" bIns="0">
            <a:spAutoFit/>
          </a:bodyPr>
          <a:lstStyle/>
          <a:p>
            <a:pPr>
              <a:spcBef>
                <a:spcPts val="0"/>
              </a:spcBef>
              <a:spcAft>
                <a:spcPts val="700"/>
              </a:spcAft>
            </a:pPr>
            <a:r>
              <a:rPr sz="1300" b="0">
                <a:solidFill>
                  <a:srgbClr val="191D63"/>
                </a:solidFill>
              </a:rPr>
              <a:t>Hypoxic signalling falls, nominally: HIF1 targets and the Buffa hypoxia metagene both −1.79 (p = 0.02 and 0.01), angiogenesis −1.47 (p = 0.09). The simplest reading is that ablation removed the hypoxic core and what regrows is better perfused; perfusion was not measured.</a:t>
            </a:r>
          </a:p>
          <a:p>
            <a:pPr>
              <a:spcBef>
                <a:spcPts val="0"/>
              </a:spcBef>
              <a:spcAft>
                <a:spcPts val="700"/>
              </a:spcAft>
            </a:pPr>
            <a:r>
              <a:rPr sz="1300" b="0">
                <a:solidFill>
                  <a:srgbClr val="191D63"/>
                </a:solidFill>
              </a:rPr>
              <a:t>Iron uptake and transport falls (−1.55, p = 0.04), as does senescence (−1.62, p = 0.03).</a:t>
            </a:r>
          </a:p>
          <a:p>
            <a:pPr>
              <a:spcBef>
                <a:spcPts val="0"/>
              </a:spcBef>
              <a:spcAft>
                <a:spcPts val="700"/>
              </a:spcAft>
            </a:pPr>
            <a:r>
              <a:rPr sz="1300" b="0">
                <a:solidFill>
                  <a:srgbClr val="191D63"/>
                </a:solidFill>
              </a:rPr>
              <a:t>Cell-cycle sets rise: mitotic spindle +1.76 (p = 0.004), G2M checkpoint +1.71, E2F targets +1.48. A regrowing tumor dividing again, as a direction.</a:t>
            </a:r>
          </a:p>
          <a:p>
            <a:pPr>
              <a:spcBef>
                <a:spcPts val="0"/>
              </a:spcBef>
              <a:spcAft>
                <a:spcPts val="700"/>
              </a:spcAft>
            </a:pPr>
            <a:r>
              <a:rPr sz="1300" b="0">
                <a:solidFill>
                  <a:srgbClr val="191D63"/>
                </a:solidFill>
              </a:rPr>
              <a:t>None of these clears FDR (q ≥ 0.61). The loss of hypoxic signalling, with the translational fall, is what a thermally stressed, reperfused margin would be expected to show: a check on the pipeline that also ranks the drugs.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Orthotopic U251N glioblastoma xenograft in the athymic rat, MRI-guided LITT; bulk RNA-seq of primary and recurrent tumors, n = 3 per arm; GEO GSE338105. Broad GSEA on the Semenza, Buffa, Hallmark, Reactome and Fridman sets named; nominal p, gene-set permutation.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translational fall: rat contamination, or one tumor?</a:t>
            </a:r>
          </a:p>
        </p:txBody>
      </p:sp>
      <p:pic>
        <p:nvPicPr>
          <p:cNvPr id="3" name="Picture 2" descr="chart_contamination_magnitude.png"/>
          <p:cNvPicPr>
            <a:picLocks noChangeAspect="1"/>
          </p:cNvPicPr>
          <p:nvPr/>
        </p:nvPicPr>
        <p:blipFill>
          <a:blip r:embed="rId2"/>
          <a:stretch>
            <a:fillRect/>
          </a:stretch>
        </p:blipFill>
        <p:spPr>
          <a:xfrm>
            <a:off x="1750000" y="1420000"/>
            <a:ext cx="5900000" cy="3558264"/>
          </a:xfrm>
          <a:prstGeom prst="rect">
            <a:avLst/>
          </a:prstGeom>
        </p:spPr>
      </p:pic>
      <p:sp>
        <p:nvSpPr>
          <p:cNvPr id="4" name="TextBox 3"/>
          <p:cNvSpPr txBox="1"/>
          <p:nvPr/>
        </p:nvSpPr>
        <p:spPr>
          <a:xfrm>
            <a:off x="7950000" y="1440000"/>
            <a:ext cx="3950000" cy="4810000"/>
          </a:xfrm>
          <a:prstGeom prst="rect">
            <a:avLst/>
          </a:prstGeom>
          <a:noFill/>
        </p:spPr>
        <p:txBody>
          <a:bodyPr wrap="square" lIns="0" rIns="0" tIns="0" bIns="0">
            <a:spAutoFit/>
          </a:bodyPr>
          <a:lstStyle/>
          <a:p>
            <a:pPr>
              <a:spcBef>
                <a:spcPts val="0"/>
              </a:spcBef>
              <a:spcAft>
                <a:spcPts val="600"/>
              </a:spcAft>
            </a:pPr>
            <a:r>
              <a:rPr sz="1200" b="0">
                <a:solidFill>
                  <a:srgbClr val="191D63"/>
                </a:solidFill>
              </a:rPr>
              <a:t>Recurrent tumors are 35 % human against 51 % for the primaries. Rat reads pull each gene toward its level in rat brain; across the transcriptome that pull is small (the 8,884 genes detected in rat brain average +0.02, the rest −0.02).</a:t>
            </a:r>
          </a:p>
          <a:p>
            <a:pPr>
              <a:spcBef>
                <a:spcPts val="0"/>
              </a:spcBef>
              <a:spcAft>
                <a:spcPts val="600"/>
              </a:spcAft>
            </a:pPr>
            <a:r>
              <a:rPr sz="1200" b="0">
                <a:solidFill>
                  <a:srgbClr val="191D63"/>
                </a:solidFill>
              </a:rPr>
              <a:t>Relative to their level in the tumors, translation genes are no more abundant in rat brain than a typical gene (control/tumor ratio 0.18 against 0.28). Counting every shared read as rat, contamination could move them by −0.01 at most; they fall −0.38 to −0.40, against −0.12 to −0.13 for matched genes.</a:t>
            </a:r>
          </a:p>
          <a:p>
            <a:pPr>
              <a:spcBef>
                <a:spcPts val="0"/>
              </a:spcBef>
              <a:spcAft>
                <a:spcPts val="600"/>
              </a:spcAft>
            </a:pPr>
            <a:r>
              <a:rPr sz="1200" b="0">
                <a:solidFill>
                  <a:srgbClr val="191D63"/>
                </a:solidFill>
              </a:rPr>
              <a:t>Most of the fall comes from one primary tumor: IL68B is the highest of the six on every translation-initiation and ribosome gene. Without it the sets fall −0.10 to −0.11 (matched genes −0.03); dropping any other tumor leaves −0.37 to −0.53. The enrichment does not depend on it: without IL68B, translation initiation stays at q &lt; 0.05 at all five permutation seeds.</a:t>
            </a:r>
          </a:p>
          <a:p>
            <a:pPr>
              <a:spcBef>
                <a:spcPts val="0"/>
              </a:spcBef>
              <a:spcAft>
                <a:spcPts val="600"/>
              </a:spcAft>
            </a:pPr>
            <a:r>
              <a:rPr sz="1200" b="0">
                <a:solidFill>
                  <a:srgbClr val="4C70B7"/>
                </a:solidFill>
              </a:rPr>
              <a:t>Adjusting for factors estimated from the controls¹¹ leaves −0.28 to −0.30 (k = 2), but those factors also separate the arms. Purity, one tumor and arm cannot be pulled apart in six animals.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11. Risso D, et al. Nat Biotechnol 2014;32:896–902.   Repository analysis, not in the manuscript. Bound: every shared read treated as rat, with the controls' profile. Matched: 25 nearest non-translation genes in abundance and control/tumor ratio. Without IL68B: median-of-ratios fold changes of the other five.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Scored against the published classifiers: the astrocyte-like score falls</a:t>
            </a:r>
          </a:p>
        </p:txBody>
      </p:sp>
      <p:pic>
        <p:nvPicPr>
          <p:cNvPr id="3" name="Picture 2" descr="chart_subtypes.png"/>
          <p:cNvPicPr>
            <a:picLocks noChangeAspect="1"/>
          </p:cNvPicPr>
          <p:nvPr/>
        </p:nvPicPr>
        <p:blipFill>
          <a:blip r:embed="rId2"/>
          <a:stretch>
            <a:fillRect/>
          </a:stretch>
        </p:blipFill>
        <p:spPr>
          <a:xfrm>
            <a:off x="1750000" y="1420000"/>
            <a:ext cx="6100000" cy="4245270"/>
          </a:xfrm>
          <a:prstGeom prst="rect">
            <a:avLst/>
          </a:prstGeom>
        </p:spPr>
      </p:pic>
      <p:sp>
        <p:nvSpPr>
          <p:cNvPr id="4" name="TextBox 3"/>
          <p:cNvSpPr txBox="1"/>
          <p:nvPr/>
        </p:nvSpPr>
        <p:spPr>
          <a:xfrm>
            <a:off x="8150000" y="1480000"/>
            <a:ext cx="3750000" cy="4770000"/>
          </a:xfrm>
          <a:prstGeom prst="rect">
            <a:avLst/>
          </a:prstGeom>
          <a:noFill/>
        </p:spPr>
        <p:txBody>
          <a:bodyPr wrap="square" lIns="0" rIns="0" tIns="0" bIns="0">
            <a:spAutoFit/>
          </a:bodyPr>
          <a:lstStyle/>
          <a:p>
            <a:pPr>
              <a:spcBef>
                <a:spcPts val="0"/>
              </a:spcBef>
              <a:spcAft>
                <a:spcPts val="900"/>
              </a:spcAft>
            </a:pPr>
            <a:r>
              <a:rPr sz="1400" b="0">
                <a:solidFill>
                  <a:srgbClr val="191D63"/>
                </a:solidFill>
              </a:rPr>
              <a:t>Each tumor is scored by GSVA for how much of each published signature it expresses: ten Neftel⁸ and Garofano⁹ signatures, 39 to 50 genes each as published.</a:t>
            </a:r>
          </a:p>
          <a:p>
            <a:pPr>
              <a:spcBef>
                <a:spcPts val="0"/>
              </a:spcBef>
              <a:spcAft>
                <a:spcPts val="900"/>
              </a:spcAft>
            </a:pPr>
            <a:r>
              <a:rPr sz="1400" b="0">
                <a:solidFill>
                  <a:srgbClr val="191D63"/>
                </a:solidFill>
              </a:rPr>
              <a:t>One transition reaches nominal significance: the astrocyte-like score falls, +0.26 → −0.27 (p = 0.007; q = 0.075 across the ten).</a:t>
            </a:r>
          </a:p>
          <a:p>
            <a:pPr>
              <a:spcBef>
                <a:spcPts val="0"/>
              </a:spcBef>
              <a:spcAft>
                <a:spcPts val="900"/>
              </a:spcAft>
            </a:pPr>
            <a:r>
              <a:rPr sz="1400" b="0">
                <a:solidFill>
                  <a:srgbClr val="191D63"/>
                </a:solidFill>
              </a:rPr>
              <a:t>The mitochondrial signature falls too (−0.58, p = 0.14, not significant).</a:t>
            </a:r>
          </a:p>
          <a:p>
            <a:pPr>
              <a:spcBef>
                <a:spcPts val="0"/>
              </a:spcBef>
              <a:spcAft>
                <a:spcPts val="900"/>
              </a:spcAft>
            </a:pPr>
            <a:r>
              <a:rPr sz="1400" b="0">
                <a:solidFill>
                  <a:srgbClr val="191D63"/>
                </a:solidFill>
              </a:rPr>
              <a:t>Mesenchymal and neural-progenitor scores drift but do not reach significance.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8. Neftel C, et al. Cell 2019;178:835–849.   9. Garofano L, et al. Nat Cancer 2021;2:141–156.   Orthotopic U251N glioblastoma xenograft in the athymic rat, MRI-guided LITT; bulk RNA-seq of primary and recurrent tumors, n = 3 per arm; GEO GSE338105. GSVA per tumor; Benjamini–Hochberg across the ten signatures.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hubs: matrix mostly down, calcium up</a:t>
            </a:r>
          </a:p>
        </p:txBody>
      </p:sp>
      <p:pic>
        <p:nvPicPr>
          <p:cNvPr id="3" name="Picture 2" descr="table_hubs.png"/>
          <p:cNvPicPr>
            <a:picLocks noChangeAspect="1"/>
          </p:cNvPicPr>
          <p:nvPr/>
        </p:nvPicPr>
        <p:blipFill>
          <a:blip r:embed="rId2"/>
          <a:stretch>
            <a:fillRect/>
          </a:stretch>
        </p:blipFill>
        <p:spPr>
          <a:xfrm>
            <a:off x="7300000" y="1420000"/>
            <a:ext cx="4600000" cy="4266722"/>
          </a:xfrm>
          <a:prstGeom prst="rect">
            <a:avLst/>
          </a:prstGeom>
        </p:spPr>
      </p:pic>
      <p:pic>
        <p:nvPicPr>
          <p:cNvPr id="4" name="Picture 3" descr="chart_ppi.png"/>
          <p:cNvPicPr>
            <a:picLocks noChangeAspect="1"/>
          </p:cNvPicPr>
          <p:nvPr/>
        </p:nvPicPr>
        <p:blipFill>
          <a:blip r:embed="rId3"/>
          <a:stretch>
            <a:fillRect/>
          </a:stretch>
        </p:blipFill>
        <p:spPr>
          <a:xfrm>
            <a:off x="2984562" y="1420000"/>
            <a:ext cx="2780875" cy="2980000"/>
          </a:xfrm>
          <a:prstGeom prst="rect">
            <a:avLst/>
          </a:prstGeom>
        </p:spPr>
      </p:pic>
      <p:sp>
        <p:nvSpPr>
          <p:cNvPr id="5" name="TextBox 4"/>
          <p:cNvSpPr txBox="1"/>
          <p:nvPr/>
        </p:nvSpPr>
        <p:spPr>
          <a:xfrm>
            <a:off x="1750000" y="4460000"/>
            <a:ext cx="5250000" cy="420000"/>
          </a:xfrm>
          <a:prstGeom prst="rect">
            <a:avLst/>
          </a:prstGeom>
          <a:noFill/>
        </p:spPr>
        <p:txBody>
          <a:bodyPr wrap="square" lIns="0" rIns="0" tIns="0" bIns="0">
            <a:spAutoFit/>
          </a:bodyPr>
          <a:lstStyle/>
          <a:p>
            <a:pPr>
              <a:spcBef>
                <a:spcPts val="0"/>
              </a:spcBef>
              <a:spcAft>
                <a:spcPts val="0"/>
              </a:spcAft>
            </a:pPr>
            <a:r>
              <a:rPr sz="1200" b="0">
                <a:solidFill>
                  <a:srgbClr val="7A7A7A"/>
                </a:solidFill>
              </a:rPr>
              <a:t>11 of the 35 genes have a STRING interaction. Navy down, red up; filled, degree ≥ 3; line weight, STRING score.</a:t>
            </a:r>
          </a:p>
        </p:txBody>
      </p:sp>
      <p:sp>
        <p:nvSpPr>
          <p:cNvPr id="6" name="TextBox 5"/>
          <p:cNvSpPr txBox="1"/>
          <p:nvPr/>
        </p:nvSpPr>
        <p:spPr>
          <a:xfrm>
            <a:off x="1750000" y="4920000"/>
            <a:ext cx="5250000" cy="1330000"/>
          </a:xfrm>
          <a:prstGeom prst="rect">
            <a:avLst/>
          </a:prstGeom>
          <a:noFill/>
        </p:spPr>
        <p:txBody>
          <a:bodyPr wrap="square" lIns="0" rIns="0" tIns="0" bIns="0">
            <a:spAutoFit/>
          </a:bodyPr>
          <a:lstStyle/>
          <a:p>
            <a:pPr>
              <a:spcBef>
                <a:spcPts val="0"/>
              </a:spcBef>
              <a:spcAft>
                <a:spcPts val="400"/>
              </a:spcAft>
            </a:pPr>
            <a:r>
              <a:rPr sz="1250" b="0">
                <a:solidFill>
                  <a:srgbClr val="191D63"/>
                </a:solidFill>
              </a:rPr>
              <a:t>Down: most of the structural matrix, type I collagen, biglycan, prolargin and hemicentin; collagen XVII and glypican 3 rise. Up: neuronal calcium handling and a presynaptic scaffold, calbindin, ryanodine receptor 2 and piccolo.</a:t>
            </a:r>
          </a:p>
          <a:p>
            <a:pPr>
              <a:spcBef>
                <a:spcPts val="0"/>
              </a:spcBef>
              <a:spcAft>
                <a:spcPts val="400"/>
              </a:spcAft>
            </a:pPr>
            <a:r>
              <a:rPr sz="1250" b="0">
                <a:solidFill>
                  <a:srgbClr val="191D63"/>
                </a:solidFill>
              </a:rPr>
              <a:t>Whether that echoes the neuron–glioma synapse described in high-grade glioma¹²˒¹³, or only reflects which cells survived, six animals cannot tell us.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12. Venkatesh HS, et al. Nature 2019;573:539–545.   13. Venkataramani V, et al. Nature 2019;573:532–538.   STRING interactions among the 35 differentially expressed genes. Orthotopic U251N glioblastoma xenograft in the athymic rat, MRI-guided LITT; bulk RNA-seq of primary and recurrent tumors, n = 3 per arm; GEO GSE338105.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From 92 opposing compounds to 15 that clear both barrier models</a:t>
            </a:r>
          </a:p>
        </p:txBody>
      </p:sp>
      <p:pic>
        <p:nvPicPr>
          <p:cNvPr id="3" name="Picture 2" descr="chart_funnel.png"/>
          <p:cNvPicPr>
            <a:picLocks noChangeAspect="1"/>
          </p:cNvPicPr>
          <p:nvPr/>
        </p:nvPicPr>
        <p:blipFill>
          <a:blip r:embed="rId2"/>
          <a:stretch>
            <a:fillRect/>
          </a:stretch>
        </p:blipFill>
        <p:spPr>
          <a:xfrm>
            <a:off x="1750000" y="1420000"/>
            <a:ext cx="5200000" cy="3971084"/>
          </a:xfrm>
          <a:prstGeom prst="rect">
            <a:avLst/>
          </a:prstGeom>
        </p:spPr>
      </p:pic>
      <p:sp>
        <p:nvSpPr>
          <p:cNvPr id="4" name="TextBox 3"/>
          <p:cNvSpPr txBox="1"/>
          <p:nvPr/>
        </p:nvSpPr>
        <p:spPr>
          <a:xfrm>
            <a:off x="7250000" y="1460000"/>
            <a:ext cx="4650000" cy="4790000"/>
          </a:xfrm>
          <a:prstGeom prst="rect">
            <a:avLst/>
          </a:prstGeom>
          <a:noFill/>
        </p:spPr>
        <p:txBody>
          <a:bodyPr wrap="square" lIns="0" rIns="0" tIns="0" bIns="0">
            <a:spAutoFit/>
          </a:bodyPr>
          <a:lstStyle/>
          <a:p>
            <a:pPr>
              <a:spcBef>
                <a:spcPts val="0"/>
              </a:spcBef>
              <a:spcAft>
                <a:spcPts val="800"/>
              </a:spcAft>
            </a:pPr>
            <a:r>
              <a:rPr sz="1350" b="0">
                <a:solidFill>
                  <a:srgbClr val="191D63"/>
                </a:solidFill>
              </a:rPr>
              <a:t>DSigDB holds a gene set for each drug.¹⁰ The pipeline asks which drug's set sits among the genes that fall in recurrence, then weights by predicted brain penetration (ADMET-AI¹⁴), with a second barrier model as a check (BOILED-Egg¹⁵).</a:t>
            </a:r>
          </a:p>
          <a:p>
            <a:pPr>
              <a:spcBef>
                <a:spcPts val="0"/>
              </a:spcBef>
              <a:spcAft>
                <a:spcPts val="800"/>
              </a:spcAft>
            </a:pPr>
            <a:r>
              <a:rPr sz="1350" b="0">
                <a:solidFill>
                  <a:srgbClr val="191D63"/>
                </a:solidFill>
              </a:rPr>
              <a:t>The 100 most strongly opposing drug gene sets name 92 compounds. 54 have a clinical phase and a structure the barrier model can score; the rest include phosphine, tributyltin and a flame retardant.</a:t>
            </a:r>
          </a:p>
          <a:p>
            <a:pPr>
              <a:spcBef>
                <a:spcPts val="0"/>
              </a:spcBef>
              <a:spcAft>
                <a:spcPts val="800"/>
              </a:spcAft>
            </a:pPr>
            <a:r>
              <a:rPr sz="1350" b="0">
                <a:solidFill>
                  <a:srgbClr val="191D63"/>
                </a:solidFill>
              </a:rPr>
              <a:t>15 clear both barrier models, and ciclopirox ranks first among them and overall.</a:t>
            </a:r>
          </a:p>
          <a:p>
            <a:pPr>
              <a:spcBef>
                <a:spcPts val="0"/>
              </a:spcBef>
              <a:spcAft>
                <a:spcPts val="800"/>
              </a:spcAft>
            </a:pPr>
            <a:r>
              <a:rPr sz="1350" b="0">
                <a:solidFill>
                  <a:srgbClr val="191D63"/>
                </a:solidFill>
              </a:rPr>
              <a:t>The filter's limits, said up front: it keeps things that are not systemic therapies (oxygen, ozone, magnesium) and drops approved drugs with no recorded phase, deferoxamine among them.</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10. Yoo M, et al. Bioinformatics 2015;31:3069–3071.   14. Swanson K, et al. Bioinformatics 2024;40:btae416.   15. Daina A, Zoete V. ChemMedChem 2016;11:1117–1121.   Score: |NES| to the power 1.5, weighted by predicted blood–brain barrier permeability; Online Resource 1, S12.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Where every clinically available candidate sits</a:t>
            </a:r>
          </a:p>
        </p:txBody>
      </p:sp>
      <p:pic>
        <p:nvPicPr>
          <p:cNvPr id="3" name="Picture 2" descr="chart_drug_scatter.png"/>
          <p:cNvPicPr>
            <a:picLocks noChangeAspect="1"/>
          </p:cNvPicPr>
          <p:nvPr/>
        </p:nvPicPr>
        <p:blipFill>
          <a:blip r:embed="rId2"/>
          <a:stretch>
            <a:fillRect/>
          </a:stretch>
        </p:blipFill>
        <p:spPr>
          <a:xfrm>
            <a:off x="1750000" y="1420000"/>
            <a:ext cx="6500000" cy="3651234"/>
          </a:xfrm>
          <a:prstGeom prst="rect">
            <a:avLst/>
          </a:prstGeom>
        </p:spPr>
      </p:pic>
      <p:sp>
        <p:nvSpPr>
          <p:cNvPr id="4" name="TextBox 3"/>
          <p:cNvSpPr txBox="1"/>
          <p:nvPr/>
        </p:nvSpPr>
        <p:spPr>
          <a:xfrm>
            <a:off x="8550000" y="1480000"/>
            <a:ext cx="3350000" cy="4770000"/>
          </a:xfrm>
          <a:prstGeom prst="rect">
            <a:avLst/>
          </a:prstGeom>
          <a:noFill/>
        </p:spPr>
        <p:txBody>
          <a:bodyPr wrap="square" lIns="0" rIns="0" tIns="0" bIns="0">
            <a:spAutoFit/>
          </a:bodyPr>
          <a:lstStyle/>
          <a:p>
            <a:pPr>
              <a:spcBef>
                <a:spcPts val="0"/>
              </a:spcBef>
              <a:spcAft>
                <a:spcPts val="800"/>
              </a:spcAft>
            </a:pPr>
            <a:r>
              <a:rPr sz="1350" b="0">
                <a:solidFill>
                  <a:srgbClr val="191D63"/>
                </a:solidFill>
              </a:rPr>
              <a:t>Each point is one of the 54 compounds with a clinical phase: how strongly its gene set opposes the recurrence signature, against its predicted barrier permeability; size is the combined score.</a:t>
            </a:r>
          </a:p>
          <a:p>
            <a:pPr>
              <a:spcBef>
                <a:spcPts val="0"/>
              </a:spcBef>
              <a:spcAft>
                <a:spcPts val="800"/>
              </a:spcAft>
            </a:pPr>
            <a:r>
              <a:rPr sz="1350" b="0">
                <a:solidFill>
                  <a:srgbClr val="191D63"/>
                </a:solidFill>
              </a:rPr>
              <a:t>Ciclopirox is alone at the top right. Filled points are those both barrier models predict will cross.</a:t>
            </a:r>
          </a:p>
          <a:p>
            <a:pPr>
              <a:spcBef>
                <a:spcPts val="0"/>
              </a:spcBef>
              <a:spcAft>
                <a:spcPts val="800"/>
              </a:spcAft>
            </a:pPr>
            <a:r>
              <a:rPr sz="1350" b="0">
                <a:solidFill>
                  <a:srgbClr val="191D63"/>
                </a:solidFill>
              </a:rPr>
              <a:t>The two strongest reversals of all, dimethyloxalylglycine and deferoxamine (|NES| 2.39 each), have no recorded clinical phase and are not on this chart; deferoxamine is an approved iron chelator that the phase filter drops.</a:t>
            </a:r>
          </a:p>
          <a:p>
            <a:pPr>
              <a:spcBef>
                <a:spcPts val="0"/>
              </a:spcBef>
              <a:spcAft>
                <a:spcPts val="800"/>
              </a:spcAft>
            </a:pPr>
            <a:r>
              <a:rPr sz="1350" b="0">
                <a:solidFill>
                  <a:srgbClr val="191D63"/>
                </a:solidFill>
              </a:rPr>
              <a:t>Just left of ciclopirox at the top sit pentetrazol, primidone and nilutamide; the prior-art audit sets them aside.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Online Resource 1, S12: ADMET-AI barrier probability, BOILED-Egg agreement. Orthotopic U251N glioblastoma xenograft in the athymic rat, MRI-guided LITT; bulk RNA-seq of primary and recurrent tumors, n = 3 per arm; GEO GSE338105.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Ciclopirox ranks first with or without the barrier weight</a:t>
            </a:r>
          </a:p>
        </p:txBody>
      </p:sp>
      <p:pic>
        <p:nvPicPr>
          <p:cNvPr id="3" name="Picture 2" descr="table_drugs.png"/>
          <p:cNvPicPr>
            <a:picLocks noChangeAspect="1"/>
          </p:cNvPicPr>
          <p:nvPr/>
        </p:nvPicPr>
        <p:blipFill>
          <a:blip r:embed="rId2"/>
          <a:stretch>
            <a:fillRect/>
          </a:stretch>
        </p:blipFill>
        <p:spPr>
          <a:xfrm>
            <a:off x="7569292" y="1420000"/>
            <a:ext cx="4330708" cy="2500000"/>
          </a:xfrm>
          <a:prstGeom prst="rect">
            <a:avLst/>
          </a:prstGeom>
        </p:spPr>
      </p:pic>
      <p:pic>
        <p:nvPicPr>
          <p:cNvPr id="4" name="Picture 3" descr="chart_drugs.png"/>
          <p:cNvPicPr>
            <a:picLocks noChangeAspect="1"/>
          </p:cNvPicPr>
          <p:nvPr/>
        </p:nvPicPr>
        <p:blipFill>
          <a:blip r:embed="rId3"/>
          <a:stretch>
            <a:fillRect/>
          </a:stretch>
        </p:blipFill>
        <p:spPr>
          <a:xfrm>
            <a:off x="1750000" y="1420000"/>
            <a:ext cx="5459195" cy="4830000"/>
          </a:xfrm>
          <a:prstGeom prst="rect">
            <a:avLst/>
          </a:prstGeom>
        </p:spPr>
      </p:pic>
      <p:sp>
        <p:nvSpPr>
          <p:cNvPr id="5" name="TextBox 4"/>
          <p:cNvSpPr txBox="1"/>
          <p:nvPr/>
        </p:nvSpPr>
        <p:spPr>
          <a:xfrm>
            <a:off x="7569292" y="4040000"/>
            <a:ext cx="4330708" cy="2210000"/>
          </a:xfrm>
          <a:prstGeom prst="rect">
            <a:avLst/>
          </a:prstGeom>
          <a:noFill/>
        </p:spPr>
        <p:txBody>
          <a:bodyPr wrap="square" lIns="0" rIns="0" tIns="0" bIns="0">
            <a:spAutoFit/>
          </a:bodyPr>
          <a:lstStyle/>
          <a:p>
            <a:pPr>
              <a:spcBef>
                <a:spcPts val="0"/>
              </a:spcBef>
              <a:spcAft>
                <a:spcPts val="600"/>
              </a:spcAft>
            </a:pPr>
            <a:r>
              <a:rPr sz="1250" b="0">
                <a:solidFill>
                  <a:srgbClr val="191D63"/>
                </a:solidFill>
              </a:rPr>
              <a:t>Ciclopirox scores 3.14 against 2.34 for pyrantel, the next compound on which both barrier models agree; the overall runner-up, pentetrazol (2.71), fails the second model. It ranks first with or without the permeability weight.</a:t>
            </a:r>
          </a:p>
          <a:p>
            <a:pPr>
              <a:spcBef>
                <a:spcPts val="0"/>
              </a:spcBef>
              <a:spcAft>
                <a:spcPts val="600"/>
              </a:spcAft>
            </a:pPr>
            <a:r>
              <a:rPr sz="1250" b="0">
                <a:solidFill>
                  <a:srgbClr val="191D63"/>
                </a:solidFill>
              </a:rPr>
              <a:t>It is approved (a topical antifungal), and an oral form has completed phase 1 in patients with hematologic cancers.¹⁶</a:t>
            </a:r>
          </a:p>
          <a:p>
            <a:pPr>
              <a:spcBef>
                <a:spcPts val="0"/>
              </a:spcBef>
              <a:spcAft>
                <a:spcPts val="600"/>
              </a:spcAft>
            </a:pPr>
            <a:r>
              <a:rPr sz="1250" b="0">
                <a:solidFill>
                  <a:srgbClr val="4C70B7"/>
                </a:solidFill>
              </a:rPr>
              <a:t>Computational predictions: no agent named here has been tested in this model or is approved for this use.</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16. Minden MD, et al. Am J Hematol 2014;89:363–368.   Rank: position among the 54 clinically available compounds by the BBB-weighted score (Online Resource 1, S12–S13).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is already known about the top twenty</a:t>
            </a:r>
          </a:p>
        </p:txBody>
      </p:sp>
      <p:pic>
        <p:nvPicPr>
          <p:cNvPr id="3" name="Picture 2" descr="table_prior_art.png"/>
          <p:cNvPicPr>
            <a:picLocks noChangeAspect="1"/>
          </p:cNvPicPr>
          <p:nvPr/>
        </p:nvPicPr>
        <p:blipFill>
          <a:blip r:embed="rId2"/>
          <a:stretch>
            <a:fillRect/>
          </a:stretch>
        </p:blipFill>
        <p:spPr>
          <a:xfrm>
            <a:off x="1750000" y="1420000"/>
            <a:ext cx="5263001" cy="4830000"/>
          </a:xfrm>
          <a:prstGeom prst="rect">
            <a:avLst/>
          </a:prstGeom>
        </p:spPr>
      </p:pic>
      <p:sp>
        <p:nvSpPr>
          <p:cNvPr id="4" name="TextBox 3"/>
          <p:cNvSpPr txBox="1"/>
          <p:nvPr/>
        </p:nvSpPr>
        <p:spPr>
          <a:xfrm>
            <a:off x="7313001" y="1440000"/>
            <a:ext cx="4586999" cy="4810000"/>
          </a:xfrm>
          <a:prstGeom prst="rect">
            <a:avLst/>
          </a:prstGeom>
          <a:noFill/>
        </p:spPr>
        <p:txBody>
          <a:bodyPr wrap="square" lIns="0" rIns="0" tIns="0" bIns="0">
            <a:spAutoFit/>
          </a:bodyPr>
          <a:lstStyle/>
          <a:p>
            <a:pPr>
              <a:spcBef>
                <a:spcPts val="0"/>
              </a:spcBef>
              <a:spcAft>
                <a:spcPts val="600"/>
              </a:spcAft>
            </a:pPr>
            <a:r>
              <a:rPr sz="1200" b="0">
                <a:solidFill>
                  <a:srgbClr val="191D63"/>
                </a:solidFill>
              </a:rPr>
              <a:t>The twenty highest-ranked of the 54 compounds were read against the glioma literature. Tier A: in vivo or clinical glioma evidence. B: in vitro, or in vivo but contested. C: none, failed or refuted, or not a therapy at all.</a:t>
            </a:r>
          </a:p>
          <a:p>
            <a:pPr>
              <a:spcBef>
                <a:spcPts val="0"/>
              </a:spcBef>
              <a:spcAft>
                <a:spcPts val="600"/>
              </a:spcAft>
            </a:pPr>
            <a:r>
              <a:rPr sz="1200" b="0">
                <a:solidFill>
                  <a:srgbClr val="191D63"/>
                </a:solidFill>
              </a:rPr>
              <a:t>Ciclopirox is tier A: it inhibits U251 and three other lines in vitro and a subcutaneous xenograft¹⁷, and an oral form completed phase 1.¹⁶ The other As are ifosfamide, an alkylator the screen was bound to recover, thioridazine and ganciclovir.</a:t>
            </a:r>
          </a:p>
          <a:p>
            <a:pPr>
              <a:spcBef>
                <a:spcPts val="0"/>
              </a:spcBef>
              <a:spcAft>
                <a:spcPts val="600"/>
              </a:spcAft>
            </a:pPr>
            <a:r>
              <a:rPr sz="1200" b="0">
                <a:solidFill>
                  <a:srgbClr val="191D63"/>
                </a:solidFill>
              </a:rPr>
              <a:t>Seven have no glioma literature; primidone was tested and failed; pentetrazol is a convulsant; amiodarone use was linked to worse glioblastoma survival¹⁸ and diazepam antagonises temozolomide in vitro.¹⁹</a:t>
            </a:r>
          </a:p>
          <a:p>
            <a:pPr>
              <a:spcBef>
                <a:spcPts val="0"/>
              </a:spcBef>
              <a:spcAft>
                <a:spcPts val="600"/>
              </a:spcAft>
            </a:pPr>
            <a:r>
              <a:rPr sz="1200" b="0">
                <a:solidFill>
                  <a:srgbClr val="4C70B7"/>
                </a:solidFill>
              </a:rPr>
              <a:t>An audit of what has been published, not a test of anything.</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16. Minden MD, et al. Am J Hematol 2014;89:363–368.   17. Su Z, et al. Cell Death Dis 2021;12:251.   18. Boursi B, et al. Pharmacoepidemiol Drug Saf 2016;25:1179–1185.   19. Drljača J, et al. CNS Neurosci Ther 2022;28:1447–1457.   Online Resource 1, S13 and S15; PubMed searched per compound.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Why ciclopirox: the tumor depends on the axis it hits</a:t>
            </a:r>
          </a:p>
        </p:txBody>
      </p:sp>
      <p:pic>
        <p:nvPicPr>
          <p:cNvPr id="3" name="Picture 2" descr="chart_depmap.png"/>
          <p:cNvPicPr>
            <a:picLocks noChangeAspect="1"/>
          </p:cNvPicPr>
          <p:nvPr/>
        </p:nvPicPr>
        <p:blipFill>
          <a:blip r:embed="rId2"/>
          <a:stretch>
            <a:fillRect/>
          </a:stretch>
        </p:blipFill>
        <p:spPr>
          <a:xfrm>
            <a:off x="1750000" y="1420000"/>
            <a:ext cx="6100000" cy="3139201"/>
          </a:xfrm>
          <a:prstGeom prst="rect">
            <a:avLst/>
          </a:prstGeom>
        </p:spPr>
      </p:pic>
      <p:sp>
        <p:nvSpPr>
          <p:cNvPr id="4" name="TextBox 3"/>
          <p:cNvSpPr txBox="1"/>
          <p:nvPr/>
        </p:nvSpPr>
        <p:spPr>
          <a:xfrm>
            <a:off x="8150000" y="1440000"/>
            <a:ext cx="3750000" cy="4810000"/>
          </a:xfrm>
          <a:prstGeom prst="rect">
            <a:avLst/>
          </a:prstGeom>
          <a:noFill/>
        </p:spPr>
        <p:txBody>
          <a:bodyPr wrap="square" lIns="0" rIns="0" tIns="0" bIns="0">
            <a:spAutoFit/>
          </a:bodyPr>
          <a:lstStyle/>
          <a:p>
            <a:pPr>
              <a:spcBef>
                <a:spcPts val="0"/>
              </a:spcBef>
              <a:spcAft>
                <a:spcPts val="600"/>
              </a:spcAft>
            </a:pPr>
            <a:r>
              <a:rPr sz="1250" b="0">
                <a:solidFill>
                  <a:srgbClr val="191D63"/>
                </a:solidFill>
              </a:rPr>
              <a:t>Ciclopirox chelates iron and inhibits deoxyhypusine hydroxylase (DOHH), the enzyme that activates eIF5A, a factor the ribosome needs to keep elongating.</a:t>
            </a:r>
          </a:p>
          <a:p>
            <a:pPr>
              <a:spcBef>
                <a:spcPts val="0"/>
              </a:spcBef>
              <a:spcAft>
                <a:spcPts val="600"/>
              </a:spcAft>
            </a:pPr>
            <a:r>
              <a:rPr sz="1250" b="0">
                <a:solidFill>
                  <a:srgbClr val="191D63"/>
                </a:solidFill>
              </a:rPr>
              <a:t>In DepMap's genome-wide CRISPR screen of U-251 MG in culture²⁰, knocking out DOHH (−0.58), DHPS (−1.09) or EIF5A (−1.25) costs fitness past the −0.5 dependency threshold. Most lines need DHPS and EIF5A too (median −0.83 and −0.97); DOHH is the step the typical line does not need (median −0.39).</a:t>
            </a:r>
          </a:p>
          <a:p>
            <a:pPr>
              <a:spcBef>
                <a:spcPts val="0"/>
              </a:spcBef>
              <a:spcAft>
                <a:spcPts val="600"/>
              </a:spcAft>
            </a:pPr>
            <a:r>
              <a:rPr sz="1250" b="0">
                <a:solidFill>
                  <a:srgbClr val="191D63"/>
                </a:solidFill>
              </a:rPr>
              <a:t>Ribonucleotide reductase, the other target, is needed by nearly every line (U-251 RRM1 −3.14, RRM2 −2.25). HIF1A is not a dependency (+0.15), nor, unusually, is the transferrin receptor (−0.32 against a median of −0.78).</a:t>
            </a:r>
          </a:p>
          <a:p>
            <a:pPr>
              <a:spcBef>
                <a:spcPts val="0"/>
              </a:spcBef>
              <a:spcAft>
                <a:spcPts val="600"/>
              </a:spcAft>
            </a:pPr>
            <a:r>
              <a:rPr sz="1250" b="0">
                <a:solidFill>
                  <a:srgbClr val="191D63"/>
                </a:solidFill>
              </a:rPr>
              <a:t>Delivery: LITT opens the blood–brain barrier at the margin for weeks after ablation², which is the window.</a:t>
            </a:r>
          </a:p>
          <a:p>
            <a:pPr>
              <a:spcBef>
                <a:spcPts val="0"/>
              </a:spcBef>
              <a:spcAft>
                <a:spcPts val="600"/>
              </a:spcAft>
            </a:pPr>
            <a:r>
              <a:rPr sz="1250" b="0">
                <a:solidFill>
                  <a:srgbClr val="4C70B7"/>
                </a:solidFill>
              </a:rPr>
              <a:t>Public screen data and a computational prediction; nothing has been dosed in this model.</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 Cleary RT, et al. Neuro Oncol 2026;28:1649–1661.   20. DepMap 24Q4 (depmap.org), Chronos gene effect, U-251 MG (ACH-000232); Dempster JM, et al. Genome Biol 2021;22:343.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Conclusions</a:t>
            </a:r>
          </a:p>
        </p:txBody>
      </p:sp>
      <p:pic>
        <p:nvPicPr>
          <p:cNvPr id="3" name="Picture 2" descr="chart_arms.png"/>
          <p:cNvPicPr>
            <a:picLocks noChangeAspect="1"/>
          </p:cNvPicPr>
          <p:nvPr/>
        </p:nvPicPr>
        <p:blipFill>
          <a:blip r:embed="rId2"/>
          <a:stretch>
            <a:fillRect/>
          </a:stretch>
        </p:blipFill>
        <p:spPr>
          <a:xfrm>
            <a:off x="1750000" y="1420000"/>
            <a:ext cx="5500000" cy="3824615"/>
          </a:xfrm>
          <a:prstGeom prst="rect">
            <a:avLst/>
          </a:prstGeom>
        </p:spPr>
      </p:pic>
      <p:sp>
        <p:nvSpPr>
          <p:cNvPr id="4" name="TextBox 3"/>
          <p:cNvSpPr txBox="1"/>
          <p:nvPr/>
        </p:nvSpPr>
        <p:spPr>
          <a:xfrm>
            <a:off x="7550000" y="1420000"/>
            <a:ext cx="4350000" cy="3824615"/>
          </a:xfrm>
          <a:prstGeom prst="rect">
            <a:avLst/>
          </a:prstGeom>
          <a:noFill/>
        </p:spPr>
        <p:txBody>
          <a:bodyPr wrap="square" lIns="0" rIns="0" tIns="0" bIns="0">
            <a:spAutoFit/>
          </a:bodyPr>
          <a:lstStyle/>
          <a:p>
            <a:pPr>
              <a:spcBef>
                <a:spcPts val="0"/>
              </a:spcBef>
              <a:spcAft>
                <a:spcPts val="500"/>
              </a:spcAft>
            </a:pPr>
            <a:r>
              <a:rPr sz="1250" b="0">
                <a:solidFill>
                  <a:srgbClr val="191D63"/>
                </a:solidFill>
              </a:rPr>
              <a:t>Post-LITT recurrence turns its translation machinery down: initiation (nominal p &lt; 0.001 whichever tumor is left out; FDR q 0.02 to 0.31 across permutation seeds), elongation and the ribosome, with the GCN2 amino-acid set (mostly ribosomal proteins) and growth signalling lower alongside, nominally. One primary tumor carries most of the size of the difference, not its rank.</a:t>
            </a:r>
          </a:p>
          <a:p>
            <a:pPr>
              <a:spcBef>
                <a:spcPts val="0"/>
              </a:spcBef>
              <a:spcAft>
                <a:spcPts val="500"/>
              </a:spcAft>
            </a:pPr>
            <a:r>
              <a:rPr sz="1250" b="0">
                <a:solidFill>
                  <a:srgbClr val="191D63"/>
                </a:solidFill>
              </a:rPr>
              <a:t>Glycolysis falls in every collection; respiration does not agree across collections, and the TCA cycle is untouched.</a:t>
            </a:r>
          </a:p>
          <a:p>
            <a:pPr>
              <a:spcBef>
                <a:spcPts val="0"/>
              </a:spcBef>
              <a:spcAft>
                <a:spcPts val="500"/>
              </a:spcAft>
            </a:pPr>
            <a:r>
              <a:rPr sz="1250" b="0">
                <a:solidFill>
                  <a:srgbClr val="191D63"/>
                </a:solidFill>
              </a:rPr>
              <a:t>Hypoxic signalling falls, nominally (HIF1 targets and hypoxia metagene both −1.79; q = 1.0): the simplest reading is that ablation removed the hypoxic core.</a:t>
            </a:r>
          </a:p>
          <a:p>
            <a:pPr>
              <a:spcBef>
                <a:spcPts val="0"/>
              </a:spcBef>
              <a:spcAft>
                <a:spcPts val="500"/>
              </a:spcAft>
            </a:pPr>
            <a:r>
              <a:rPr sz="1250" b="0">
                <a:solidFill>
                  <a:srgbClr val="191D63"/>
                </a:solidFill>
              </a:rPr>
              <a:t>Of ten published subtype signatures, only the astrocyte-like score falls at nominal significance (p = 0.007; q = 0.075). Ciclopirox ranks first with and without the permeability weight, is approved as a topical antifungal, completed phase 1 in cancer¹⁶, and was nominated independently by another group's signature-reversal screen.²¹</a:t>
            </a:r>
          </a:p>
        </p:txBody>
      </p:sp>
      <p:sp>
        <p:nvSpPr>
          <p:cNvPr id="5" name="Rounded Rectangle 4"/>
          <p:cNvSpPr/>
          <p:nvPr/>
        </p:nvSpPr>
        <p:spPr>
          <a:xfrm>
            <a:off x="1750000" y="5364615"/>
            <a:ext cx="10150000" cy="885385"/>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These are the changes expected of a thermally stressed, reperfused margin; recovering them from an unbiased transcriptome is a check on the pipeline that also ranks the drugs.</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16. Minden MD, et al. Am J Hematol 2014;89:363–368.   21. Sun S, et al. J Transl Med 2025;23:25.   Evidence status: investigational; one cell line (U251N) in one rat xenograft model with MRI-guided LITT, n = 3 per arm; drug candidates are computational predictions; GEO GSE338105.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Limitations and next steps</a:t>
            </a:r>
          </a:p>
        </p:txBody>
      </p:sp>
      <p:sp>
        <p:nvSpPr>
          <p:cNvPr id="3" name="Rounded Rectangle 2"/>
          <p:cNvSpPr/>
          <p:nvPr/>
        </p:nvSpPr>
        <p:spPr>
          <a:xfrm>
            <a:off x="1750000" y="1420000"/>
            <a:ext cx="4925000" cy="4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Limitations</a:t>
            </a:r>
          </a:p>
        </p:txBody>
      </p:sp>
      <p:sp>
        <p:nvSpPr>
          <p:cNvPr id="4" name="TextBox 3"/>
          <p:cNvSpPr txBox="1"/>
          <p:nvPr/>
        </p:nvSpPr>
        <p:spPr>
          <a:xfrm>
            <a:off x="1750000" y="2040000"/>
            <a:ext cx="4925000" cy="4210000"/>
          </a:xfrm>
          <a:prstGeom prst="rect">
            <a:avLst/>
          </a:prstGeom>
          <a:noFill/>
        </p:spPr>
        <p:txBody>
          <a:bodyPr wrap="square" lIns="0" rIns="0" tIns="0" bIns="0">
            <a:spAutoFit/>
          </a:bodyPr>
          <a:lstStyle/>
          <a:p>
            <a:pPr>
              <a:spcBef>
                <a:spcPts val="0"/>
              </a:spcBef>
              <a:spcAft>
                <a:spcPts val="700"/>
              </a:spcAft>
            </a:pPr>
            <a:r>
              <a:rPr sz="1350" b="0">
                <a:solidFill>
                  <a:srgbClr val="191D63"/>
                </a:solidFill>
              </a:rPr>
              <a:t>n = 3 per arm. Gene-set results are best read as directional, which is why nominal p is reported alongside FDR q.</a:t>
            </a:r>
          </a:p>
          <a:p>
            <a:pPr>
              <a:spcBef>
                <a:spcPts val="0"/>
              </a:spcBef>
              <a:spcAft>
                <a:spcPts val="700"/>
              </a:spcAft>
            </a:pPr>
            <a:r>
              <a:rPr sz="1350" b="0">
                <a:solidFill>
                  <a:srgbClr val="191D63"/>
                </a:solidFill>
              </a:rPr>
              <a:t>A single cell line (U251N) in a single xenograft model: no patient tissue, and no T-cell immunity in the athymic rat.</a:t>
            </a:r>
          </a:p>
          <a:p>
            <a:pPr>
              <a:spcBef>
                <a:spcPts val="0"/>
              </a:spcBef>
              <a:spcAft>
                <a:spcPts val="700"/>
              </a:spcAft>
            </a:pPr>
            <a:r>
              <a:rPr sz="1350" b="0">
                <a:solidFill>
                  <a:srgbClr val="191D63"/>
                </a:solidFill>
              </a:rPr>
              <a:t>Bulk RNA-seq averages the margin with whatever else was harvested, and purity differs by arm (51 % against 35 % human); the persister state is inferred, not isolated.</a:t>
            </a:r>
          </a:p>
          <a:p>
            <a:pPr>
              <a:spcBef>
                <a:spcPts val="0"/>
              </a:spcBef>
              <a:spcAft>
                <a:spcPts val="700"/>
              </a:spcAft>
            </a:pPr>
            <a:r>
              <a:rPr sz="1350" b="0">
                <a:solidFill>
                  <a:srgbClr val="191D63"/>
                </a:solidFill>
              </a:rPr>
              <a:t>The size of the translational fall leans on one primary tumor (without it, a quarter as large); its FDR q moves with the permutation seed (0.02 to 0.31) and with which tumor is left out.</a:t>
            </a:r>
          </a:p>
          <a:p>
            <a:pPr>
              <a:spcBef>
                <a:spcPts val="0"/>
              </a:spcBef>
              <a:spcAft>
                <a:spcPts val="700"/>
              </a:spcAft>
            </a:pPr>
            <a:r>
              <a:rPr sz="1350" b="0">
                <a:solidFill>
                  <a:srgbClr val="191D63"/>
                </a:solidFill>
              </a:rPr>
              <a:t>A methylation array on the same six tumors (866,238 probes) found no probe past FDR (smallest q = 0.09); with purity and arm confounded it cannot separate the two.</a:t>
            </a:r>
          </a:p>
          <a:p>
            <a:pPr>
              <a:spcBef>
                <a:spcPts val="0"/>
              </a:spcBef>
              <a:spcAft>
                <a:spcPts val="700"/>
              </a:spcAft>
            </a:pPr>
            <a:r>
              <a:rPr sz="1350" b="0">
                <a:solidFill>
                  <a:srgbClr val="191D63"/>
                </a:solidFill>
              </a:rPr>
              <a:t>Every drug candidate is a computational prediction; none has been tested in this model.</a:t>
            </a:r>
          </a:p>
        </p:txBody>
      </p:sp>
      <p:sp>
        <p:nvSpPr>
          <p:cNvPr id="5" name="Rounded Rectangle 4"/>
          <p:cNvSpPr/>
          <p:nvPr/>
        </p:nvSpPr>
        <p:spPr>
          <a:xfrm>
            <a:off x="6975000" y="1420000"/>
            <a:ext cx="4925000" cy="4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Next steps</a:t>
            </a:r>
          </a:p>
        </p:txBody>
      </p:sp>
      <p:sp>
        <p:nvSpPr>
          <p:cNvPr id="6" name="TextBox 5"/>
          <p:cNvSpPr txBox="1"/>
          <p:nvPr/>
        </p:nvSpPr>
        <p:spPr>
          <a:xfrm>
            <a:off x="6975000" y="2040000"/>
            <a:ext cx="4925000" cy="4210000"/>
          </a:xfrm>
          <a:prstGeom prst="rect">
            <a:avLst/>
          </a:prstGeom>
          <a:noFill/>
        </p:spPr>
        <p:txBody>
          <a:bodyPr wrap="square" lIns="0" rIns="0" tIns="0" bIns="0">
            <a:spAutoFit/>
          </a:bodyPr>
          <a:lstStyle/>
          <a:p>
            <a:pPr>
              <a:spcBef>
                <a:spcPts val="0"/>
              </a:spcBef>
              <a:spcAft>
                <a:spcPts val="700"/>
              </a:spcAft>
            </a:pPr>
            <a:r>
              <a:rPr sz="1350" b="0">
                <a:solidFill>
                  <a:srgbClr val="191D63"/>
                </a:solidFill>
              </a:rPr>
              <a:t>Spatial or single-cell profiling of the sublethal margin, to test whether the persister state sits where we think it does.</a:t>
            </a:r>
          </a:p>
          <a:p>
            <a:pPr>
              <a:spcBef>
                <a:spcPts val="0"/>
              </a:spcBef>
              <a:spcAft>
                <a:spcPts val="700"/>
              </a:spcAft>
            </a:pPr>
            <a:r>
              <a:rPr sz="1350" b="0">
                <a:solidFill>
                  <a:srgbClr val="191D63"/>
                </a:solidFill>
              </a:rPr>
              <a:t>Puromycin incorporation and polysome profiling, to confirm that translation is suppressed and not only transcriptionally lower.</a:t>
            </a:r>
          </a:p>
          <a:p>
            <a:pPr>
              <a:spcBef>
                <a:spcPts val="0"/>
              </a:spcBef>
              <a:spcAft>
                <a:spcPts val="700"/>
              </a:spcAft>
            </a:pPr>
            <a:r>
              <a:rPr sz="1350" b="0">
                <a:solidFill>
                  <a:srgbClr val="191D63"/>
                </a:solidFill>
              </a:rPr>
              <a:t>Ciclopirox dosed into the post-ablation barrier window, with survival as the endpoint.</a:t>
            </a:r>
          </a:p>
          <a:p>
            <a:pPr>
              <a:spcBef>
                <a:spcPts val="0"/>
              </a:spcBef>
              <a:spcAft>
                <a:spcPts val="700"/>
              </a:spcAft>
            </a:pPr>
            <a:r>
              <a:rPr sz="1350" b="0">
                <a:solidFill>
                  <a:srgbClr val="191D63"/>
                </a:solidFill>
              </a:rPr>
              <a:t>Validation in an immunocompetent model, and in patient tissue from the peri-ablation zone.</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Orthotopic U251N glioblastoma xenograft in the athymic rat, MRI-guided LITT; bulk RNA-seq of primary and recurrent tumors, n = 3 per arm; GEO GSE338105. Methylation: Illumina EPIC on the same tumors, primary vs recurrent, BH over 866,238 probes; purity from the matched RNA-seq graft fraction.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Acknowledgments and data availability</a:t>
            </a:r>
          </a:p>
        </p:txBody>
      </p:sp>
      <p:sp>
        <p:nvSpPr>
          <p:cNvPr id="3" name="TextBox 2"/>
          <p:cNvSpPr txBox="1"/>
          <p:nvPr/>
        </p:nvSpPr>
        <p:spPr>
          <a:xfrm>
            <a:off x="1750000" y="1420000"/>
            <a:ext cx="6300000" cy="4830000"/>
          </a:xfrm>
          <a:prstGeom prst="rect">
            <a:avLst/>
          </a:prstGeom>
          <a:noFill/>
        </p:spPr>
        <p:txBody>
          <a:bodyPr wrap="square" lIns="0" rIns="0" tIns="0" bIns="0">
            <a:spAutoFit/>
          </a:bodyPr>
          <a:lstStyle/>
          <a:p>
            <a:pPr>
              <a:spcBef>
                <a:spcPts val="0"/>
              </a:spcBef>
              <a:spcAft>
                <a:spcPts val="1000"/>
              </a:spcAft>
            </a:pPr>
            <a:r>
              <a:rPr sz="1500" b="0">
                <a:solidFill>
                  <a:srgbClr val="191D63"/>
                </a:solidFill>
              </a:rPr>
              <a:t>Tavarekere N. Nagaraja, PhD, Indrani Datta, DHI, and Ian Y. Lee, MD, Hermelin Brain Tumor Center, Henry Ford Health, who built and characterized the model this analysis rests on.</a:t>
            </a:r>
          </a:p>
          <a:p>
            <a:pPr>
              <a:spcBef>
                <a:spcPts val="0"/>
              </a:spcBef>
              <a:spcAft>
                <a:spcPts val="1000"/>
              </a:spcAft>
            </a:pPr>
            <a:r>
              <a:rPr sz="1500" b="0">
                <a:solidFill>
                  <a:srgbClr val="191D63"/>
                </a:solidFill>
              </a:rPr>
              <a:t>Supported by a Henry Ford Health Physician Scientist Award A20050 (I.Y.L.).</a:t>
            </a:r>
          </a:p>
          <a:p>
            <a:pPr>
              <a:spcBef>
                <a:spcPts val="0"/>
              </a:spcBef>
              <a:spcAft>
                <a:spcPts val="1000"/>
              </a:spcAft>
            </a:pPr>
            <a:r>
              <a:rPr sz="1500" b="0">
                <a:solidFill>
                  <a:srgbClr val="191D63"/>
                </a:solidFill>
              </a:rPr>
              <a:t>Animal procedures were approved by the Henry Ford Health IACUC (protocol #1509) and conducted in accordance with the ARRIVE guidelines.</a:t>
            </a:r>
          </a:p>
          <a:p>
            <a:pPr>
              <a:spcBef>
                <a:spcPts val="0"/>
              </a:spcBef>
              <a:spcAft>
                <a:spcPts val="1000"/>
              </a:spcAft>
            </a:pPr>
            <a:r>
              <a:rPr sz="1500" b="0">
                <a:solidFill>
                  <a:srgbClr val="191D63"/>
                </a:solidFill>
              </a:rPr>
              <a:t>Sequencing data: GEO GSE338105. Differential-expression, enrichment and drug-ranking tables are released as supplementary data.</a:t>
            </a:r>
          </a:p>
        </p:txBody>
      </p:sp>
      <p:sp>
        <p:nvSpPr>
          <p:cNvPr id="4" name="Rounded Rectangle 3"/>
          <p:cNvSpPr/>
          <p:nvPr/>
        </p:nvSpPr>
        <p:spPr>
          <a:xfrm>
            <a:off x="8300000" y="1720000"/>
            <a:ext cx="3600000" cy="13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Questions</a:t>
            </a:r>
          </a:p>
          <a:p>
            <a:pPr algn="ctr"/>
            <a:r>
              <a:rPr sz="1600" b="0">
                <a:solidFill>
                  <a:srgbClr val="FFFFFF"/>
                </a:solidFill>
              </a:rPr>
              <a:t>go2432@wayne.edu</a:t>
            </a:r>
          </a:p>
        </p:txBody>
      </p:sp>
      <p:sp>
        <p:nvSpPr>
          <p:cNvPr id="5" name="TextBox 4"/>
          <p:cNvSpPr txBox="1"/>
          <p:nvPr/>
        </p:nvSpPr>
        <p:spPr>
          <a:xfrm>
            <a:off x="8300000" y="3220000"/>
            <a:ext cx="3600000" cy="1200000"/>
          </a:xfrm>
          <a:prstGeom prst="rect">
            <a:avLst/>
          </a:prstGeom>
          <a:noFill/>
        </p:spPr>
        <p:txBody>
          <a:bodyPr wrap="square" lIns="0" rIns="0" tIns="0" bIns="0">
            <a:spAutoFit/>
          </a:bodyPr>
          <a:lstStyle/>
          <a:p>
            <a:pPr algn="ctr">
              <a:spcBef>
                <a:spcPts val="0"/>
              </a:spcBef>
              <a:spcAft>
                <a:spcPts val="600"/>
              </a:spcAft>
            </a:pPr>
            <a:r>
              <a:rPr sz="1300" b="0">
                <a:solidFill>
                  <a:srgbClr val="7A7A7A"/>
                </a:solidFill>
              </a:rPr>
              <a:t>Sequencing data: GEO GSE338105</a:t>
            </a:r>
          </a:p>
          <a:p>
            <a:pPr algn="ctr">
              <a:spcBef>
                <a:spcPts val="0"/>
              </a:spcBef>
              <a:spcAft>
                <a:spcPts val="600"/>
              </a:spcAft>
            </a:pPr>
            <a:r>
              <a:rPr sz="1300" b="0">
                <a:solidFill>
                  <a:srgbClr val="7A7A7A"/>
                </a:solidFill>
              </a:rPr>
              <a:t>No commercial support.</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Gbur</dc:creator>
  <cp:lastModifiedBy>Nick Gbur</cp:lastModifiedBy>
  <cp:revision>8</cp:revision>
  <dcterms:created xsi:type="dcterms:W3CDTF">2026-04-16T17:17:21Z</dcterms:created>
  <dcterms:modified xsi:type="dcterms:W3CDTF">2026-04-21T16:28:45Z</dcterms:modified>
</cp:coreProperties>
</file>